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follow-up to our BTP reproduction. While reproducing the paper, we hit something odd: on Qwen, text tasks fell apart under pruning. This study is our attempt to figure out why, through four small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result that kicked this off. On TextVQA, Qwen scored 82.7 normally, but 23.6 once we switched pruning on. A drop that large means the model basically stopped being able to read. That is the puzzle we set out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broke the puzzle into four plain questions: does the failure spread to other tasks, does it come on gradually, what exactly gets removed, and is text being singled out. One experiment per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it spreads. TextVQA, DocVQA, and ChartQA all collapse, dropping anywhere from 48 to 76 points. The interesting exception is AI2D, which only drops about 7. AI2D leans on diagram structure and arrows rather than reading small text, so it survives. That single contrast tells us the failure is about dense text reading, not visual reasoning as a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expected a gentle slope: keep fewer tokens, lose a little accuracy. Instead we got a cliff. The moment pruning starts, even keeping 90 percent of tokens, text is already gone, and it stays flat all the way down. There is simply no safe amount of pruning for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is blunt: there is no graceful trade-off for text. The cliff is right at the start, and everything past it is a flat, collapsed floor. Whatever tokens hold the text, they go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painted the removed patches red at the real operating point, where about 88 percent of the image is dropped. The chart is basically wiped out; the scene text is buried. Look closely and the few survivors do sit near text, a hint that BTP is trying to keep it, but there is nowhere near enough left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twist we did not expect. BTP is not picking on text at all. It removes text less often than everything else, 75 percent versus 90, and for charts it clearly shields the text. The selection is doing a sensible job. So if the method is keeping text on purpose, why does reading still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story in plain terms. The failure is not bad token selection; BTP actually tries to keep text. The real issue is that text has no redundancy. A photo is full of repetition, so dropping most of it is fine, and that is exactly why AI2D held up. But writing is different: every character is unique, so losing three quarters of it destroys the words no matter which quarter you keep. This is not a bug you can patch out; it is the nature of aggressive pruning meeting content that cannot be compressed. The natural fix is to make pruning aware of where the text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points next. First, make pruning aware of text: find the text-dense regions and exclude them from the cut. Second, adapt pruning strength to the task, hard for photos with lots of redundancy, gentle for documents and charts. And check whether other vision-language models behave the same way. Everything is in the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milab-iitj-dev/btp-reproduction"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955280" y="914400"/>
            <a:ext cx="365760" cy="365760"/>
          </a:xfrm>
          <a:prstGeom prst="rect">
            <a:avLst/>
          </a:prstGeom>
          <a:solidFill>
            <a:srgbClr val="12355B">
              <a:alpha val="30000"/>
            </a:srgbClr>
          </a:solidFill>
          <a:ln/>
        </p:spPr>
      </p:sp>
      <p:sp>
        <p:nvSpPr>
          <p:cNvPr id="3" name="Shape 1"/>
          <p:cNvSpPr/>
          <p:nvPr/>
        </p:nvSpPr>
        <p:spPr>
          <a:xfrm>
            <a:off x="7955280" y="1389888"/>
            <a:ext cx="365760" cy="365760"/>
          </a:xfrm>
          <a:prstGeom prst="rect">
            <a:avLst/>
          </a:prstGeom>
          <a:solidFill>
            <a:srgbClr val="12355B">
              <a:alpha val="30000"/>
            </a:srgbClr>
          </a:solidFill>
          <a:ln/>
        </p:spPr>
      </p:sp>
      <p:sp>
        <p:nvSpPr>
          <p:cNvPr id="4" name="Shape 2"/>
          <p:cNvSpPr/>
          <p:nvPr/>
        </p:nvSpPr>
        <p:spPr>
          <a:xfrm>
            <a:off x="7955280" y="1865376"/>
            <a:ext cx="365760" cy="365760"/>
          </a:xfrm>
          <a:prstGeom prst="rect">
            <a:avLst/>
          </a:prstGeom>
          <a:solidFill>
            <a:srgbClr val="12355B">
              <a:alpha val="30000"/>
            </a:srgbClr>
          </a:solidFill>
          <a:ln/>
        </p:spPr>
      </p:sp>
      <p:sp>
        <p:nvSpPr>
          <p:cNvPr id="5" name="Shape 3"/>
          <p:cNvSpPr/>
          <p:nvPr/>
        </p:nvSpPr>
        <p:spPr>
          <a:xfrm>
            <a:off x="7955280" y="2340864"/>
            <a:ext cx="365760" cy="365760"/>
          </a:xfrm>
          <a:prstGeom prst="rect">
            <a:avLst/>
          </a:prstGeom>
          <a:solidFill>
            <a:srgbClr val="12355B">
              <a:alpha val="30000"/>
            </a:srgbClr>
          </a:solidFill>
          <a:ln/>
        </p:spPr>
      </p:sp>
      <p:sp>
        <p:nvSpPr>
          <p:cNvPr id="6" name="Shape 4"/>
          <p:cNvSpPr/>
          <p:nvPr/>
        </p:nvSpPr>
        <p:spPr>
          <a:xfrm>
            <a:off x="8430768" y="914400"/>
            <a:ext cx="365760" cy="365760"/>
          </a:xfrm>
          <a:prstGeom prst="rect">
            <a:avLst/>
          </a:prstGeom>
          <a:solidFill>
            <a:srgbClr val="12355B">
              <a:alpha val="30000"/>
            </a:srgbClr>
          </a:solidFill>
          <a:ln/>
        </p:spPr>
      </p:sp>
      <p:sp>
        <p:nvSpPr>
          <p:cNvPr id="7" name="Shape 5"/>
          <p:cNvSpPr/>
          <p:nvPr/>
        </p:nvSpPr>
        <p:spPr>
          <a:xfrm>
            <a:off x="8430768" y="1389888"/>
            <a:ext cx="365760" cy="365760"/>
          </a:xfrm>
          <a:prstGeom prst="rect">
            <a:avLst/>
          </a:prstGeom>
          <a:solidFill>
            <a:srgbClr val="1C7293">
              <a:alpha val="45000"/>
            </a:srgbClr>
          </a:solidFill>
          <a:ln/>
        </p:spPr>
      </p:sp>
      <p:sp>
        <p:nvSpPr>
          <p:cNvPr id="8" name="Shape 6"/>
          <p:cNvSpPr/>
          <p:nvPr/>
        </p:nvSpPr>
        <p:spPr>
          <a:xfrm>
            <a:off x="8430768" y="1865376"/>
            <a:ext cx="365760" cy="365760"/>
          </a:xfrm>
          <a:prstGeom prst="rect">
            <a:avLst/>
          </a:prstGeom>
          <a:solidFill>
            <a:srgbClr val="1C7293">
              <a:alpha val="45000"/>
            </a:srgbClr>
          </a:solidFill>
          <a:ln/>
        </p:spPr>
      </p:sp>
      <p:sp>
        <p:nvSpPr>
          <p:cNvPr id="9" name="Shape 7"/>
          <p:cNvSpPr/>
          <p:nvPr/>
        </p:nvSpPr>
        <p:spPr>
          <a:xfrm>
            <a:off x="8430768" y="2340864"/>
            <a:ext cx="365760" cy="365760"/>
          </a:xfrm>
          <a:prstGeom prst="rect">
            <a:avLst/>
          </a:prstGeom>
          <a:solidFill>
            <a:srgbClr val="12355B">
              <a:alpha val="30000"/>
            </a:srgbClr>
          </a:solidFill>
          <a:ln/>
        </p:spPr>
      </p:sp>
      <p:sp>
        <p:nvSpPr>
          <p:cNvPr id="10" name="Shape 8"/>
          <p:cNvSpPr/>
          <p:nvPr/>
        </p:nvSpPr>
        <p:spPr>
          <a:xfrm>
            <a:off x="8906256" y="914400"/>
            <a:ext cx="365760" cy="365760"/>
          </a:xfrm>
          <a:prstGeom prst="rect">
            <a:avLst/>
          </a:prstGeom>
          <a:solidFill>
            <a:srgbClr val="12355B">
              <a:alpha val="30000"/>
            </a:srgbClr>
          </a:solidFill>
          <a:ln/>
        </p:spPr>
      </p:sp>
      <p:sp>
        <p:nvSpPr>
          <p:cNvPr id="11" name="Shape 9"/>
          <p:cNvSpPr/>
          <p:nvPr/>
        </p:nvSpPr>
        <p:spPr>
          <a:xfrm>
            <a:off x="8906256" y="1389888"/>
            <a:ext cx="365760" cy="365760"/>
          </a:xfrm>
          <a:prstGeom prst="rect">
            <a:avLst/>
          </a:prstGeom>
          <a:solidFill>
            <a:srgbClr val="1C7293">
              <a:alpha val="45000"/>
            </a:srgbClr>
          </a:solidFill>
          <a:ln/>
        </p:spPr>
      </p:sp>
      <p:sp>
        <p:nvSpPr>
          <p:cNvPr id="12" name="Shape 10"/>
          <p:cNvSpPr/>
          <p:nvPr/>
        </p:nvSpPr>
        <p:spPr>
          <a:xfrm>
            <a:off x="8906256" y="1865376"/>
            <a:ext cx="365760" cy="365760"/>
          </a:xfrm>
          <a:prstGeom prst="rect">
            <a:avLst/>
          </a:prstGeom>
          <a:solidFill>
            <a:srgbClr val="1C7293">
              <a:alpha val="45000"/>
            </a:srgbClr>
          </a:solidFill>
          <a:ln/>
        </p:spPr>
      </p:sp>
      <p:sp>
        <p:nvSpPr>
          <p:cNvPr id="13" name="Shape 11"/>
          <p:cNvSpPr/>
          <p:nvPr/>
        </p:nvSpPr>
        <p:spPr>
          <a:xfrm>
            <a:off x="8906256" y="2340864"/>
            <a:ext cx="365760" cy="365760"/>
          </a:xfrm>
          <a:prstGeom prst="rect">
            <a:avLst/>
          </a:prstGeom>
          <a:solidFill>
            <a:srgbClr val="12355B">
              <a:alpha val="30000"/>
            </a:srgbClr>
          </a:solidFill>
          <a:ln/>
        </p:spPr>
      </p:sp>
      <p:sp>
        <p:nvSpPr>
          <p:cNvPr id="14" name="Shape 12"/>
          <p:cNvSpPr/>
          <p:nvPr/>
        </p:nvSpPr>
        <p:spPr>
          <a:xfrm>
            <a:off x="9381744" y="914400"/>
            <a:ext cx="365760" cy="365760"/>
          </a:xfrm>
          <a:prstGeom prst="rect">
            <a:avLst/>
          </a:prstGeom>
          <a:solidFill>
            <a:srgbClr val="12355B">
              <a:alpha val="30000"/>
            </a:srgbClr>
          </a:solidFill>
          <a:ln/>
        </p:spPr>
      </p:sp>
      <p:sp>
        <p:nvSpPr>
          <p:cNvPr id="15" name="Shape 13"/>
          <p:cNvSpPr/>
          <p:nvPr/>
        </p:nvSpPr>
        <p:spPr>
          <a:xfrm>
            <a:off x="9381744" y="1389888"/>
            <a:ext cx="365760" cy="365760"/>
          </a:xfrm>
          <a:prstGeom prst="rect">
            <a:avLst/>
          </a:prstGeom>
          <a:solidFill>
            <a:srgbClr val="12355B">
              <a:alpha val="30000"/>
            </a:srgbClr>
          </a:solidFill>
          <a:ln/>
        </p:spPr>
      </p:sp>
      <p:sp>
        <p:nvSpPr>
          <p:cNvPr id="16" name="Shape 14"/>
          <p:cNvSpPr/>
          <p:nvPr/>
        </p:nvSpPr>
        <p:spPr>
          <a:xfrm>
            <a:off x="9381744" y="1865376"/>
            <a:ext cx="365760" cy="365760"/>
          </a:xfrm>
          <a:prstGeom prst="rect">
            <a:avLst/>
          </a:prstGeom>
          <a:solidFill>
            <a:srgbClr val="12355B">
              <a:alpha val="30000"/>
            </a:srgbClr>
          </a:solidFill>
          <a:ln/>
        </p:spPr>
      </p:sp>
      <p:sp>
        <p:nvSpPr>
          <p:cNvPr id="17" name="Shape 15"/>
          <p:cNvSpPr/>
          <p:nvPr/>
        </p:nvSpPr>
        <p:spPr>
          <a:xfrm>
            <a:off x="9381744" y="2340864"/>
            <a:ext cx="365760" cy="365760"/>
          </a:xfrm>
          <a:prstGeom prst="rect">
            <a:avLst/>
          </a:prstGeom>
          <a:solidFill>
            <a:srgbClr val="12355B">
              <a:alpha val="30000"/>
            </a:srgbClr>
          </a:solidFill>
          <a:ln/>
        </p:spPr>
      </p:sp>
      <p:sp>
        <p:nvSpPr>
          <p:cNvPr id="18" name="Shape 16"/>
          <p:cNvSpPr/>
          <p:nvPr/>
        </p:nvSpPr>
        <p:spPr>
          <a:xfrm>
            <a:off x="9857232" y="914400"/>
            <a:ext cx="365760" cy="365760"/>
          </a:xfrm>
          <a:prstGeom prst="rect">
            <a:avLst/>
          </a:prstGeom>
          <a:solidFill>
            <a:srgbClr val="12355B">
              <a:alpha val="30000"/>
            </a:srgbClr>
          </a:solidFill>
          <a:ln/>
        </p:spPr>
      </p:sp>
      <p:sp>
        <p:nvSpPr>
          <p:cNvPr id="19" name="Shape 17"/>
          <p:cNvSpPr/>
          <p:nvPr/>
        </p:nvSpPr>
        <p:spPr>
          <a:xfrm>
            <a:off x="9857232" y="1389888"/>
            <a:ext cx="365760" cy="365760"/>
          </a:xfrm>
          <a:prstGeom prst="rect">
            <a:avLst/>
          </a:prstGeom>
          <a:solidFill>
            <a:srgbClr val="1C7293">
              <a:alpha val="45000"/>
            </a:srgbClr>
          </a:solidFill>
          <a:ln/>
        </p:spPr>
      </p:sp>
      <p:sp>
        <p:nvSpPr>
          <p:cNvPr id="20" name="Shape 18"/>
          <p:cNvSpPr/>
          <p:nvPr/>
        </p:nvSpPr>
        <p:spPr>
          <a:xfrm>
            <a:off x="9857232" y="1865376"/>
            <a:ext cx="365760" cy="365760"/>
          </a:xfrm>
          <a:prstGeom prst="rect">
            <a:avLst/>
          </a:prstGeom>
          <a:solidFill>
            <a:srgbClr val="1C7293">
              <a:alpha val="45000"/>
            </a:srgbClr>
          </a:solidFill>
          <a:ln/>
        </p:spPr>
      </p:sp>
      <p:sp>
        <p:nvSpPr>
          <p:cNvPr id="21" name="Shape 19"/>
          <p:cNvSpPr/>
          <p:nvPr/>
        </p:nvSpPr>
        <p:spPr>
          <a:xfrm>
            <a:off x="9857232" y="2340864"/>
            <a:ext cx="365760" cy="365760"/>
          </a:xfrm>
          <a:prstGeom prst="rect">
            <a:avLst/>
          </a:prstGeom>
          <a:solidFill>
            <a:srgbClr val="12355B">
              <a:alpha val="30000"/>
            </a:srgbClr>
          </a:solidFill>
          <a:ln/>
        </p:spPr>
      </p:sp>
      <p:sp>
        <p:nvSpPr>
          <p:cNvPr id="22" name="Shape 20"/>
          <p:cNvSpPr/>
          <p:nvPr/>
        </p:nvSpPr>
        <p:spPr>
          <a:xfrm>
            <a:off x="10332720" y="914400"/>
            <a:ext cx="365760" cy="365760"/>
          </a:xfrm>
          <a:prstGeom prst="rect">
            <a:avLst/>
          </a:prstGeom>
          <a:solidFill>
            <a:srgbClr val="12355B">
              <a:alpha val="30000"/>
            </a:srgbClr>
          </a:solidFill>
          <a:ln/>
        </p:spPr>
      </p:sp>
      <p:sp>
        <p:nvSpPr>
          <p:cNvPr id="23" name="Shape 21"/>
          <p:cNvSpPr/>
          <p:nvPr/>
        </p:nvSpPr>
        <p:spPr>
          <a:xfrm>
            <a:off x="10332720" y="1389888"/>
            <a:ext cx="365760" cy="365760"/>
          </a:xfrm>
          <a:prstGeom prst="rect">
            <a:avLst/>
          </a:prstGeom>
          <a:solidFill>
            <a:srgbClr val="1C7293">
              <a:alpha val="45000"/>
            </a:srgbClr>
          </a:solidFill>
          <a:ln/>
        </p:spPr>
      </p:sp>
      <p:sp>
        <p:nvSpPr>
          <p:cNvPr id="24" name="Shape 22"/>
          <p:cNvSpPr/>
          <p:nvPr/>
        </p:nvSpPr>
        <p:spPr>
          <a:xfrm>
            <a:off x="10332720" y="1865376"/>
            <a:ext cx="365760" cy="365760"/>
          </a:xfrm>
          <a:prstGeom prst="rect">
            <a:avLst/>
          </a:prstGeom>
          <a:solidFill>
            <a:srgbClr val="1C7293">
              <a:alpha val="45000"/>
            </a:srgbClr>
          </a:solidFill>
          <a:ln/>
        </p:spPr>
      </p:sp>
      <p:sp>
        <p:nvSpPr>
          <p:cNvPr id="25" name="Shape 23"/>
          <p:cNvSpPr/>
          <p:nvPr/>
        </p:nvSpPr>
        <p:spPr>
          <a:xfrm>
            <a:off x="10332720" y="2340864"/>
            <a:ext cx="365760" cy="365760"/>
          </a:xfrm>
          <a:prstGeom prst="rect">
            <a:avLst/>
          </a:prstGeom>
          <a:solidFill>
            <a:srgbClr val="12355B">
              <a:alpha val="30000"/>
            </a:srgbClr>
          </a:solidFill>
          <a:ln/>
        </p:spPr>
      </p:sp>
      <p:sp>
        <p:nvSpPr>
          <p:cNvPr id="26" name="Shape 24"/>
          <p:cNvSpPr/>
          <p:nvPr/>
        </p:nvSpPr>
        <p:spPr>
          <a:xfrm>
            <a:off x="10808208" y="914400"/>
            <a:ext cx="365760" cy="365760"/>
          </a:xfrm>
          <a:prstGeom prst="rect">
            <a:avLst/>
          </a:prstGeom>
          <a:solidFill>
            <a:srgbClr val="12355B">
              <a:alpha val="30000"/>
            </a:srgbClr>
          </a:solidFill>
          <a:ln/>
        </p:spPr>
      </p:sp>
      <p:sp>
        <p:nvSpPr>
          <p:cNvPr id="27" name="Shape 25"/>
          <p:cNvSpPr/>
          <p:nvPr/>
        </p:nvSpPr>
        <p:spPr>
          <a:xfrm>
            <a:off x="10808208" y="1389888"/>
            <a:ext cx="365760" cy="365760"/>
          </a:xfrm>
          <a:prstGeom prst="rect">
            <a:avLst/>
          </a:prstGeom>
          <a:solidFill>
            <a:srgbClr val="12355B">
              <a:alpha val="30000"/>
            </a:srgbClr>
          </a:solidFill>
          <a:ln/>
        </p:spPr>
      </p:sp>
      <p:sp>
        <p:nvSpPr>
          <p:cNvPr id="28" name="Shape 26"/>
          <p:cNvSpPr/>
          <p:nvPr/>
        </p:nvSpPr>
        <p:spPr>
          <a:xfrm>
            <a:off x="10808208" y="1865376"/>
            <a:ext cx="365760" cy="365760"/>
          </a:xfrm>
          <a:prstGeom prst="rect">
            <a:avLst/>
          </a:prstGeom>
          <a:solidFill>
            <a:srgbClr val="12355B">
              <a:alpha val="30000"/>
            </a:srgbClr>
          </a:solidFill>
          <a:ln/>
        </p:spPr>
      </p:sp>
      <p:sp>
        <p:nvSpPr>
          <p:cNvPr id="29" name="Shape 27"/>
          <p:cNvSpPr/>
          <p:nvPr/>
        </p:nvSpPr>
        <p:spPr>
          <a:xfrm>
            <a:off x="10808208" y="2340864"/>
            <a:ext cx="365760" cy="365760"/>
          </a:xfrm>
          <a:prstGeom prst="rect">
            <a:avLst/>
          </a:prstGeom>
          <a:solidFill>
            <a:srgbClr val="12355B">
              <a:alpha val="30000"/>
            </a:srgbClr>
          </a:solidFill>
          <a:ln/>
        </p:spPr>
      </p:sp>
      <p:sp>
        <p:nvSpPr>
          <p:cNvPr id="30" name="Shape 28"/>
          <p:cNvSpPr/>
          <p:nvPr/>
        </p:nvSpPr>
        <p:spPr>
          <a:xfrm>
            <a:off x="11283696" y="914400"/>
            <a:ext cx="365760" cy="365760"/>
          </a:xfrm>
          <a:prstGeom prst="rect">
            <a:avLst/>
          </a:prstGeom>
          <a:solidFill>
            <a:srgbClr val="12355B">
              <a:alpha val="30000"/>
            </a:srgbClr>
          </a:solidFill>
          <a:ln/>
        </p:spPr>
      </p:sp>
      <p:sp>
        <p:nvSpPr>
          <p:cNvPr id="31" name="Shape 29"/>
          <p:cNvSpPr/>
          <p:nvPr/>
        </p:nvSpPr>
        <p:spPr>
          <a:xfrm>
            <a:off x="11283696" y="1389888"/>
            <a:ext cx="365760" cy="365760"/>
          </a:xfrm>
          <a:prstGeom prst="rect">
            <a:avLst/>
          </a:prstGeom>
          <a:solidFill>
            <a:srgbClr val="1C7293">
              <a:alpha val="45000"/>
            </a:srgbClr>
          </a:solidFill>
          <a:ln/>
        </p:spPr>
      </p:sp>
      <p:sp>
        <p:nvSpPr>
          <p:cNvPr id="32" name="Shape 30"/>
          <p:cNvSpPr/>
          <p:nvPr/>
        </p:nvSpPr>
        <p:spPr>
          <a:xfrm>
            <a:off x="11283696" y="1865376"/>
            <a:ext cx="365760" cy="365760"/>
          </a:xfrm>
          <a:prstGeom prst="rect">
            <a:avLst/>
          </a:prstGeom>
          <a:solidFill>
            <a:srgbClr val="1C7293">
              <a:alpha val="45000"/>
            </a:srgbClr>
          </a:solidFill>
          <a:ln/>
        </p:spPr>
      </p:sp>
      <p:sp>
        <p:nvSpPr>
          <p:cNvPr id="33" name="Shape 31"/>
          <p:cNvSpPr/>
          <p:nvPr/>
        </p:nvSpPr>
        <p:spPr>
          <a:xfrm>
            <a:off x="11283696" y="2340864"/>
            <a:ext cx="365760" cy="365760"/>
          </a:xfrm>
          <a:prstGeom prst="rect">
            <a:avLst/>
          </a:prstGeom>
          <a:solidFill>
            <a:srgbClr val="12355B">
              <a:alpha val="30000"/>
            </a:srgbClr>
          </a:solidFill>
          <a:ln/>
        </p:spPr>
      </p:sp>
      <p:sp>
        <p:nvSpPr>
          <p:cNvPr id="34" name="Text 32"/>
          <p:cNvSpPr/>
          <p:nvPr/>
        </p:nvSpPr>
        <p:spPr>
          <a:xfrm>
            <a:off x="640080" y="1280160"/>
            <a:ext cx="7315200" cy="365760"/>
          </a:xfrm>
          <a:prstGeom prst="rect">
            <a:avLst/>
          </a:prstGeom>
          <a:noFill/>
          <a:ln/>
        </p:spPr>
        <p:txBody>
          <a:bodyPr wrap="square" rtlCol="0" anchor="ctr"/>
          <a:lstStyle/>
          <a:p>
            <a:pPr indent="0" marL="0">
              <a:buNone/>
            </a:pPr>
            <a:r>
              <a:rPr lang="en-US" sz="1400" b="1" spc="100" kern="0" dirty="0">
                <a:solidFill>
                  <a:srgbClr val="29C7AC"/>
                </a:solidFill>
                <a:latin typeface="Calibri" pitchFamily="34" charset="0"/>
                <a:ea typeface="Calibri" pitchFamily="34" charset="-122"/>
                <a:cs typeface="Calibri" pitchFamily="34" charset="-120"/>
              </a:rPr>
              <a:t>FAILURE-MODE STUDY</a:t>
            </a:r>
            <a:endParaRPr lang="en-US" sz="1400" dirty="0"/>
          </a:p>
        </p:txBody>
      </p:sp>
      <p:sp>
        <p:nvSpPr>
          <p:cNvPr id="35" name="Text 33"/>
          <p:cNvSpPr/>
          <p:nvPr/>
        </p:nvSpPr>
        <p:spPr>
          <a:xfrm>
            <a:off x="640080" y="1737360"/>
            <a:ext cx="8686800" cy="155448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Why Balanced Token Pruning</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Fails on Text Tasks</a:t>
            </a:r>
            <a:endParaRPr lang="en-US" sz="4000" dirty="0"/>
          </a:p>
        </p:txBody>
      </p:sp>
      <p:sp>
        <p:nvSpPr>
          <p:cNvPr id="36" name="Text 34"/>
          <p:cNvSpPr/>
          <p:nvPr/>
        </p:nvSpPr>
        <p:spPr>
          <a:xfrm>
            <a:off x="658368" y="3337560"/>
            <a:ext cx="8229600" cy="457200"/>
          </a:xfrm>
          <a:prstGeom prst="rect">
            <a:avLst/>
          </a:prstGeom>
          <a:noFill/>
          <a:ln/>
        </p:spPr>
        <p:txBody>
          <a:bodyPr wrap="square" rtlCol="0" anchor="ctr"/>
          <a:lstStyle/>
          <a:p>
            <a:pPr indent="0" marL="0">
              <a:buNone/>
            </a:pPr>
            <a:r>
              <a:rPr lang="en-US" sz="1800" i="1" dirty="0">
                <a:solidFill>
                  <a:srgbClr val="CFE3F2"/>
                </a:solidFill>
                <a:latin typeface="Calibri" pitchFamily="34" charset="0"/>
                <a:ea typeface="Calibri" pitchFamily="34" charset="-122"/>
                <a:cs typeface="Calibri" pitchFamily="34" charset="-120"/>
              </a:rPr>
              <a:t>An empirical study on Qwen2.5-VL-7B</a:t>
            </a:r>
            <a:endParaRPr lang="en-US" sz="1800" dirty="0"/>
          </a:p>
        </p:txBody>
      </p:sp>
      <p:sp>
        <p:nvSpPr>
          <p:cNvPr id="37" name="Shape 35"/>
          <p:cNvSpPr/>
          <p:nvPr/>
        </p:nvSpPr>
        <p:spPr>
          <a:xfrm>
            <a:off x="658368" y="4023360"/>
            <a:ext cx="2926080" cy="41148"/>
          </a:xfrm>
          <a:prstGeom prst="rect">
            <a:avLst/>
          </a:prstGeom>
          <a:solidFill>
            <a:srgbClr val="29C7AC"/>
          </a:solidFill>
          <a:ln/>
        </p:spPr>
      </p:sp>
      <p:sp>
        <p:nvSpPr>
          <p:cNvPr id="38" name="Text 36"/>
          <p:cNvSpPr/>
          <p:nvPr/>
        </p:nvSpPr>
        <p:spPr>
          <a:xfrm>
            <a:off x="658368" y="4206240"/>
            <a:ext cx="8229600" cy="1828800"/>
          </a:xfrm>
          <a:prstGeom prst="rect">
            <a:avLst/>
          </a:prstGeom>
          <a:noFill/>
          <a:ln/>
        </p:spPr>
        <p:txBody>
          <a:bodyPr wrap="square" rtlCol="0" anchor="t"/>
          <a:lstStyle/>
          <a:p>
            <a:pPr indent="0" marL="0">
              <a:spcAft>
                <a:spcPts val="100"/>
              </a:spcAft>
              <a:buNone/>
            </a:pPr>
            <a:r>
              <a:rPr lang="en-US" sz="1500" b="1" dirty="0">
                <a:solidFill>
                  <a:srgbClr val="FFFFFF"/>
                </a:solidFill>
                <a:latin typeface="Calibri" pitchFamily="34" charset="0"/>
                <a:ea typeface="Calibri" pitchFamily="34" charset="-122"/>
                <a:cs typeface="Calibri" pitchFamily="34" charset="-120"/>
              </a:rPr>
              <a:t>P. S. Kedar</a:t>
            </a:r>
            <a:endParaRPr lang="en-US" sz="1500" dirty="0"/>
          </a:p>
          <a:p>
            <a:pPr indent="0" marL="0">
              <a:spcAft>
                <a:spcPts val="900"/>
              </a:spcAft>
              <a:buNone/>
            </a:pPr>
            <a:r>
              <a:rPr lang="en-US" sz="1200" dirty="0">
                <a:solidFill>
                  <a:srgbClr val="CFE3F2"/>
                </a:solidFill>
                <a:latin typeface="Calibri" pitchFamily="34" charset="0"/>
                <a:ea typeface="Calibri" pitchFamily="34" charset="-122"/>
                <a:cs typeface="Calibri" pitchFamily="34" charset="-120"/>
              </a:rPr>
              <a:t>Research Intern</a:t>
            </a:r>
            <a:endParaRPr lang="en-US" sz="1500" dirty="0"/>
          </a:p>
          <a:p>
            <a:pPr indent="0" marL="0">
              <a:spcAft>
                <a:spcPts val="100"/>
              </a:spcAft>
              <a:buNone/>
            </a:pPr>
            <a:r>
              <a:rPr lang="en-US" sz="1500" b="1" dirty="0">
                <a:solidFill>
                  <a:srgbClr val="FFFFFF"/>
                </a:solidFill>
                <a:latin typeface="Calibri" pitchFamily="34" charset="0"/>
                <a:ea typeface="Calibri" pitchFamily="34" charset="-122"/>
                <a:cs typeface="Calibri" pitchFamily="34" charset="-120"/>
              </a:rPr>
              <a:t>Prof. Divya Saxena</a:t>
            </a:r>
            <a:endParaRPr lang="en-US" sz="1500" dirty="0"/>
          </a:p>
          <a:p>
            <a:pPr indent="0" marL="0">
              <a:spcAft>
                <a:spcPts val="900"/>
              </a:spcAft>
              <a:buNone/>
            </a:pPr>
            <a:r>
              <a:rPr lang="en-US" sz="1200" dirty="0">
                <a:solidFill>
                  <a:srgbClr val="CFE3F2"/>
                </a:solidFill>
                <a:latin typeface="Calibri" pitchFamily="34" charset="0"/>
                <a:ea typeface="Calibri" pitchFamily="34" charset="-122"/>
                <a:cs typeface="Calibri" pitchFamily="34" charset="-120"/>
              </a:rPr>
              <a:t>Aditya Sharma, PhD Scholar</a:t>
            </a:r>
            <a:endParaRPr lang="en-US" sz="1500" dirty="0"/>
          </a:p>
          <a:p>
            <a:pPr indent="0" marL="0">
              <a:buNone/>
            </a:pPr>
            <a:r>
              <a:rPr lang="en-US" sz="1200" dirty="0">
                <a:solidFill>
                  <a:srgbClr val="CFE3F2"/>
                </a:solidFill>
                <a:latin typeface="Calibri" pitchFamily="34" charset="0"/>
                <a:ea typeface="Calibri" pitchFamily="34" charset="-122"/>
                <a:cs typeface="Calibri" pitchFamily="34" charset="-120"/>
              </a:rPr>
              <a:t>SAIDE, IIT Jodhpur  ·  June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48640"/>
            <a:ext cx="7315200" cy="320040"/>
          </a:xfrm>
          <a:prstGeom prst="rect">
            <a:avLst/>
          </a:prstGeom>
          <a:noFill/>
          <a:ln/>
        </p:spPr>
        <p:txBody>
          <a:bodyPr wrap="square" rtlCol="0" anchor="ctr"/>
          <a:lstStyle/>
          <a:p>
            <a:pPr indent="0" marL="0">
              <a:buNone/>
            </a:pPr>
            <a:r>
              <a:rPr lang="en-US" sz="1200" b="1" spc="300" kern="0" dirty="0">
                <a:solidFill>
                  <a:srgbClr val="29C7AC"/>
                </a:solidFill>
                <a:latin typeface="Calibri" pitchFamily="34" charset="0"/>
                <a:ea typeface="Calibri" pitchFamily="34" charset="-122"/>
                <a:cs typeface="Calibri" pitchFamily="34" charset="-120"/>
              </a:rPr>
              <a:t>THE OBSERVATION</a:t>
            </a:r>
            <a:endParaRPr lang="en-US" sz="1200" dirty="0"/>
          </a:p>
        </p:txBody>
      </p:sp>
      <p:sp>
        <p:nvSpPr>
          <p:cNvPr id="3" name="Text 1"/>
          <p:cNvSpPr/>
          <p:nvPr/>
        </p:nvSpPr>
        <p:spPr>
          <a:xfrm>
            <a:off x="548640" y="868680"/>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Result That Started This Study</a:t>
            </a:r>
            <a:endParaRPr lang="en-US" sz="2600" dirty="0"/>
          </a:p>
        </p:txBody>
      </p:sp>
      <p:sp>
        <p:nvSpPr>
          <p:cNvPr id="4" name="Shape 2"/>
          <p:cNvSpPr/>
          <p:nvPr/>
        </p:nvSpPr>
        <p:spPr>
          <a:xfrm>
            <a:off x="1188720" y="2286000"/>
            <a:ext cx="3108960" cy="2103120"/>
          </a:xfrm>
          <a:prstGeom prst="roundRect">
            <a:avLst>
              <a:gd name="adj" fmla="val 4348"/>
            </a:avLst>
          </a:prstGeom>
          <a:solidFill>
            <a:srgbClr val="12355B"/>
          </a:solidFill>
          <a:ln/>
        </p:spPr>
      </p:sp>
      <p:sp>
        <p:nvSpPr>
          <p:cNvPr id="5" name="Text 3"/>
          <p:cNvSpPr/>
          <p:nvPr/>
        </p:nvSpPr>
        <p:spPr>
          <a:xfrm>
            <a:off x="1188720" y="2514600"/>
            <a:ext cx="3108960" cy="457200"/>
          </a:xfrm>
          <a:prstGeom prst="rect">
            <a:avLst/>
          </a:prstGeom>
          <a:noFill/>
          <a:ln/>
        </p:spPr>
        <p:txBody>
          <a:bodyPr wrap="square" rtlCol="0" anchor="ctr"/>
          <a:lstStyle/>
          <a:p>
            <a:pPr algn="ctr" indent="0" marL="0">
              <a:buNone/>
            </a:pPr>
            <a:r>
              <a:rPr lang="en-US" sz="1600" dirty="0">
                <a:solidFill>
                  <a:srgbClr val="CFE3F2"/>
                </a:solidFill>
                <a:latin typeface="Calibri" pitchFamily="34" charset="0"/>
                <a:ea typeface="Calibri" pitchFamily="34" charset="-122"/>
                <a:cs typeface="Calibri" pitchFamily="34" charset="-120"/>
              </a:rPr>
              <a:t>Baseline</a:t>
            </a:r>
            <a:endParaRPr lang="en-US" sz="1600" dirty="0"/>
          </a:p>
        </p:txBody>
      </p:sp>
      <p:sp>
        <p:nvSpPr>
          <p:cNvPr id="6" name="Text 4"/>
          <p:cNvSpPr/>
          <p:nvPr/>
        </p:nvSpPr>
        <p:spPr>
          <a:xfrm>
            <a:off x="1188720" y="2834640"/>
            <a:ext cx="3108960" cy="1188720"/>
          </a:xfrm>
          <a:prstGeom prst="rect">
            <a:avLst/>
          </a:prstGeom>
          <a:noFill/>
          <a:ln/>
        </p:spPr>
        <p:txBody>
          <a:bodyPr wrap="square" rtlCol="0" anchor="ctr"/>
          <a:lstStyle/>
          <a:p>
            <a:pPr algn="ctr" indent="0" marL="0">
              <a:buNone/>
            </a:pPr>
            <a:r>
              <a:rPr lang="en-US" sz="6000" b="1" dirty="0">
                <a:solidFill>
                  <a:srgbClr val="29C7AC"/>
                </a:solidFill>
                <a:latin typeface="Georgia" pitchFamily="34" charset="0"/>
                <a:ea typeface="Georgia" pitchFamily="34" charset="-122"/>
                <a:cs typeface="Georgia" pitchFamily="34" charset="-120"/>
              </a:rPr>
              <a:t>82.7</a:t>
            </a:r>
            <a:endParaRPr lang="en-US" sz="6000" dirty="0"/>
          </a:p>
        </p:txBody>
      </p:sp>
      <p:sp>
        <p:nvSpPr>
          <p:cNvPr id="7" name="Shape 5"/>
          <p:cNvSpPr/>
          <p:nvPr/>
        </p:nvSpPr>
        <p:spPr>
          <a:xfrm>
            <a:off x="4937760" y="2377440"/>
            <a:ext cx="2286000" cy="1920240"/>
          </a:xfrm>
          <a:prstGeom prst="downArrow">
            <a:avLst/>
          </a:prstGeom>
          <a:solidFill>
            <a:srgbClr val="C0392B"/>
          </a:solidFill>
          <a:ln/>
        </p:spPr>
      </p:sp>
      <p:sp>
        <p:nvSpPr>
          <p:cNvPr id="8" name="Text 6"/>
          <p:cNvSpPr/>
          <p:nvPr/>
        </p:nvSpPr>
        <p:spPr>
          <a:xfrm>
            <a:off x="4937760" y="3108960"/>
            <a:ext cx="22860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BTP</a:t>
            </a:r>
            <a:endParaRPr lang="en-US" sz="1500" dirty="0"/>
          </a:p>
        </p:txBody>
      </p:sp>
      <p:sp>
        <p:nvSpPr>
          <p:cNvPr id="9" name="Shape 7"/>
          <p:cNvSpPr/>
          <p:nvPr/>
        </p:nvSpPr>
        <p:spPr>
          <a:xfrm>
            <a:off x="7589520" y="2286000"/>
            <a:ext cx="3108960" cy="2103120"/>
          </a:xfrm>
          <a:prstGeom prst="roundRect">
            <a:avLst>
              <a:gd name="adj" fmla="val 4348"/>
            </a:avLst>
          </a:prstGeom>
          <a:solidFill>
            <a:srgbClr val="C0392B"/>
          </a:solidFill>
          <a:ln/>
          <a:effectLst>
            <a:outerShdw sx="100000" sy="100000" kx="0" ky="0" algn="bl" rotWithShape="0" blurRad="88900" dist="38100" dir="8100000">
              <a:srgbClr val="000000">
                <a:alpha val="18000"/>
              </a:srgbClr>
            </a:outerShdw>
          </a:effectLst>
        </p:spPr>
      </p:sp>
      <p:sp>
        <p:nvSpPr>
          <p:cNvPr id="10" name="Text 8"/>
          <p:cNvSpPr/>
          <p:nvPr/>
        </p:nvSpPr>
        <p:spPr>
          <a:xfrm>
            <a:off x="7589520" y="2514600"/>
            <a:ext cx="3108960" cy="457200"/>
          </a:xfrm>
          <a:prstGeom prst="rect">
            <a:avLst/>
          </a:prstGeom>
          <a:noFill/>
          <a:ln/>
        </p:spPr>
        <p:txBody>
          <a:bodyPr wrap="square" rtlCol="0" anchor="ctr"/>
          <a:lstStyle/>
          <a:p>
            <a:pPr algn="ctr" indent="0" marL="0">
              <a:buNone/>
            </a:pPr>
            <a:r>
              <a:rPr lang="en-US" sz="1600" dirty="0">
                <a:solidFill>
                  <a:srgbClr val="FFE2DD"/>
                </a:solidFill>
                <a:latin typeface="Calibri" pitchFamily="34" charset="0"/>
                <a:ea typeface="Calibri" pitchFamily="34" charset="-122"/>
                <a:cs typeface="Calibri" pitchFamily="34" charset="-120"/>
              </a:rPr>
              <a:t>With BTP</a:t>
            </a:r>
            <a:endParaRPr lang="en-US" sz="1600" dirty="0"/>
          </a:p>
        </p:txBody>
      </p:sp>
      <p:sp>
        <p:nvSpPr>
          <p:cNvPr id="11" name="Text 9"/>
          <p:cNvSpPr/>
          <p:nvPr/>
        </p:nvSpPr>
        <p:spPr>
          <a:xfrm>
            <a:off x="7589520" y="2834640"/>
            <a:ext cx="3108960" cy="1188720"/>
          </a:xfrm>
          <a:prstGeom prst="rect">
            <a:avLst/>
          </a:prstGeom>
          <a:noFill/>
          <a:ln/>
        </p:spPr>
        <p:txBody>
          <a:bodyPr wrap="square"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23.6</a:t>
            </a:r>
            <a:endParaRPr lang="en-US" sz="6000" dirty="0"/>
          </a:p>
        </p:txBody>
      </p:sp>
      <p:sp>
        <p:nvSpPr>
          <p:cNvPr id="12" name="Text 10"/>
          <p:cNvSpPr/>
          <p:nvPr/>
        </p:nvSpPr>
        <p:spPr>
          <a:xfrm>
            <a:off x="822960" y="4800600"/>
            <a:ext cx="10515600" cy="640080"/>
          </a:xfrm>
          <a:prstGeom prst="rect">
            <a:avLst/>
          </a:prstGeom>
          <a:noFill/>
          <a:ln/>
        </p:spPr>
        <p:txBody>
          <a:bodyPr wrap="square" rtlCol="0" anchor="ctr"/>
          <a:lstStyle/>
          <a:p>
            <a:pPr algn="ctr" indent="0" marL="0">
              <a:buNone/>
            </a:pPr>
            <a:r>
              <a:rPr lang="en-US" sz="1500" i="1" dirty="0">
                <a:solidFill>
                  <a:srgbClr val="CFE3F2"/>
                </a:solidFill>
                <a:latin typeface="Calibri" pitchFamily="34" charset="0"/>
                <a:ea typeface="Calibri" pitchFamily="34" charset="-122"/>
                <a:cs typeface="Calibri" pitchFamily="34" charset="-120"/>
              </a:rPr>
              <a:t>Qwen2.5-VL-7B on TextVQA: accuracy fell by about 59 points. That is not a small dip; that is the model going blind to text. Why?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Four Questions We Set Out to Answer</a:t>
            </a:r>
            <a:endParaRPr lang="en-US" sz="2500" dirty="0"/>
          </a:p>
        </p:txBody>
      </p:sp>
      <p:sp>
        <p:nvSpPr>
          <p:cNvPr id="6" name="Shape 4"/>
          <p:cNvSpPr/>
          <p:nvPr/>
        </p:nvSpPr>
        <p:spPr>
          <a:xfrm>
            <a:off x="640080" y="1417320"/>
            <a:ext cx="539496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868680" y="1737360"/>
            <a:ext cx="640080" cy="640080"/>
          </a:xfrm>
          <a:prstGeom prst="ellipse">
            <a:avLst/>
          </a:prstGeom>
          <a:solidFill>
            <a:srgbClr val="1C7293"/>
          </a:solidFill>
          <a:ln/>
        </p:spPr>
      </p:sp>
      <p:sp>
        <p:nvSpPr>
          <p:cNvPr id="8" name="Text 6"/>
          <p:cNvSpPr/>
          <p:nvPr/>
        </p:nvSpPr>
        <p:spPr>
          <a:xfrm>
            <a:off x="868680" y="173736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1691640" y="1737360"/>
            <a:ext cx="4114800" cy="54864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Does it spread?</a:t>
            </a:r>
            <a:endParaRPr lang="en-US" sz="1600" dirty="0"/>
          </a:p>
        </p:txBody>
      </p:sp>
      <p:sp>
        <p:nvSpPr>
          <p:cNvPr id="10" name="Text 8"/>
          <p:cNvSpPr/>
          <p:nvPr/>
        </p:nvSpPr>
        <p:spPr>
          <a:xfrm>
            <a:off x="1691640" y="2331720"/>
            <a:ext cx="4114800" cy="731520"/>
          </a:xfrm>
          <a:prstGeom prst="rect">
            <a:avLst/>
          </a:prstGeom>
          <a:noFill/>
          <a:ln/>
        </p:spPr>
        <p:txBody>
          <a:bodyPr wrap="square" rtlCol="0" anchor="ctr"/>
          <a:lstStyle/>
          <a:p>
            <a:pPr indent="0" marL="0">
              <a:buNone/>
            </a:pPr>
            <a:r>
              <a:rPr lang="en-US" sz="1200" dirty="0">
                <a:solidFill>
                  <a:srgbClr val="5A6B7B"/>
                </a:solidFill>
                <a:latin typeface="Calibri" pitchFamily="34" charset="0"/>
                <a:ea typeface="Calibri" pitchFamily="34" charset="-122"/>
                <a:cs typeface="Calibri" pitchFamily="34" charset="-120"/>
              </a:rPr>
              <a:t>Is the drop only on TextVQA, or on other text tasks too?</a:t>
            </a:r>
            <a:endParaRPr lang="en-US" sz="1200" dirty="0"/>
          </a:p>
        </p:txBody>
      </p:sp>
      <p:sp>
        <p:nvSpPr>
          <p:cNvPr id="11" name="Shape 9"/>
          <p:cNvSpPr/>
          <p:nvPr/>
        </p:nvSpPr>
        <p:spPr>
          <a:xfrm>
            <a:off x="6309360" y="1417320"/>
            <a:ext cx="539496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2" name="Shape 10"/>
          <p:cNvSpPr/>
          <p:nvPr/>
        </p:nvSpPr>
        <p:spPr>
          <a:xfrm>
            <a:off x="6537960" y="1737360"/>
            <a:ext cx="640080" cy="640080"/>
          </a:xfrm>
          <a:prstGeom prst="ellipse">
            <a:avLst/>
          </a:prstGeom>
          <a:solidFill>
            <a:srgbClr val="1C7293"/>
          </a:solidFill>
          <a:ln/>
        </p:spPr>
      </p:sp>
      <p:sp>
        <p:nvSpPr>
          <p:cNvPr id="13" name="Text 11"/>
          <p:cNvSpPr/>
          <p:nvPr/>
        </p:nvSpPr>
        <p:spPr>
          <a:xfrm>
            <a:off x="6537960" y="173736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7360920" y="1737360"/>
            <a:ext cx="4114800" cy="54864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Is it gradual?</a:t>
            </a:r>
            <a:endParaRPr lang="en-US" sz="1600" dirty="0"/>
          </a:p>
        </p:txBody>
      </p:sp>
      <p:sp>
        <p:nvSpPr>
          <p:cNvPr id="15" name="Text 13"/>
          <p:cNvSpPr/>
          <p:nvPr/>
        </p:nvSpPr>
        <p:spPr>
          <a:xfrm>
            <a:off x="7360920" y="2331720"/>
            <a:ext cx="4114800" cy="731520"/>
          </a:xfrm>
          <a:prstGeom prst="rect">
            <a:avLst/>
          </a:prstGeom>
          <a:noFill/>
          <a:ln/>
        </p:spPr>
        <p:txBody>
          <a:bodyPr wrap="square" rtlCol="0" anchor="ctr"/>
          <a:lstStyle/>
          <a:p>
            <a:pPr indent="0" marL="0">
              <a:buNone/>
            </a:pPr>
            <a:r>
              <a:rPr lang="en-US" sz="1200" dirty="0">
                <a:solidFill>
                  <a:srgbClr val="5A6B7B"/>
                </a:solidFill>
                <a:latin typeface="Calibri" pitchFamily="34" charset="0"/>
                <a:ea typeface="Calibri" pitchFamily="34" charset="-122"/>
                <a:cs typeface="Calibri" pitchFamily="34" charset="-120"/>
              </a:rPr>
              <a:t>Does the score slide down slowly as we remove more tokens?</a:t>
            </a:r>
            <a:endParaRPr lang="en-US" sz="1200" dirty="0"/>
          </a:p>
        </p:txBody>
      </p:sp>
      <p:sp>
        <p:nvSpPr>
          <p:cNvPr id="16" name="Shape 14"/>
          <p:cNvSpPr/>
          <p:nvPr/>
        </p:nvSpPr>
        <p:spPr>
          <a:xfrm>
            <a:off x="640080" y="3520440"/>
            <a:ext cx="539496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7" name="Shape 15"/>
          <p:cNvSpPr/>
          <p:nvPr/>
        </p:nvSpPr>
        <p:spPr>
          <a:xfrm>
            <a:off x="868680" y="3840480"/>
            <a:ext cx="640080" cy="640080"/>
          </a:xfrm>
          <a:prstGeom prst="ellipse">
            <a:avLst/>
          </a:prstGeom>
          <a:solidFill>
            <a:srgbClr val="1C7293"/>
          </a:solidFill>
          <a:ln/>
        </p:spPr>
      </p:sp>
      <p:sp>
        <p:nvSpPr>
          <p:cNvPr id="18" name="Text 16"/>
          <p:cNvSpPr/>
          <p:nvPr/>
        </p:nvSpPr>
        <p:spPr>
          <a:xfrm>
            <a:off x="868680" y="384048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1691640" y="3840480"/>
            <a:ext cx="4114800" cy="54864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What gets cut?</a:t>
            </a:r>
            <a:endParaRPr lang="en-US" sz="1600" dirty="0"/>
          </a:p>
        </p:txBody>
      </p:sp>
      <p:sp>
        <p:nvSpPr>
          <p:cNvPr id="20" name="Text 18"/>
          <p:cNvSpPr/>
          <p:nvPr/>
        </p:nvSpPr>
        <p:spPr>
          <a:xfrm>
            <a:off x="1691640" y="4434840"/>
            <a:ext cx="4114800" cy="731520"/>
          </a:xfrm>
          <a:prstGeom prst="rect">
            <a:avLst/>
          </a:prstGeom>
          <a:noFill/>
          <a:ln/>
        </p:spPr>
        <p:txBody>
          <a:bodyPr wrap="square" rtlCol="0" anchor="ctr"/>
          <a:lstStyle/>
          <a:p>
            <a:pPr indent="0" marL="0">
              <a:buNone/>
            </a:pPr>
            <a:r>
              <a:rPr lang="en-US" sz="1200" dirty="0">
                <a:solidFill>
                  <a:srgbClr val="5A6B7B"/>
                </a:solidFill>
                <a:latin typeface="Calibri" pitchFamily="34" charset="0"/>
                <a:ea typeface="Calibri" pitchFamily="34" charset="-122"/>
                <a:cs typeface="Calibri" pitchFamily="34" charset="-120"/>
              </a:rPr>
              <a:t>Which parts of the image does pruning actually throw away?</a:t>
            </a:r>
            <a:endParaRPr lang="en-US" sz="1200" dirty="0"/>
          </a:p>
        </p:txBody>
      </p:sp>
      <p:sp>
        <p:nvSpPr>
          <p:cNvPr id="21" name="Shape 19"/>
          <p:cNvSpPr/>
          <p:nvPr/>
        </p:nvSpPr>
        <p:spPr>
          <a:xfrm>
            <a:off x="6309360" y="3520440"/>
            <a:ext cx="539496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22" name="Shape 20"/>
          <p:cNvSpPr/>
          <p:nvPr/>
        </p:nvSpPr>
        <p:spPr>
          <a:xfrm>
            <a:off x="6537960" y="3840480"/>
            <a:ext cx="640080" cy="640080"/>
          </a:xfrm>
          <a:prstGeom prst="ellipse">
            <a:avLst/>
          </a:prstGeom>
          <a:solidFill>
            <a:srgbClr val="1C7293"/>
          </a:solidFill>
          <a:ln/>
        </p:spPr>
      </p:sp>
      <p:sp>
        <p:nvSpPr>
          <p:cNvPr id="23" name="Text 21"/>
          <p:cNvSpPr/>
          <p:nvPr/>
        </p:nvSpPr>
        <p:spPr>
          <a:xfrm>
            <a:off x="6537960" y="3840480"/>
            <a:ext cx="640080" cy="6400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4" name="Text 22"/>
          <p:cNvSpPr/>
          <p:nvPr/>
        </p:nvSpPr>
        <p:spPr>
          <a:xfrm>
            <a:off x="7360920" y="3840480"/>
            <a:ext cx="4114800" cy="54864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Is text the target?</a:t>
            </a:r>
            <a:endParaRPr lang="en-US" sz="1600" dirty="0"/>
          </a:p>
        </p:txBody>
      </p:sp>
      <p:sp>
        <p:nvSpPr>
          <p:cNvPr id="25" name="Text 23"/>
          <p:cNvSpPr/>
          <p:nvPr/>
        </p:nvSpPr>
        <p:spPr>
          <a:xfrm>
            <a:off x="7360920" y="4434840"/>
            <a:ext cx="4114800" cy="731520"/>
          </a:xfrm>
          <a:prstGeom prst="rect">
            <a:avLst/>
          </a:prstGeom>
          <a:noFill/>
          <a:ln/>
        </p:spPr>
        <p:txBody>
          <a:bodyPr wrap="square" rtlCol="0" anchor="ctr"/>
          <a:lstStyle/>
          <a:p>
            <a:pPr indent="0" marL="0">
              <a:buNone/>
            </a:pPr>
            <a:r>
              <a:rPr lang="en-US" sz="1200" dirty="0">
                <a:solidFill>
                  <a:srgbClr val="5A6B7B"/>
                </a:solidFill>
                <a:latin typeface="Calibri" pitchFamily="34" charset="0"/>
                <a:ea typeface="Calibri" pitchFamily="34" charset="-122"/>
                <a:cs typeface="Calibri" pitchFamily="34" charset="-120"/>
              </a:rPr>
              <a:t>Does pruning hit text regions more than everything else?</a:t>
            </a:r>
            <a:endParaRPr lang="en-US" sz="1200" dirty="0"/>
          </a:p>
        </p:txBody>
      </p:sp>
      <p:sp>
        <p:nvSpPr>
          <p:cNvPr id="26" name="Text 24"/>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EXPERIMENT 1</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Does the Failure Spread?</a:t>
            </a:r>
            <a:endParaRPr lang="en-US" sz="2500" dirty="0"/>
          </a:p>
        </p:txBody>
      </p:sp>
      <p:sp>
        <p:nvSpPr>
          <p:cNvPr id="6" name="Shape 4"/>
          <p:cNvSpPr/>
          <p:nvPr/>
        </p:nvSpPr>
        <p:spPr>
          <a:xfrm>
            <a:off x="685800" y="1554480"/>
            <a:ext cx="2834640" cy="658368"/>
          </a:xfrm>
          <a:prstGeom prst="rect">
            <a:avLst/>
          </a:prstGeom>
          <a:solidFill>
            <a:srgbClr val="0B1F3A"/>
          </a:solidFill>
          <a:ln w="12700">
            <a:solidFill>
              <a:srgbClr val="D7E1EC"/>
            </a:solidFill>
            <a:prstDash val="solid"/>
          </a:ln>
        </p:spPr>
      </p:sp>
      <p:sp>
        <p:nvSpPr>
          <p:cNvPr id="7" name="Text 5"/>
          <p:cNvSpPr/>
          <p:nvPr/>
        </p:nvSpPr>
        <p:spPr>
          <a:xfrm>
            <a:off x="685800" y="1554480"/>
            <a:ext cx="283464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p>
        </p:txBody>
      </p:sp>
      <p:sp>
        <p:nvSpPr>
          <p:cNvPr id="8" name="Shape 6"/>
          <p:cNvSpPr/>
          <p:nvPr/>
        </p:nvSpPr>
        <p:spPr>
          <a:xfrm>
            <a:off x="3520440" y="1554480"/>
            <a:ext cx="2286000" cy="658368"/>
          </a:xfrm>
          <a:prstGeom prst="rect">
            <a:avLst/>
          </a:prstGeom>
          <a:solidFill>
            <a:srgbClr val="0B1F3A"/>
          </a:solidFill>
          <a:ln w="12700">
            <a:solidFill>
              <a:srgbClr val="D7E1EC"/>
            </a:solidFill>
            <a:prstDash val="solid"/>
          </a:ln>
        </p:spPr>
      </p:sp>
      <p:sp>
        <p:nvSpPr>
          <p:cNvPr id="9" name="Text 7"/>
          <p:cNvSpPr/>
          <p:nvPr/>
        </p:nvSpPr>
        <p:spPr>
          <a:xfrm>
            <a:off x="3520440" y="1554480"/>
            <a:ext cx="228600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p>
        </p:txBody>
      </p:sp>
      <p:sp>
        <p:nvSpPr>
          <p:cNvPr id="10" name="Shape 8"/>
          <p:cNvSpPr/>
          <p:nvPr/>
        </p:nvSpPr>
        <p:spPr>
          <a:xfrm>
            <a:off x="5806440" y="1554480"/>
            <a:ext cx="1920240" cy="658368"/>
          </a:xfrm>
          <a:prstGeom prst="rect">
            <a:avLst/>
          </a:prstGeom>
          <a:solidFill>
            <a:srgbClr val="0B1F3A"/>
          </a:solidFill>
          <a:ln w="12700">
            <a:solidFill>
              <a:srgbClr val="D7E1EC"/>
            </a:solidFill>
            <a:prstDash val="solid"/>
          </a:ln>
        </p:spPr>
      </p:sp>
      <p:sp>
        <p:nvSpPr>
          <p:cNvPr id="11" name="Text 9"/>
          <p:cNvSpPr/>
          <p:nvPr/>
        </p:nvSpPr>
        <p:spPr>
          <a:xfrm>
            <a:off x="5806440" y="1554480"/>
            <a:ext cx="192024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Baseline</a:t>
            </a:r>
            <a:endParaRPr lang="en-US" sz="1300" dirty="0"/>
          </a:p>
        </p:txBody>
      </p:sp>
      <p:sp>
        <p:nvSpPr>
          <p:cNvPr id="12" name="Shape 10"/>
          <p:cNvSpPr/>
          <p:nvPr/>
        </p:nvSpPr>
        <p:spPr>
          <a:xfrm>
            <a:off x="7726680" y="1554480"/>
            <a:ext cx="1828800" cy="658368"/>
          </a:xfrm>
          <a:prstGeom prst="rect">
            <a:avLst/>
          </a:prstGeom>
          <a:solidFill>
            <a:srgbClr val="0B1F3A"/>
          </a:solidFill>
          <a:ln w="12700">
            <a:solidFill>
              <a:srgbClr val="D7E1EC"/>
            </a:solidFill>
            <a:prstDash val="solid"/>
          </a:ln>
        </p:spPr>
      </p:sp>
      <p:sp>
        <p:nvSpPr>
          <p:cNvPr id="13" name="Text 11"/>
          <p:cNvSpPr/>
          <p:nvPr/>
        </p:nvSpPr>
        <p:spPr>
          <a:xfrm>
            <a:off x="7726680" y="1554480"/>
            <a:ext cx="182880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BTP</a:t>
            </a:r>
            <a:endParaRPr lang="en-US" sz="1300" dirty="0"/>
          </a:p>
        </p:txBody>
      </p:sp>
      <p:sp>
        <p:nvSpPr>
          <p:cNvPr id="14" name="Shape 12"/>
          <p:cNvSpPr/>
          <p:nvPr/>
        </p:nvSpPr>
        <p:spPr>
          <a:xfrm>
            <a:off x="9555480" y="1554480"/>
            <a:ext cx="1828800" cy="658368"/>
          </a:xfrm>
          <a:prstGeom prst="rect">
            <a:avLst/>
          </a:prstGeom>
          <a:solidFill>
            <a:srgbClr val="0B1F3A"/>
          </a:solidFill>
          <a:ln w="12700">
            <a:solidFill>
              <a:srgbClr val="D7E1EC"/>
            </a:solidFill>
            <a:prstDash val="solid"/>
          </a:ln>
        </p:spPr>
      </p:sp>
      <p:sp>
        <p:nvSpPr>
          <p:cNvPr id="15" name="Text 13"/>
          <p:cNvSpPr/>
          <p:nvPr/>
        </p:nvSpPr>
        <p:spPr>
          <a:xfrm>
            <a:off x="9555480" y="1554480"/>
            <a:ext cx="182880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Drop</a:t>
            </a:r>
            <a:endParaRPr lang="en-US" sz="1300" dirty="0"/>
          </a:p>
        </p:txBody>
      </p:sp>
      <p:sp>
        <p:nvSpPr>
          <p:cNvPr id="16" name="Shape 14"/>
          <p:cNvSpPr/>
          <p:nvPr/>
        </p:nvSpPr>
        <p:spPr>
          <a:xfrm>
            <a:off x="685800" y="2212848"/>
            <a:ext cx="2834640" cy="658368"/>
          </a:xfrm>
          <a:prstGeom prst="rect">
            <a:avLst/>
          </a:prstGeom>
          <a:solidFill>
            <a:srgbClr val="EFF4F9"/>
          </a:solidFill>
          <a:ln w="12700">
            <a:solidFill>
              <a:srgbClr val="D7E1EC"/>
            </a:solidFill>
            <a:prstDash val="solid"/>
          </a:ln>
        </p:spPr>
      </p:sp>
      <p:sp>
        <p:nvSpPr>
          <p:cNvPr id="17" name="Text 15"/>
          <p:cNvSpPr/>
          <p:nvPr/>
        </p:nvSpPr>
        <p:spPr>
          <a:xfrm>
            <a:off x="822960" y="2212848"/>
            <a:ext cx="2651760" cy="658368"/>
          </a:xfrm>
          <a:prstGeom prst="rect">
            <a:avLst/>
          </a:prstGeom>
          <a:noFill/>
          <a:ln/>
        </p:spPr>
        <p:txBody>
          <a:bodyPr wrap="square" rtlCol="0" anchor="ctr"/>
          <a:lstStyle/>
          <a:p>
            <a:pPr algn="l" indent="0" marL="0">
              <a:buNone/>
            </a:pPr>
            <a:r>
              <a:rPr lang="en-US" sz="1300" b="1" dirty="0">
                <a:solidFill>
                  <a:srgbClr val="1C7293"/>
                </a:solidFill>
                <a:latin typeface="Calibri" pitchFamily="34" charset="0"/>
                <a:ea typeface="Calibri" pitchFamily="34" charset="-122"/>
                <a:cs typeface="Calibri" pitchFamily="34" charset="-120"/>
              </a:rPr>
              <a:t>TextVQA</a:t>
            </a:r>
            <a:endParaRPr lang="en-US" sz="1300" dirty="0"/>
          </a:p>
        </p:txBody>
      </p:sp>
      <p:sp>
        <p:nvSpPr>
          <p:cNvPr id="18" name="Shape 16"/>
          <p:cNvSpPr/>
          <p:nvPr/>
        </p:nvSpPr>
        <p:spPr>
          <a:xfrm>
            <a:off x="3520440" y="2212848"/>
            <a:ext cx="2286000" cy="658368"/>
          </a:xfrm>
          <a:prstGeom prst="rect">
            <a:avLst/>
          </a:prstGeom>
          <a:solidFill>
            <a:srgbClr val="EFF4F9"/>
          </a:solidFill>
          <a:ln w="12700">
            <a:solidFill>
              <a:srgbClr val="D7E1EC"/>
            </a:solidFill>
            <a:prstDash val="solid"/>
          </a:ln>
        </p:spPr>
      </p:sp>
      <p:sp>
        <p:nvSpPr>
          <p:cNvPr id="19" name="Text 17"/>
          <p:cNvSpPr/>
          <p:nvPr/>
        </p:nvSpPr>
        <p:spPr>
          <a:xfrm>
            <a:off x="3520440" y="2212848"/>
            <a:ext cx="2286000" cy="658368"/>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Accuracy</a:t>
            </a:r>
            <a:endParaRPr lang="en-US" sz="1300" dirty="0"/>
          </a:p>
        </p:txBody>
      </p:sp>
      <p:sp>
        <p:nvSpPr>
          <p:cNvPr id="20" name="Shape 18"/>
          <p:cNvSpPr/>
          <p:nvPr/>
        </p:nvSpPr>
        <p:spPr>
          <a:xfrm>
            <a:off x="5806440" y="2212848"/>
            <a:ext cx="1920240" cy="658368"/>
          </a:xfrm>
          <a:prstGeom prst="rect">
            <a:avLst/>
          </a:prstGeom>
          <a:solidFill>
            <a:srgbClr val="EFF4F9"/>
          </a:solidFill>
          <a:ln w="12700">
            <a:solidFill>
              <a:srgbClr val="D7E1EC"/>
            </a:solidFill>
            <a:prstDash val="solid"/>
          </a:ln>
        </p:spPr>
      </p:sp>
      <p:sp>
        <p:nvSpPr>
          <p:cNvPr id="21" name="Text 19"/>
          <p:cNvSpPr/>
          <p:nvPr/>
        </p:nvSpPr>
        <p:spPr>
          <a:xfrm>
            <a:off x="5806440" y="2212848"/>
            <a:ext cx="1920240" cy="658368"/>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86.2</a:t>
            </a:r>
            <a:endParaRPr lang="en-US" sz="1300" dirty="0"/>
          </a:p>
        </p:txBody>
      </p:sp>
      <p:sp>
        <p:nvSpPr>
          <p:cNvPr id="22" name="Shape 20"/>
          <p:cNvSpPr/>
          <p:nvPr/>
        </p:nvSpPr>
        <p:spPr>
          <a:xfrm>
            <a:off x="7726680" y="2212848"/>
            <a:ext cx="1828800" cy="658368"/>
          </a:xfrm>
          <a:prstGeom prst="rect">
            <a:avLst/>
          </a:prstGeom>
          <a:solidFill>
            <a:srgbClr val="EFF4F9"/>
          </a:solidFill>
          <a:ln w="12700">
            <a:solidFill>
              <a:srgbClr val="D7E1EC"/>
            </a:solidFill>
            <a:prstDash val="solid"/>
          </a:ln>
        </p:spPr>
      </p:sp>
      <p:sp>
        <p:nvSpPr>
          <p:cNvPr id="23" name="Text 21"/>
          <p:cNvSpPr/>
          <p:nvPr/>
        </p:nvSpPr>
        <p:spPr>
          <a:xfrm>
            <a:off x="7726680" y="2212848"/>
            <a:ext cx="1828800" cy="658368"/>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23.3</a:t>
            </a:r>
            <a:endParaRPr lang="en-US" sz="1300" dirty="0"/>
          </a:p>
        </p:txBody>
      </p:sp>
      <p:sp>
        <p:nvSpPr>
          <p:cNvPr id="24" name="Shape 22"/>
          <p:cNvSpPr/>
          <p:nvPr/>
        </p:nvSpPr>
        <p:spPr>
          <a:xfrm>
            <a:off x="9555480" y="2212848"/>
            <a:ext cx="1828800" cy="658368"/>
          </a:xfrm>
          <a:prstGeom prst="rect">
            <a:avLst/>
          </a:prstGeom>
          <a:solidFill>
            <a:srgbClr val="EFF4F9"/>
          </a:solidFill>
          <a:ln w="12700">
            <a:solidFill>
              <a:srgbClr val="D7E1EC"/>
            </a:solidFill>
            <a:prstDash val="solid"/>
          </a:ln>
        </p:spPr>
      </p:sp>
      <p:sp>
        <p:nvSpPr>
          <p:cNvPr id="25" name="Text 23"/>
          <p:cNvSpPr/>
          <p:nvPr/>
        </p:nvSpPr>
        <p:spPr>
          <a:xfrm>
            <a:off x="9555480" y="2212848"/>
            <a:ext cx="1828800" cy="658368"/>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down 62.9</a:t>
            </a:r>
            <a:endParaRPr lang="en-US" sz="1300" dirty="0"/>
          </a:p>
        </p:txBody>
      </p:sp>
      <p:sp>
        <p:nvSpPr>
          <p:cNvPr id="26" name="Shape 24"/>
          <p:cNvSpPr/>
          <p:nvPr/>
        </p:nvSpPr>
        <p:spPr>
          <a:xfrm>
            <a:off x="685800" y="2871216"/>
            <a:ext cx="2834640" cy="658368"/>
          </a:xfrm>
          <a:prstGeom prst="rect">
            <a:avLst/>
          </a:prstGeom>
          <a:solidFill>
            <a:srgbClr val="FFFFFF"/>
          </a:solidFill>
          <a:ln w="12700">
            <a:solidFill>
              <a:srgbClr val="D7E1EC"/>
            </a:solidFill>
            <a:prstDash val="solid"/>
          </a:ln>
        </p:spPr>
      </p:sp>
      <p:sp>
        <p:nvSpPr>
          <p:cNvPr id="27" name="Text 25"/>
          <p:cNvSpPr/>
          <p:nvPr/>
        </p:nvSpPr>
        <p:spPr>
          <a:xfrm>
            <a:off x="822960" y="2871216"/>
            <a:ext cx="2651760" cy="658368"/>
          </a:xfrm>
          <a:prstGeom prst="rect">
            <a:avLst/>
          </a:prstGeom>
          <a:noFill/>
          <a:ln/>
        </p:spPr>
        <p:txBody>
          <a:bodyPr wrap="square" rtlCol="0" anchor="ctr"/>
          <a:lstStyle/>
          <a:p>
            <a:pPr algn="l" indent="0" marL="0">
              <a:buNone/>
            </a:pPr>
            <a:r>
              <a:rPr lang="en-US" sz="1300" b="1" dirty="0">
                <a:solidFill>
                  <a:srgbClr val="1C7293"/>
                </a:solidFill>
                <a:latin typeface="Calibri" pitchFamily="34" charset="0"/>
                <a:ea typeface="Calibri" pitchFamily="34" charset="-122"/>
                <a:cs typeface="Calibri" pitchFamily="34" charset="-120"/>
              </a:rPr>
              <a:t>DocVQA</a:t>
            </a:r>
            <a:endParaRPr lang="en-US" sz="1300" dirty="0"/>
          </a:p>
        </p:txBody>
      </p:sp>
      <p:sp>
        <p:nvSpPr>
          <p:cNvPr id="28" name="Shape 26"/>
          <p:cNvSpPr/>
          <p:nvPr/>
        </p:nvSpPr>
        <p:spPr>
          <a:xfrm>
            <a:off x="3520440" y="2871216"/>
            <a:ext cx="2286000" cy="658368"/>
          </a:xfrm>
          <a:prstGeom prst="rect">
            <a:avLst/>
          </a:prstGeom>
          <a:solidFill>
            <a:srgbClr val="FFFFFF"/>
          </a:solidFill>
          <a:ln w="12700">
            <a:solidFill>
              <a:srgbClr val="D7E1EC"/>
            </a:solidFill>
            <a:prstDash val="solid"/>
          </a:ln>
        </p:spPr>
      </p:sp>
      <p:sp>
        <p:nvSpPr>
          <p:cNvPr id="29" name="Text 27"/>
          <p:cNvSpPr/>
          <p:nvPr/>
        </p:nvSpPr>
        <p:spPr>
          <a:xfrm>
            <a:off x="3520440" y="2871216"/>
            <a:ext cx="2286000" cy="658368"/>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ANLS</a:t>
            </a:r>
            <a:endParaRPr lang="en-US" sz="1300" dirty="0"/>
          </a:p>
        </p:txBody>
      </p:sp>
      <p:sp>
        <p:nvSpPr>
          <p:cNvPr id="30" name="Shape 28"/>
          <p:cNvSpPr/>
          <p:nvPr/>
        </p:nvSpPr>
        <p:spPr>
          <a:xfrm>
            <a:off x="5806440" y="2871216"/>
            <a:ext cx="1920240" cy="658368"/>
          </a:xfrm>
          <a:prstGeom prst="rect">
            <a:avLst/>
          </a:prstGeom>
          <a:solidFill>
            <a:srgbClr val="FFFFFF"/>
          </a:solidFill>
          <a:ln w="12700">
            <a:solidFill>
              <a:srgbClr val="D7E1EC"/>
            </a:solidFill>
            <a:prstDash val="solid"/>
          </a:ln>
        </p:spPr>
      </p:sp>
      <p:sp>
        <p:nvSpPr>
          <p:cNvPr id="31" name="Text 29"/>
          <p:cNvSpPr/>
          <p:nvPr/>
        </p:nvSpPr>
        <p:spPr>
          <a:xfrm>
            <a:off x="5806440" y="2871216"/>
            <a:ext cx="1920240" cy="658368"/>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94.7</a:t>
            </a:r>
            <a:endParaRPr lang="en-US" sz="1300" dirty="0"/>
          </a:p>
        </p:txBody>
      </p:sp>
      <p:sp>
        <p:nvSpPr>
          <p:cNvPr id="32" name="Shape 30"/>
          <p:cNvSpPr/>
          <p:nvPr/>
        </p:nvSpPr>
        <p:spPr>
          <a:xfrm>
            <a:off x="7726680" y="2871216"/>
            <a:ext cx="1828800" cy="658368"/>
          </a:xfrm>
          <a:prstGeom prst="rect">
            <a:avLst/>
          </a:prstGeom>
          <a:solidFill>
            <a:srgbClr val="FFFFFF"/>
          </a:solidFill>
          <a:ln w="12700">
            <a:solidFill>
              <a:srgbClr val="D7E1EC"/>
            </a:solidFill>
            <a:prstDash val="solid"/>
          </a:ln>
        </p:spPr>
      </p:sp>
      <p:sp>
        <p:nvSpPr>
          <p:cNvPr id="33" name="Text 31"/>
          <p:cNvSpPr/>
          <p:nvPr/>
        </p:nvSpPr>
        <p:spPr>
          <a:xfrm>
            <a:off x="7726680" y="2871216"/>
            <a:ext cx="1828800" cy="658368"/>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19.2</a:t>
            </a:r>
            <a:endParaRPr lang="en-US" sz="1300" dirty="0"/>
          </a:p>
        </p:txBody>
      </p:sp>
      <p:sp>
        <p:nvSpPr>
          <p:cNvPr id="34" name="Shape 32"/>
          <p:cNvSpPr/>
          <p:nvPr/>
        </p:nvSpPr>
        <p:spPr>
          <a:xfrm>
            <a:off x="9555480" y="2871216"/>
            <a:ext cx="1828800" cy="658368"/>
          </a:xfrm>
          <a:prstGeom prst="rect">
            <a:avLst/>
          </a:prstGeom>
          <a:solidFill>
            <a:srgbClr val="FFFFFF"/>
          </a:solidFill>
          <a:ln w="12700">
            <a:solidFill>
              <a:srgbClr val="D7E1EC"/>
            </a:solidFill>
            <a:prstDash val="solid"/>
          </a:ln>
        </p:spPr>
      </p:sp>
      <p:sp>
        <p:nvSpPr>
          <p:cNvPr id="35" name="Text 33"/>
          <p:cNvSpPr/>
          <p:nvPr/>
        </p:nvSpPr>
        <p:spPr>
          <a:xfrm>
            <a:off x="9555480" y="2871216"/>
            <a:ext cx="1828800" cy="658368"/>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down 75.5</a:t>
            </a:r>
            <a:endParaRPr lang="en-US" sz="1300" dirty="0"/>
          </a:p>
        </p:txBody>
      </p:sp>
      <p:sp>
        <p:nvSpPr>
          <p:cNvPr id="36" name="Shape 34"/>
          <p:cNvSpPr/>
          <p:nvPr/>
        </p:nvSpPr>
        <p:spPr>
          <a:xfrm>
            <a:off x="685800" y="3529584"/>
            <a:ext cx="2834640" cy="658368"/>
          </a:xfrm>
          <a:prstGeom prst="rect">
            <a:avLst/>
          </a:prstGeom>
          <a:solidFill>
            <a:srgbClr val="EFF4F9"/>
          </a:solidFill>
          <a:ln w="12700">
            <a:solidFill>
              <a:srgbClr val="D7E1EC"/>
            </a:solidFill>
            <a:prstDash val="solid"/>
          </a:ln>
        </p:spPr>
      </p:sp>
      <p:sp>
        <p:nvSpPr>
          <p:cNvPr id="37" name="Text 35"/>
          <p:cNvSpPr/>
          <p:nvPr/>
        </p:nvSpPr>
        <p:spPr>
          <a:xfrm>
            <a:off x="822960" y="3529584"/>
            <a:ext cx="2651760" cy="658368"/>
          </a:xfrm>
          <a:prstGeom prst="rect">
            <a:avLst/>
          </a:prstGeom>
          <a:noFill/>
          <a:ln/>
        </p:spPr>
        <p:txBody>
          <a:bodyPr wrap="square" rtlCol="0" anchor="ctr"/>
          <a:lstStyle/>
          <a:p>
            <a:pPr algn="l" indent="0" marL="0">
              <a:buNone/>
            </a:pPr>
            <a:r>
              <a:rPr lang="en-US" sz="1300" b="1" dirty="0">
                <a:solidFill>
                  <a:srgbClr val="1C7293"/>
                </a:solidFill>
                <a:latin typeface="Calibri" pitchFamily="34" charset="0"/>
                <a:ea typeface="Calibri" pitchFamily="34" charset="-122"/>
                <a:cs typeface="Calibri" pitchFamily="34" charset="-120"/>
              </a:rPr>
              <a:t>ChartQA</a:t>
            </a:r>
            <a:endParaRPr lang="en-US" sz="1300" dirty="0"/>
          </a:p>
        </p:txBody>
      </p:sp>
      <p:sp>
        <p:nvSpPr>
          <p:cNvPr id="38" name="Shape 36"/>
          <p:cNvSpPr/>
          <p:nvPr/>
        </p:nvSpPr>
        <p:spPr>
          <a:xfrm>
            <a:off x="3520440" y="3529584"/>
            <a:ext cx="2286000" cy="658368"/>
          </a:xfrm>
          <a:prstGeom prst="rect">
            <a:avLst/>
          </a:prstGeom>
          <a:solidFill>
            <a:srgbClr val="EFF4F9"/>
          </a:solidFill>
          <a:ln w="12700">
            <a:solidFill>
              <a:srgbClr val="D7E1EC"/>
            </a:solidFill>
            <a:prstDash val="solid"/>
          </a:ln>
        </p:spPr>
      </p:sp>
      <p:sp>
        <p:nvSpPr>
          <p:cNvPr id="39" name="Text 37"/>
          <p:cNvSpPr/>
          <p:nvPr/>
        </p:nvSpPr>
        <p:spPr>
          <a:xfrm>
            <a:off x="3520440" y="3529584"/>
            <a:ext cx="2286000" cy="658368"/>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Relaxed acc.</a:t>
            </a:r>
            <a:endParaRPr lang="en-US" sz="1300" dirty="0"/>
          </a:p>
        </p:txBody>
      </p:sp>
      <p:sp>
        <p:nvSpPr>
          <p:cNvPr id="40" name="Shape 38"/>
          <p:cNvSpPr/>
          <p:nvPr/>
        </p:nvSpPr>
        <p:spPr>
          <a:xfrm>
            <a:off x="5806440" y="3529584"/>
            <a:ext cx="1920240" cy="658368"/>
          </a:xfrm>
          <a:prstGeom prst="rect">
            <a:avLst/>
          </a:prstGeom>
          <a:solidFill>
            <a:srgbClr val="EFF4F9"/>
          </a:solidFill>
          <a:ln w="12700">
            <a:solidFill>
              <a:srgbClr val="D7E1EC"/>
            </a:solidFill>
            <a:prstDash val="solid"/>
          </a:ln>
        </p:spPr>
      </p:sp>
      <p:sp>
        <p:nvSpPr>
          <p:cNvPr id="41" name="Text 39"/>
          <p:cNvSpPr/>
          <p:nvPr/>
        </p:nvSpPr>
        <p:spPr>
          <a:xfrm>
            <a:off x="5806440" y="3529584"/>
            <a:ext cx="1920240" cy="658368"/>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76.8</a:t>
            </a:r>
            <a:endParaRPr lang="en-US" sz="1300" dirty="0"/>
          </a:p>
        </p:txBody>
      </p:sp>
      <p:sp>
        <p:nvSpPr>
          <p:cNvPr id="42" name="Shape 40"/>
          <p:cNvSpPr/>
          <p:nvPr/>
        </p:nvSpPr>
        <p:spPr>
          <a:xfrm>
            <a:off x="7726680" y="3529584"/>
            <a:ext cx="1828800" cy="658368"/>
          </a:xfrm>
          <a:prstGeom prst="rect">
            <a:avLst/>
          </a:prstGeom>
          <a:solidFill>
            <a:srgbClr val="EFF4F9"/>
          </a:solidFill>
          <a:ln w="12700">
            <a:solidFill>
              <a:srgbClr val="D7E1EC"/>
            </a:solidFill>
            <a:prstDash val="solid"/>
          </a:ln>
        </p:spPr>
      </p:sp>
      <p:sp>
        <p:nvSpPr>
          <p:cNvPr id="43" name="Text 41"/>
          <p:cNvSpPr/>
          <p:nvPr/>
        </p:nvSpPr>
        <p:spPr>
          <a:xfrm>
            <a:off x="7726680" y="3529584"/>
            <a:ext cx="1828800" cy="658368"/>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29.0</a:t>
            </a:r>
            <a:endParaRPr lang="en-US" sz="1300" dirty="0"/>
          </a:p>
        </p:txBody>
      </p:sp>
      <p:sp>
        <p:nvSpPr>
          <p:cNvPr id="44" name="Shape 42"/>
          <p:cNvSpPr/>
          <p:nvPr/>
        </p:nvSpPr>
        <p:spPr>
          <a:xfrm>
            <a:off x="9555480" y="3529584"/>
            <a:ext cx="1828800" cy="658368"/>
          </a:xfrm>
          <a:prstGeom prst="rect">
            <a:avLst/>
          </a:prstGeom>
          <a:solidFill>
            <a:srgbClr val="EFF4F9"/>
          </a:solidFill>
          <a:ln w="12700">
            <a:solidFill>
              <a:srgbClr val="D7E1EC"/>
            </a:solidFill>
            <a:prstDash val="solid"/>
          </a:ln>
        </p:spPr>
      </p:sp>
      <p:sp>
        <p:nvSpPr>
          <p:cNvPr id="45" name="Text 43"/>
          <p:cNvSpPr/>
          <p:nvPr/>
        </p:nvSpPr>
        <p:spPr>
          <a:xfrm>
            <a:off x="9555480" y="3529584"/>
            <a:ext cx="1828800" cy="658368"/>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down 47.8</a:t>
            </a:r>
            <a:endParaRPr lang="en-US" sz="1300" dirty="0"/>
          </a:p>
        </p:txBody>
      </p:sp>
      <p:sp>
        <p:nvSpPr>
          <p:cNvPr id="46" name="Shape 44"/>
          <p:cNvSpPr/>
          <p:nvPr/>
        </p:nvSpPr>
        <p:spPr>
          <a:xfrm>
            <a:off x="685800" y="4187952"/>
            <a:ext cx="2834640" cy="658368"/>
          </a:xfrm>
          <a:prstGeom prst="rect">
            <a:avLst/>
          </a:prstGeom>
          <a:solidFill>
            <a:srgbClr val="FFFFFF"/>
          </a:solidFill>
          <a:ln w="12700">
            <a:solidFill>
              <a:srgbClr val="D7E1EC"/>
            </a:solidFill>
            <a:prstDash val="solid"/>
          </a:ln>
        </p:spPr>
      </p:sp>
      <p:sp>
        <p:nvSpPr>
          <p:cNvPr id="47" name="Text 45"/>
          <p:cNvSpPr/>
          <p:nvPr/>
        </p:nvSpPr>
        <p:spPr>
          <a:xfrm>
            <a:off x="822960" y="4187952"/>
            <a:ext cx="2651760" cy="658368"/>
          </a:xfrm>
          <a:prstGeom prst="rect">
            <a:avLst/>
          </a:prstGeom>
          <a:noFill/>
          <a:ln/>
        </p:spPr>
        <p:txBody>
          <a:bodyPr wrap="square" rtlCol="0" anchor="ctr"/>
          <a:lstStyle/>
          <a:p>
            <a:pPr algn="l" indent="0" marL="0">
              <a:buNone/>
            </a:pPr>
            <a:r>
              <a:rPr lang="en-US" sz="1300" b="1" dirty="0">
                <a:solidFill>
                  <a:srgbClr val="1C7293"/>
                </a:solidFill>
                <a:latin typeface="Calibri" pitchFamily="34" charset="0"/>
                <a:ea typeface="Calibri" pitchFamily="34" charset="-122"/>
                <a:cs typeface="Calibri" pitchFamily="34" charset="-120"/>
              </a:rPr>
              <a:t>AI2D</a:t>
            </a:r>
            <a:endParaRPr lang="en-US" sz="1300" dirty="0"/>
          </a:p>
        </p:txBody>
      </p:sp>
      <p:sp>
        <p:nvSpPr>
          <p:cNvPr id="48" name="Shape 46"/>
          <p:cNvSpPr/>
          <p:nvPr/>
        </p:nvSpPr>
        <p:spPr>
          <a:xfrm>
            <a:off x="3520440" y="4187952"/>
            <a:ext cx="2286000" cy="658368"/>
          </a:xfrm>
          <a:prstGeom prst="rect">
            <a:avLst/>
          </a:prstGeom>
          <a:solidFill>
            <a:srgbClr val="FFFFFF"/>
          </a:solidFill>
          <a:ln w="12700">
            <a:solidFill>
              <a:srgbClr val="D7E1EC"/>
            </a:solidFill>
            <a:prstDash val="solid"/>
          </a:ln>
        </p:spPr>
      </p:sp>
      <p:sp>
        <p:nvSpPr>
          <p:cNvPr id="49" name="Text 47"/>
          <p:cNvSpPr/>
          <p:nvPr/>
        </p:nvSpPr>
        <p:spPr>
          <a:xfrm>
            <a:off x="3520440" y="4187952"/>
            <a:ext cx="2286000" cy="658368"/>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Accuracy</a:t>
            </a:r>
            <a:endParaRPr lang="en-US" sz="1300" dirty="0"/>
          </a:p>
        </p:txBody>
      </p:sp>
      <p:sp>
        <p:nvSpPr>
          <p:cNvPr id="50" name="Shape 48"/>
          <p:cNvSpPr/>
          <p:nvPr/>
        </p:nvSpPr>
        <p:spPr>
          <a:xfrm>
            <a:off x="5806440" y="4187952"/>
            <a:ext cx="1920240" cy="658368"/>
          </a:xfrm>
          <a:prstGeom prst="rect">
            <a:avLst/>
          </a:prstGeom>
          <a:solidFill>
            <a:srgbClr val="FFFFFF"/>
          </a:solidFill>
          <a:ln w="12700">
            <a:solidFill>
              <a:srgbClr val="D7E1EC"/>
            </a:solidFill>
            <a:prstDash val="solid"/>
          </a:ln>
        </p:spPr>
      </p:sp>
      <p:sp>
        <p:nvSpPr>
          <p:cNvPr id="51" name="Text 49"/>
          <p:cNvSpPr/>
          <p:nvPr/>
        </p:nvSpPr>
        <p:spPr>
          <a:xfrm>
            <a:off x="5806440" y="4187952"/>
            <a:ext cx="1920240" cy="658368"/>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86.4</a:t>
            </a:r>
            <a:endParaRPr lang="en-US" sz="1300" dirty="0"/>
          </a:p>
        </p:txBody>
      </p:sp>
      <p:sp>
        <p:nvSpPr>
          <p:cNvPr id="52" name="Shape 50"/>
          <p:cNvSpPr/>
          <p:nvPr/>
        </p:nvSpPr>
        <p:spPr>
          <a:xfrm>
            <a:off x="7726680" y="4187952"/>
            <a:ext cx="1828800" cy="658368"/>
          </a:xfrm>
          <a:prstGeom prst="rect">
            <a:avLst/>
          </a:prstGeom>
          <a:solidFill>
            <a:srgbClr val="FFFFFF"/>
          </a:solidFill>
          <a:ln w="12700">
            <a:solidFill>
              <a:srgbClr val="D7E1EC"/>
            </a:solidFill>
            <a:prstDash val="solid"/>
          </a:ln>
        </p:spPr>
      </p:sp>
      <p:sp>
        <p:nvSpPr>
          <p:cNvPr id="53" name="Text 51"/>
          <p:cNvSpPr/>
          <p:nvPr/>
        </p:nvSpPr>
        <p:spPr>
          <a:xfrm>
            <a:off x="7726680" y="4187952"/>
            <a:ext cx="1828800" cy="658368"/>
          </a:xfrm>
          <a:prstGeom prst="rect">
            <a:avLst/>
          </a:prstGeom>
          <a:noFill/>
          <a:ln/>
        </p:spPr>
        <p:txBody>
          <a:bodyPr wrap="square" rtlCol="0" anchor="ctr"/>
          <a:lstStyle/>
          <a:p>
            <a:pPr algn="ctr" indent="0" marL="0">
              <a:buNone/>
            </a:pPr>
            <a:r>
              <a:rPr lang="en-US" sz="1300" b="1" dirty="0">
                <a:solidFill>
                  <a:srgbClr val="1E8E5A"/>
                </a:solidFill>
                <a:latin typeface="Calibri" pitchFamily="34" charset="0"/>
                <a:ea typeface="Calibri" pitchFamily="34" charset="-122"/>
                <a:cs typeface="Calibri" pitchFamily="34" charset="-120"/>
              </a:rPr>
              <a:t>79.6</a:t>
            </a:r>
            <a:endParaRPr lang="en-US" sz="1300" dirty="0"/>
          </a:p>
        </p:txBody>
      </p:sp>
      <p:sp>
        <p:nvSpPr>
          <p:cNvPr id="54" name="Shape 52"/>
          <p:cNvSpPr/>
          <p:nvPr/>
        </p:nvSpPr>
        <p:spPr>
          <a:xfrm>
            <a:off x="9555480" y="4187952"/>
            <a:ext cx="1828800" cy="658368"/>
          </a:xfrm>
          <a:prstGeom prst="rect">
            <a:avLst/>
          </a:prstGeom>
          <a:solidFill>
            <a:srgbClr val="FFFFFF"/>
          </a:solidFill>
          <a:ln w="12700">
            <a:solidFill>
              <a:srgbClr val="D7E1EC"/>
            </a:solidFill>
            <a:prstDash val="solid"/>
          </a:ln>
        </p:spPr>
      </p:sp>
      <p:sp>
        <p:nvSpPr>
          <p:cNvPr id="55" name="Text 53"/>
          <p:cNvSpPr/>
          <p:nvPr/>
        </p:nvSpPr>
        <p:spPr>
          <a:xfrm>
            <a:off x="9555480" y="4187952"/>
            <a:ext cx="1828800" cy="658368"/>
          </a:xfrm>
          <a:prstGeom prst="rect">
            <a:avLst/>
          </a:prstGeom>
          <a:noFill/>
          <a:ln/>
        </p:spPr>
        <p:txBody>
          <a:bodyPr wrap="square" rtlCol="0" anchor="ctr"/>
          <a:lstStyle/>
          <a:p>
            <a:pPr algn="ctr" indent="0" marL="0">
              <a:buNone/>
            </a:pPr>
            <a:r>
              <a:rPr lang="en-US" sz="1300" b="1" dirty="0">
                <a:solidFill>
                  <a:srgbClr val="1E8E5A"/>
                </a:solidFill>
                <a:latin typeface="Calibri" pitchFamily="34" charset="0"/>
                <a:ea typeface="Calibri" pitchFamily="34" charset="-122"/>
                <a:cs typeface="Calibri" pitchFamily="34" charset="-120"/>
              </a:rPr>
              <a:t>down 6.8</a:t>
            </a:r>
            <a:endParaRPr lang="en-US" sz="1300" dirty="0"/>
          </a:p>
        </p:txBody>
      </p:sp>
      <p:sp>
        <p:nvSpPr>
          <p:cNvPr id="56" name="Text 54"/>
          <p:cNvSpPr/>
          <p:nvPr/>
        </p:nvSpPr>
        <p:spPr>
          <a:xfrm>
            <a:off x="685800" y="5074920"/>
            <a:ext cx="10789920" cy="914400"/>
          </a:xfrm>
          <a:prstGeom prst="rect">
            <a:avLst/>
          </a:prstGeom>
          <a:noFill/>
          <a:ln/>
        </p:spPr>
        <p:txBody>
          <a:bodyPr wrap="square" rtlCol="0" anchor="ctr"/>
          <a:lstStyle/>
          <a:p>
            <a:pPr indent="0" marL="0">
              <a:buNone/>
            </a:pPr>
            <a:r>
              <a:rPr lang="en-US" sz="1400" b="1" i="1" dirty="0">
                <a:solidFill>
                  <a:srgbClr val="C0392B"/>
                </a:solidFill>
                <a:latin typeface="Calibri" pitchFamily="34" charset="0"/>
                <a:ea typeface="Calibri" pitchFamily="34" charset="-122"/>
                <a:cs typeface="Calibri" pitchFamily="34" charset="-120"/>
              </a:rPr>
              <a:t>Every text-heavy task falls apart (down 48 to 76 points). </a:t>
            </a:r>
            <a:pPr indent="0" marL="0">
              <a:buNone/>
            </a:pPr>
            <a:r>
              <a:rPr lang="en-US" sz="1400" i="1" dirty="0">
                <a:solidFill>
                  <a:srgbClr val="16222E"/>
                </a:solidFill>
                <a:latin typeface="Calibri" pitchFamily="34" charset="0"/>
                <a:ea typeface="Calibri" pitchFamily="34" charset="-122"/>
                <a:cs typeface="Calibri" pitchFamily="34" charset="-120"/>
              </a:rPr>
              <a:t>The one that holds up is AI2D, which reads diagram layout more than dense text. That contrast is the tell: the problem is specifically about reading text, not vision in general.</a:t>
            </a:r>
            <a:endParaRPr lang="en-US" sz="1400" dirty="0"/>
          </a:p>
        </p:txBody>
      </p:sp>
      <p:sp>
        <p:nvSpPr>
          <p:cNvPr id="57" name="Text 55"/>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EXPERIMENT 2</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It Breaks Instantly, Not Slowly</a:t>
            </a:r>
            <a:endParaRPr lang="en-US" sz="2500" dirty="0"/>
          </a:p>
        </p:txBody>
      </p:sp>
      <p:pic>
        <p:nvPicPr>
          <p:cNvPr id="6" name="Image 0" descr="/sessions/modest-epic-cerf/mnt/divya_maam/exp2_retention_curve.png">    </p:cNvPr>
          <p:cNvPicPr>
            <a:picLocks noChangeAspect="1"/>
          </p:cNvPicPr>
          <p:nvPr/>
        </p:nvPicPr>
        <p:blipFill>
          <a:blip r:embed="rId1"/>
          <a:stretch>
            <a:fillRect/>
          </a:stretch>
        </p:blipFill>
        <p:spPr>
          <a:xfrm>
            <a:off x="2103120" y="1371600"/>
            <a:ext cx="7955280" cy="4937760"/>
          </a:xfrm>
          <a:prstGeom prst="rect">
            <a:avLst/>
          </a:prstGeom>
        </p:spPr>
      </p:pic>
      <p:sp>
        <p:nvSpPr>
          <p:cNvPr id="7" name="Text 4"/>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355B"/>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9C7AC"/>
          </a:solidFill>
          <a:ln/>
        </p:spPr>
      </p:sp>
      <p:sp>
        <p:nvSpPr>
          <p:cNvPr id="3" name="Text 1"/>
          <p:cNvSpPr/>
          <p:nvPr/>
        </p:nvSpPr>
        <p:spPr>
          <a:xfrm>
            <a:off x="548640" y="548640"/>
            <a:ext cx="7315200" cy="320040"/>
          </a:xfrm>
          <a:prstGeom prst="rect">
            <a:avLst/>
          </a:prstGeom>
          <a:noFill/>
          <a:ln/>
        </p:spPr>
        <p:txBody>
          <a:bodyPr wrap="square" rtlCol="0" anchor="ctr"/>
          <a:lstStyle/>
          <a:p>
            <a:pPr indent="0" marL="0">
              <a:buNone/>
            </a:pPr>
            <a:r>
              <a:rPr lang="en-US" sz="1200" b="1" spc="300" kern="0" dirty="0">
                <a:solidFill>
                  <a:srgbClr val="29C7AC"/>
                </a:solidFill>
                <a:latin typeface="Calibri" pitchFamily="34" charset="0"/>
                <a:ea typeface="Calibri" pitchFamily="34" charset="-122"/>
                <a:cs typeface="Calibri" pitchFamily="34" charset="-120"/>
              </a:rPr>
              <a:t>EXPERIMENT 2, TAKEAWAY</a:t>
            </a:r>
            <a:endParaRPr lang="en-US" sz="1200" dirty="0"/>
          </a:p>
        </p:txBody>
      </p:sp>
      <p:sp>
        <p:nvSpPr>
          <p:cNvPr id="4" name="Text 2"/>
          <p:cNvSpPr/>
          <p:nvPr/>
        </p:nvSpPr>
        <p:spPr>
          <a:xfrm>
            <a:off x="548640" y="868680"/>
            <a:ext cx="10972800" cy="6400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There Is No Safe Amount of Pruning</a:t>
            </a:r>
            <a:endParaRPr lang="en-US" sz="2800" dirty="0"/>
          </a:p>
        </p:txBody>
      </p:sp>
      <p:sp>
        <p:nvSpPr>
          <p:cNvPr id="5" name="Shape 3"/>
          <p:cNvSpPr/>
          <p:nvPr/>
        </p:nvSpPr>
        <p:spPr>
          <a:xfrm>
            <a:off x="1097280" y="2103120"/>
            <a:ext cx="9966960" cy="1280160"/>
          </a:xfrm>
          <a:prstGeom prst="roundRect">
            <a:avLst>
              <a:gd name="adj" fmla="val 5714"/>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6" name="Text 4"/>
          <p:cNvSpPr/>
          <p:nvPr/>
        </p:nvSpPr>
        <p:spPr>
          <a:xfrm>
            <a:off x="1371600" y="2286000"/>
            <a:ext cx="3474720" cy="914400"/>
          </a:xfrm>
          <a:prstGeom prst="rect">
            <a:avLst/>
          </a:prstGeom>
          <a:noFill/>
          <a:ln/>
        </p:spPr>
        <p:txBody>
          <a:bodyPr wrap="square" rtlCol="0" anchor="ctr"/>
          <a:lstStyle/>
          <a:p>
            <a:pPr indent="0" marL="0">
              <a:buNone/>
            </a:pPr>
            <a:r>
              <a:rPr lang="en-US" sz="2000" b="1" dirty="0">
                <a:solidFill>
                  <a:srgbClr val="0B1F3A"/>
                </a:solidFill>
                <a:latin typeface="Georgia" pitchFamily="34" charset="0"/>
                <a:ea typeface="Georgia" pitchFamily="34" charset="-122"/>
                <a:cs typeface="Georgia" pitchFamily="34" charset="-120"/>
              </a:rPr>
              <a:t>100% to 90%</a:t>
            </a:r>
            <a:endParaRPr lang="en-US" sz="2000" dirty="0"/>
          </a:p>
        </p:txBody>
      </p:sp>
      <p:sp>
        <p:nvSpPr>
          <p:cNvPr id="7" name="Text 5"/>
          <p:cNvSpPr/>
          <p:nvPr/>
        </p:nvSpPr>
        <p:spPr>
          <a:xfrm>
            <a:off x="5029200" y="2286000"/>
            <a:ext cx="5760720" cy="91440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The cliff. Trim just 10% of the tokens and text already collapses.</a:t>
            </a:r>
            <a:endParaRPr lang="en-US" sz="1500" dirty="0"/>
          </a:p>
        </p:txBody>
      </p:sp>
      <p:sp>
        <p:nvSpPr>
          <p:cNvPr id="8" name="Shape 6"/>
          <p:cNvSpPr/>
          <p:nvPr/>
        </p:nvSpPr>
        <p:spPr>
          <a:xfrm>
            <a:off x="1097280" y="3657600"/>
            <a:ext cx="9966960" cy="1280160"/>
          </a:xfrm>
          <a:prstGeom prst="roundRect">
            <a:avLst>
              <a:gd name="adj" fmla="val 5714"/>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9" name="Text 7"/>
          <p:cNvSpPr/>
          <p:nvPr/>
        </p:nvSpPr>
        <p:spPr>
          <a:xfrm>
            <a:off x="1371600" y="3840480"/>
            <a:ext cx="3474720" cy="914400"/>
          </a:xfrm>
          <a:prstGeom prst="rect">
            <a:avLst/>
          </a:prstGeom>
          <a:noFill/>
          <a:ln/>
        </p:spPr>
        <p:txBody>
          <a:bodyPr wrap="square" rtlCol="0" anchor="ctr"/>
          <a:lstStyle/>
          <a:p>
            <a:pPr indent="0" marL="0">
              <a:buNone/>
            </a:pPr>
            <a:r>
              <a:rPr lang="en-US" sz="2000" b="1" dirty="0">
                <a:solidFill>
                  <a:srgbClr val="0B1F3A"/>
                </a:solidFill>
                <a:latin typeface="Georgia" pitchFamily="34" charset="0"/>
                <a:ea typeface="Georgia" pitchFamily="34" charset="-122"/>
                <a:cs typeface="Georgia" pitchFamily="34" charset="-120"/>
              </a:rPr>
              <a:t>90% down to 12.5%</a:t>
            </a:r>
            <a:endParaRPr lang="en-US" sz="2000" dirty="0"/>
          </a:p>
        </p:txBody>
      </p:sp>
      <p:sp>
        <p:nvSpPr>
          <p:cNvPr id="10" name="Text 8"/>
          <p:cNvSpPr/>
          <p:nvPr/>
        </p:nvSpPr>
        <p:spPr>
          <a:xfrm>
            <a:off x="5029200" y="3840480"/>
            <a:ext cx="5760720" cy="91440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A flat floor. Nothing left to lose; the text was already gone.</a:t>
            </a:r>
            <a:endParaRPr lang="en-US" sz="1500" dirty="0"/>
          </a:p>
        </p:txBody>
      </p:sp>
      <p:sp>
        <p:nvSpPr>
          <p:cNvPr id="11" name="Text 9"/>
          <p:cNvSpPr/>
          <p:nvPr/>
        </p:nvSpPr>
        <p:spPr>
          <a:xfrm>
            <a:off x="548640" y="5486400"/>
            <a:ext cx="10972800" cy="457200"/>
          </a:xfrm>
          <a:prstGeom prst="rect">
            <a:avLst/>
          </a:prstGeom>
          <a:noFill/>
          <a:ln/>
        </p:spPr>
        <p:txBody>
          <a:bodyPr wrap="square" rtlCol="0" anchor="ctr"/>
          <a:lstStyle/>
          <a:p>
            <a:pPr algn="ctr" indent="0" marL="0">
              <a:buNone/>
            </a:pPr>
            <a:r>
              <a:rPr lang="en-US" sz="1500" i="1" dirty="0">
                <a:solidFill>
                  <a:srgbClr val="CFE3F2"/>
                </a:solidFill>
                <a:latin typeface="Calibri" pitchFamily="34" charset="0"/>
                <a:ea typeface="Calibri" pitchFamily="34" charset="-122"/>
                <a:cs typeface="Calibri" pitchFamily="34" charset="-120"/>
              </a:rPr>
              <a:t>The damage does not track how much you prune. The tokens that carry the text are lost right at the first cut.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EXPERIMENT 3</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What Actually Gets Thrown Away</a:t>
            </a:r>
            <a:endParaRPr lang="en-US" sz="2500" dirty="0"/>
          </a:p>
        </p:txBody>
      </p:sp>
      <p:pic>
        <p:nvPicPr>
          <p:cNvPr id="6" name="Image 0" descr="/sessions/modest-epic-cerf/mnt/divya_maam/overlay_chart.png">    </p:cNvPr>
          <p:cNvPicPr>
            <a:picLocks noChangeAspect="1"/>
          </p:cNvPicPr>
          <p:nvPr/>
        </p:nvPicPr>
        <p:blipFill>
          <a:blip r:embed="rId1"/>
          <a:stretch>
            <a:fillRect/>
          </a:stretch>
        </p:blipFill>
        <p:spPr>
          <a:xfrm>
            <a:off x="457200" y="1417320"/>
            <a:ext cx="6583680" cy="3017520"/>
          </a:xfrm>
          <a:prstGeom prst="rect">
            <a:avLst/>
          </a:prstGeom>
        </p:spPr>
      </p:pic>
      <p:pic>
        <p:nvPicPr>
          <p:cNvPr id="7" name="Image 1" descr="/sessions/modest-epic-cerf/mnt/divya_maam/overlay_textvqa.png">    </p:cNvPr>
          <p:cNvPicPr>
            <a:picLocks noChangeAspect="1"/>
          </p:cNvPicPr>
          <p:nvPr/>
        </p:nvPicPr>
        <p:blipFill>
          <a:blip r:embed="rId2"/>
          <a:stretch>
            <a:fillRect/>
          </a:stretch>
        </p:blipFill>
        <p:spPr>
          <a:xfrm>
            <a:off x="7315200" y="1417320"/>
            <a:ext cx="4023360" cy="4023360"/>
          </a:xfrm>
          <a:prstGeom prst="rect">
            <a:avLst/>
          </a:prstGeom>
        </p:spPr>
      </p:pic>
      <p:sp>
        <p:nvSpPr>
          <p:cNvPr id="8" name="Text 4"/>
          <p:cNvSpPr/>
          <p:nvPr/>
        </p:nvSpPr>
        <p:spPr>
          <a:xfrm>
            <a:off x="457200" y="4480560"/>
            <a:ext cx="6583680" cy="365760"/>
          </a:xfrm>
          <a:prstGeom prst="rect">
            <a:avLst/>
          </a:prstGeom>
          <a:noFill/>
          <a:ln/>
        </p:spPr>
        <p:txBody>
          <a:bodyPr wrap="square" rtlCol="0" anchor="ctr"/>
          <a:lstStyle/>
          <a:p>
            <a:pPr algn="ctr" indent="0" marL="0">
              <a:buNone/>
            </a:pPr>
            <a:r>
              <a:rPr lang="en-US" sz="1200" i="1" dirty="0">
                <a:solidFill>
                  <a:srgbClr val="5A6B7B"/>
                </a:solidFill>
                <a:latin typeface="Calibri" pitchFamily="34" charset="0"/>
                <a:ea typeface="Calibri" pitchFamily="34" charset="-122"/>
                <a:cs typeface="Calibri" pitchFamily="34" charset="-120"/>
              </a:rPr>
              <a:t>ChartQA: the chart is almost entirely gone (about 88% removed)</a:t>
            </a:r>
            <a:endParaRPr lang="en-US" sz="1200" dirty="0"/>
          </a:p>
        </p:txBody>
      </p:sp>
      <p:sp>
        <p:nvSpPr>
          <p:cNvPr id="9" name="Text 5"/>
          <p:cNvSpPr/>
          <p:nvPr/>
        </p:nvSpPr>
        <p:spPr>
          <a:xfrm>
            <a:off x="7315200" y="5486400"/>
            <a:ext cx="4023360" cy="365760"/>
          </a:xfrm>
          <a:prstGeom prst="rect">
            <a:avLst/>
          </a:prstGeom>
          <a:noFill/>
          <a:ln/>
        </p:spPr>
        <p:txBody>
          <a:bodyPr wrap="square" rtlCol="0" anchor="ctr"/>
          <a:lstStyle/>
          <a:p>
            <a:pPr algn="ctr" indent="0" marL="0">
              <a:buNone/>
            </a:pPr>
            <a:r>
              <a:rPr lang="en-US" sz="1200" i="1" dirty="0">
                <a:solidFill>
                  <a:srgbClr val="5A6B7B"/>
                </a:solidFill>
                <a:latin typeface="Calibri" pitchFamily="34" charset="0"/>
                <a:ea typeface="Calibri" pitchFamily="34" charset="-122"/>
                <a:cs typeface="Calibri" pitchFamily="34" charset="-120"/>
              </a:rPr>
              <a:t>Scene text, buried in red</a:t>
            </a:r>
            <a:endParaRPr lang="en-US" sz="1200" dirty="0"/>
          </a:p>
        </p:txBody>
      </p:sp>
      <p:sp>
        <p:nvSpPr>
          <p:cNvPr id="10" name="Text 6"/>
          <p:cNvSpPr/>
          <p:nvPr/>
        </p:nvSpPr>
        <p:spPr>
          <a:xfrm>
            <a:off x="457200" y="5943600"/>
            <a:ext cx="10972800" cy="365760"/>
          </a:xfrm>
          <a:prstGeom prst="rect">
            <a:avLst/>
          </a:prstGeom>
          <a:noFill/>
          <a:ln/>
        </p:spPr>
        <p:txBody>
          <a:bodyPr wrap="square"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At the setting BTP actually ships with, almost nothing readable is left on the page.</a:t>
            </a:r>
            <a:endParaRPr lang="en-US" sz="1300" dirty="0"/>
          </a:p>
        </p:txBody>
      </p:sp>
      <p:sp>
        <p:nvSpPr>
          <p:cNvPr id="11" name="Text 7"/>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EXPERIMENT 4</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Is Text the Target? Surprisingly, No.</a:t>
            </a:r>
            <a:endParaRPr lang="en-US" sz="2500" dirty="0"/>
          </a:p>
        </p:txBody>
      </p:sp>
      <p:pic>
        <p:nvPicPr>
          <p:cNvPr id="6" name="Image 0" descr="/sessions/modest-epic-cerf/mnt/divya_maam/exp4_text_removal.png">    </p:cNvPr>
          <p:cNvPicPr>
            <a:picLocks noChangeAspect="1"/>
          </p:cNvPicPr>
          <p:nvPr/>
        </p:nvPicPr>
        <p:blipFill>
          <a:blip r:embed="rId1"/>
          <a:stretch>
            <a:fillRect/>
          </a:stretch>
        </p:blipFill>
        <p:spPr>
          <a:xfrm>
            <a:off x="2377440" y="1371600"/>
            <a:ext cx="7406640" cy="4480560"/>
          </a:xfrm>
          <a:prstGeom prst="rect">
            <a:avLst/>
          </a:prstGeom>
        </p:spPr>
      </p:pic>
      <p:sp>
        <p:nvSpPr>
          <p:cNvPr id="7" name="Text 4"/>
          <p:cNvSpPr/>
          <p:nvPr/>
        </p:nvSpPr>
        <p:spPr>
          <a:xfrm>
            <a:off x="548640" y="5989320"/>
            <a:ext cx="10972800" cy="365760"/>
          </a:xfrm>
          <a:prstGeom prst="rect">
            <a:avLst/>
          </a:prstGeom>
          <a:noFill/>
          <a:ln/>
        </p:spPr>
        <p:txBody>
          <a:bodyPr wrap="square" rtlCol="0" anchor="ctr"/>
          <a:lstStyle/>
          <a:p>
            <a:pPr algn="ctr" indent="0" marL="0">
              <a:buNone/>
            </a:pPr>
            <a:r>
              <a:rPr lang="en-US" sz="1350" b="1" dirty="0">
                <a:solidFill>
                  <a:srgbClr val="16222E"/>
                </a:solidFill>
                <a:latin typeface="Calibri" pitchFamily="34" charset="0"/>
                <a:ea typeface="Calibri" pitchFamily="34" charset="-122"/>
                <a:cs typeface="Calibri" pitchFamily="34" charset="-120"/>
              </a:rPr>
              <a:t>BTP actually removes less text than non-text (75% vs 90%). It protects text, and text still fails.</a:t>
            </a:r>
            <a:endParaRPr lang="en-US" sz="1350" dirty="0"/>
          </a:p>
        </p:txBody>
      </p:sp>
      <p:sp>
        <p:nvSpPr>
          <p:cNvPr id="8" name="Text 5"/>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9C7AC"/>
          </a:solidFill>
          <a:ln/>
        </p:spPr>
      </p:sp>
      <p:sp>
        <p:nvSpPr>
          <p:cNvPr id="3" name="Text 1"/>
          <p:cNvSpPr/>
          <p:nvPr/>
        </p:nvSpPr>
        <p:spPr>
          <a:xfrm>
            <a:off x="548640" y="457200"/>
            <a:ext cx="7315200" cy="320040"/>
          </a:xfrm>
          <a:prstGeom prst="rect">
            <a:avLst/>
          </a:prstGeom>
          <a:noFill/>
          <a:ln/>
        </p:spPr>
        <p:txBody>
          <a:bodyPr wrap="square" rtlCol="0" anchor="ctr"/>
          <a:lstStyle/>
          <a:p>
            <a:pPr indent="0" marL="0">
              <a:buNone/>
            </a:pPr>
            <a:r>
              <a:rPr lang="en-US" sz="1200" b="1" spc="300" kern="0" dirty="0">
                <a:solidFill>
                  <a:srgbClr val="29C7AC"/>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548640" y="777240"/>
            <a:ext cx="11155680" cy="822960"/>
          </a:xfrm>
          <a:prstGeom prst="rect">
            <a:avLst/>
          </a:prstGeom>
          <a:noFill/>
          <a:ln/>
        </p:spPr>
        <p:txBody>
          <a:bodyPr wrap="square" rtlCol="0" anchor="ctr"/>
          <a:lstStyle/>
          <a:p>
            <a:pPr indent="0" marL="0">
              <a:buNone/>
            </a:pPr>
            <a:r>
              <a:rPr lang="en-US" sz="2300" b="1" dirty="0">
                <a:solidFill>
                  <a:srgbClr val="FFFFFF"/>
                </a:solidFill>
                <a:latin typeface="Georgia" pitchFamily="34" charset="0"/>
                <a:ea typeface="Georgia" pitchFamily="34" charset="-122"/>
                <a:cs typeface="Georgia" pitchFamily="34" charset="-120"/>
              </a:rPr>
              <a:t>The Problem Is Not the Pruning. Text Just Cannot Be Squeezed.</a:t>
            </a:r>
            <a:endParaRPr lang="en-US" sz="2300" dirty="0"/>
          </a:p>
        </p:txBody>
      </p:sp>
      <p:sp>
        <p:nvSpPr>
          <p:cNvPr id="5" name="Shape 3"/>
          <p:cNvSpPr/>
          <p:nvPr/>
        </p:nvSpPr>
        <p:spPr>
          <a:xfrm>
            <a:off x="914400" y="1783080"/>
            <a:ext cx="10332720" cy="1600200"/>
          </a:xfrm>
          <a:prstGeom prst="roundRect">
            <a:avLst>
              <a:gd name="adj" fmla="val 4571"/>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6" name="Text 4"/>
          <p:cNvSpPr/>
          <p:nvPr/>
        </p:nvSpPr>
        <p:spPr>
          <a:xfrm>
            <a:off x="1234440" y="1783080"/>
            <a:ext cx="9692640" cy="1600200"/>
          </a:xfrm>
          <a:prstGeom prst="rect">
            <a:avLst/>
          </a:prstGeom>
          <a:noFill/>
          <a:ln/>
        </p:spPr>
        <p:txBody>
          <a:bodyPr wrap="square" rtlCol="0" anchor="ctr"/>
          <a:lstStyle/>
          <a:p>
            <a:pPr indent="0" marL="0">
              <a:buNone/>
            </a:pPr>
            <a:r>
              <a:rPr lang="en-US" sz="1650" dirty="0">
                <a:solidFill>
                  <a:srgbClr val="16222E"/>
                </a:solidFill>
                <a:latin typeface="Calibri" pitchFamily="34" charset="0"/>
                <a:ea typeface="Calibri" pitchFamily="34" charset="-122"/>
                <a:cs typeface="Calibri" pitchFamily="34" charset="-120"/>
              </a:rPr>
              <a:t>In a photo, one patch of sky looks like the next, so tossing most of them out costs you nothing. </a:t>
            </a:r>
            <a:pPr indent="0" marL="0">
              <a:buNone/>
            </a:pPr>
            <a:r>
              <a:rPr lang="en-US" sz="1650" b="1" dirty="0">
                <a:solidFill>
                  <a:srgbClr val="C0392B"/>
                </a:solidFill>
                <a:latin typeface="Calibri" pitchFamily="34" charset="0"/>
                <a:ea typeface="Calibri" pitchFamily="34" charset="-122"/>
                <a:cs typeface="Calibri" pitchFamily="34" charset="-120"/>
              </a:rPr>
              <a:t>But every letter on a page is its own thing. </a:t>
            </a:r>
            <a:pPr indent="0" marL="0">
              <a:buNone/>
            </a:pPr>
            <a:r>
              <a:rPr lang="en-US" sz="1650" dirty="0">
                <a:solidFill>
                  <a:srgbClr val="16222E"/>
                </a:solidFill>
                <a:latin typeface="Calibri" pitchFamily="34" charset="0"/>
                <a:ea typeface="Calibri" pitchFamily="34" charset="-122"/>
                <a:cs typeface="Calibri" pitchFamily="34" charset="-120"/>
              </a:rPr>
              <a:t>Keep only an eighth of the patches and the words simply fall apart, no matter how carefully you chose which ones to keep.</a:t>
            </a:r>
            <a:endParaRPr lang="en-US" sz="1650" dirty="0"/>
          </a:p>
        </p:txBody>
      </p:sp>
      <p:sp>
        <p:nvSpPr>
          <p:cNvPr id="7" name="Text 5"/>
          <p:cNvSpPr/>
          <p:nvPr/>
        </p:nvSpPr>
        <p:spPr>
          <a:xfrm>
            <a:off x="914400" y="3703320"/>
            <a:ext cx="10332720" cy="4937760"/>
          </a:xfrm>
          <a:prstGeom prst="rect">
            <a:avLst/>
          </a:prstGeom>
          <a:noFill/>
          <a:ln/>
        </p:spPr>
        <p:txBody>
          <a:bodyPr wrap="square" rtlCol="0" anchor="t"/>
          <a:lstStyle/>
          <a:p>
            <a:pPr marL="228600" indent="-2286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BTP is actually smart about it: it spots text and tries to hold on to it</a:t>
            </a:r>
            <a:endParaRPr lang="en-US" sz="1500" dirty="0"/>
          </a:p>
          <a:p>
            <a:pPr marL="228600" indent="-2286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But text has no spare copies; every stroke carries meaning you cannot get back</a:t>
            </a:r>
            <a:endParaRPr lang="en-US" sz="1500" dirty="0"/>
          </a:p>
          <a:p>
            <a:pPr marL="228600" indent="-2286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Photos and diagrams are full of repetition, so they survive the cut. That is why AI2D barely flinched</a:t>
            </a:r>
            <a:endParaRPr lang="en-US" sz="1500" dirty="0"/>
          </a:p>
          <a:p>
            <a:pPr marL="228600" indent="-228600">
              <a:spcAft>
                <a:spcPts val="900"/>
              </a:spcAft>
              <a:buSzPct val="100000"/>
              <a:buChar char="•"/>
            </a:pPr>
            <a:r>
              <a:rPr lang="en-US" sz="1500" b="1" dirty="0">
                <a:solidFill>
                  <a:srgbClr val="29C7AC"/>
                </a:solidFill>
                <a:latin typeface="Calibri" pitchFamily="34" charset="0"/>
                <a:ea typeface="Calibri" pitchFamily="34" charset="-122"/>
                <a:cs typeface="Calibri" pitchFamily="34" charset="-120"/>
              </a:rPr>
              <a:t>So this is not a bug to patch. It is what happens when you squeeze something that has nothing to spare.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WHERE THIS POINTS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What We Would Try Next</a:t>
            </a:r>
            <a:endParaRPr lang="en-US" sz="2500" dirty="0"/>
          </a:p>
        </p:txBody>
      </p:sp>
      <p:sp>
        <p:nvSpPr>
          <p:cNvPr id="6" name="Shape 4"/>
          <p:cNvSpPr/>
          <p:nvPr/>
        </p:nvSpPr>
        <p:spPr>
          <a:xfrm>
            <a:off x="822960" y="1417320"/>
            <a:ext cx="10424160" cy="1051560"/>
          </a:xfrm>
          <a:prstGeom prst="roundRect">
            <a:avLst>
              <a:gd name="adj" fmla="val 6957"/>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1097280" y="1737360"/>
            <a:ext cx="411480" cy="411480"/>
          </a:xfrm>
          <a:prstGeom prst="ellipse">
            <a:avLst/>
          </a:prstGeom>
          <a:solidFill>
            <a:srgbClr val="1C7293"/>
          </a:solidFill>
          <a:ln/>
        </p:spPr>
      </p:sp>
      <p:sp>
        <p:nvSpPr>
          <p:cNvPr id="8" name="Text 6"/>
          <p:cNvSpPr/>
          <p:nvPr/>
        </p:nvSpPr>
        <p:spPr>
          <a:xfrm>
            <a:off x="1097280" y="1737360"/>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9" name="Text 7"/>
          <p:cNvSpPr/>
          <p:nvPr/>
        </p:nvSpPr>
        <p:spPr>
          <a:xfrm>
            <a:off x="1737360" y="1581912"/>
            <a:ext cx="9235440" cy="457200"/>
          </a:xfrm>
          <a:prstGeom prst="rect">
            <a:avLst/>
          </a:prstGeom>
          <a:noFill/>
          <a:ln/>
        </p:spPr>
        <p:txBody>
          <a:bodyPr wrap="square"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Content-aware retention</a:t>
            </a:r>
            <a:endParaRPr lang="en-US" sz="1550" dirty="0"/>
          </a:p>
        </p:txBody>
      </p:sp>
      <p:sp>
        <p:nvSpPr>
          <p:cNvPr id="10" name="Text 8"/>
          <p:cNvSpPr/>
          <p:nvPr/>
        </p:nvSpPr>
        <p:spPr>
          <a:xfrm>
            <a:off x="1737360" y="2020824"/>
            <a:ext cx="9235440" cy="365760"/>
          </a:xfrm>
          <a:prstGeom prst="rect">
            <a:avLst/>
          </a:prstGeom>
          <a:noFill/>
          <a:ln/>
        </p:spPr>
        <p:txBody>
          <a:bodyPr wrap="square" rtlCol="0" anchor="ctr"/>
          <a:lstStyle/>
          <a:p>
            <a:pPr indent="0" marL="0">
              <a:buNone/>
            </a:pPr>
            <a:r>
              <a:rPr lang="en-US" sz="1200" dirty="0">
                <a:solidFill>
                  <a:srgbClr val="5A6B7B"/>
                </a:solidFill>
                <a:latin typeface="Calibri" pitchFamily="34" charset="0"/>
                <a:ea typeface="Calibri" pitchFamily="34" charset="-122"/>
                <a:cs typeface="Calibri" pitchFamily="34" charset="-120"/>
              </a:rPr>
              <a:t>Spot the text-dense regions first, then leave them out of the pruning.</a:t>
            </a:r>
            <a:endParaRPr lang="en-US" sz="1200" dirty="0"/>
          </a:p>
        </p:txBody>
      </p:sp>
      <p:sp>
        <p:nvSpPr>
          <p:cNvPr id="11" name="Shape 9"/>
          <p:cNvSpPr/>
          <p:nvPr/>
        </p:nvSpPr>
        <p:spPr>
          <a:xfrm>
            <a:off x="822960" y="2724912"/>
            <a:ext cx="10424160" cy="1051560"/>
          </a:xfrm>
          <a:prstGeom prst="roundRect">
            <a:avLst>
              <a:gd name="adj" fmla="val 6957"/>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2" name="Shape 10"/>
          <p:cNvSpPr/>
          <p:nvPr/>
        </p:nvSpPr>
        <p:spPr>
          <a:xfrm>
            <a:off x="1097280" y="3044952"/>
            <a:ext cx="411480" cy="411480"/>
          </a:xfrm>
          <a:prstGeom prst="ellipse">
            <a:avLst/>
          </a:prstGeom>
          <a:solidFill>
            <a:srgbClr val="1C7293"/>
          </a:solidFill>
          <a:ln/>
        </p:spPr>
      </p:sp>
      <p:sp>
        <p:nvSpPr>
          <p:cNvPr id="13" name="Text 11"/>
          <p:cNvSpPr/>
          <p:nvPr/>
        </p:nvSpPr>
        <p:spPr>
          <a:xfrm>
            <a:off x="1097280" y="3044952"/>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4" name="Text 12"/>
          <p:cNvSpPr/>
          <p:nvPr/>
        </p:nvSpPr>
        <p:spPr>
          <a:xfrm>
            <a:off x="1737360" y="2889504"/>
            <a:ext cx="9235440" cy="457200"/>
          </a:xfrm>
          <a:prstGeom prst="rect">
            <a:avLst/>
          </a:prstGeom>
          <a:noFill/>
          <a:ln/>
        </p:spPr>
        <p:txBody>
          <a:bodyPr wrap="square"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Task-adaptive pruning</a:t>
            </a:r>
            <a:endParaRPr lang="en-US" sz="1550" dirty="0"/>
          </a:p>
        </p:txBody>
      </p:sp>
      <p:sp>
        <p:nvSpPr>
          <p:cNvPr id="15" name="Text 13"/>
          <p:cNvSpPr/>
          <p:nvPr/>
        </p:nvSpPr>
        <p:spPr>
          <a:xfrm>
            <a:off x="1737360" y="3328416"/>
            <a:ext cx="9235440" cy="365760"/>
          </a:xfrm>
          <a:prstGeom prst="rect">
            <a:avLst/>
          </a:prstGeom>
          <a:noFill/>
          <a:ln/>
        </p:spPr>
        <p:txBody>
          <a:bodyPr wrap="square" rtlCol="0" anchor="ctr"/>
          <a:lstStyle/>
          <a:p>
            <a:pPr indent="0" marL="0">
              <a:buNone/>
            </a:pPr>
            <a:r>
              <a:rPr lang="en-US" sz="1200" dirty="0">
                <a:solidFill>
                  <a:srgbClr val="5A6B7B"/>
                </a:solidFill>
                <a:latin typeface="Calibri" pitchFamily="34" charset="0"/>
                <a:ea typeface="Calibri" pitchFamily="34" charset="-122"/>
                <a:cs typeface="Calibri" pitchFamily="34" charset="-120"/>
              </a:rPr>
              <a:t>Prune hard for photos, go easy for documents and charts.</a:t>
            </a:r>
            <a:endParaRPr lang="en-US" sz="1200" dirty="0"/>
          </a:p>
        </p:txBody>
      </p:sp>
      <p:sp>
        <p:nvSpPr>
          <p:cNvPr id="16" name="Shape 14"/>
          <p:cNvSpPr/>
          <p:nvPr/>
        </p:nvSpPr>
        <p:spPr>
          <a:xfrm>
            <a:off x="822960" y="4032504"/>
            <a:ext cx="10424160" cy="1051560"/>
          </a:xfrm>
          <a:prstGeom prst="roundRect">
            <a:avLst>
              <a:gd name="adj" fmla="val 6957"/>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7" name="Shape 15"/>
          <p:cNvSpPr/>
          <p:nvPr/>
        </p:nvSpPr>
        <p:spPr>
          <a:xfrm>
            <a:off x="1097280" y="4352544"/>
            <a:ext cx="411480" cy="411480"/>
          </a:xfrm>
          <a:prstGeom prst="ellipse">
            <a:avLst/>
          </a:prstGeom>
          <a:solidFill>
            <a:srgbClr val="1C7293"/>
          </a:solidFill>
          <a:ln/>
        </p:spPr>
      </p:sp>
      <p:sp>
        <p:nvSpPr>
          <p:cNvPr id="18" name="Text 16"/>
          <p:cNvSpPr/>
          <p:nvPr/>
        </p:nvSpPr>
        <p:spPr>
          <a:xfrm>
            <a:off x="1097280" y="4352544"/>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9" name="Text 17"/>
          <p:cNvSpPr/>
          <p:nvPr/>
        </p:nvSpPr>
        <p:spPr>
          <a:xfrm>
            <a:off x="1737360" y="4197096"/>
            <a:ext cx="9235440" cy="457200"/>
          </a:xfrm>
          <a:prstGeom prst="rect">
            <a:avLst/>
          </a:prstGeom>
          <a:noFill/>
          <a:ln/>
        </p:spPr>
        <p:txBody>
          <a:bodyPr wrap="square"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Check other models</a:t>
            </a:r>
            <a:endParaRPr lang="en-US" sz="1550" dirty="0"/>
          </a:p>
        </p:txBody>
      </p:sp>
      <p:sp>
        <p:nvSpPr>
          <p:cNvPr id="20" name="Text 18"/>
          <p:cNvSpPr/>
          <p:nvPr/>
        </p:nvSpPr>
        <p:spPr>
          <a:xfrm>
            <a:off x="1737360" y="4636008"/>
            <a:ext cx="9235440" cy="365760"/>
          </a:xfrm>
          <a:prstGeom prst="rect">
            <a:avLst/>
          </a:prstGeom>
          <a:noFill/>
          <a:ln/>
        </p:spPr>
        <p:txBody>
          <a:bodyPr wrap="square" rtlCol="0" anchor="ctr"/>
          <a:lstStyle/>
          <a:p>
            <a:pPr indent="0" marL="0">
              <a:buNone/>
            </a:pPr>
            <a:r>
              <a:rPr lang="en-US" sz="1200" dirty="0">
                <a:solidFill>
                  <a:srgbClr val="5A6B7B"/>
                </a:solidFill>
                <a:latin typeface="Calibri" pitchFamily="34" charset="0"/>
                <a:ea typeface="Calibri" pitchFamily="34" charset="-122"/>
                <a:cs typeface="Calibri" pitchFamily="34" charset="-120"/>
              </a:rPr>
              <a:t>See whether the same thing happens beyond Qwen.</a:t>
            </a:r>
            <a:endParaRPr lang="en-US" sz="1200" dirty="0"/>
          </a:p>
        </p:txBody>
      </p:sp>
      <p:sp>
        <p:nvSpPr>
          <p:cNvPr id="21" name="Text 19"/>
          <p:cNvSpPr/>
          <p:nvPr/>
        </p:nvSpPr>
        <p:spPr>
          <a:xfrm>
            <a:off x="822960" y="5349240"/>
            <a:ext cx="10972800" cy="640080"/>
          </a:xfrm>
          <a:prstGeom prst="rect">
            <a:avLst/>
          </a:prstGeom>
          <a:noFill/>
          <a:ln/>
        </p:spPr>
        <p:txBody>
          <a:bodyPr wrap="square" rtlCol="0" anchor="ctr"/>
          <a:lstStyle/>
          <a:p>
            <a:pPr algn="ctr" indent="0" marL="0">
              <a:buNone/>
            </a:pPr>
            <a:r>
              <a:rPr lang="en-US" sz="2600" b="1" dirty="0">
                <a:solidFill>
                  <a:srgbClr val="0B1F3A"/>
                </a:solidFill>
                <a:latin typeface="Georgia" pitchFamily="34" charset="0"/>
                <a:ea typeface="Georgia" pitchFamily="34" charset="-122"/>
                <a:cs typeface="Georgia" pitchFamily="34" charset="-120"/>
              </a:rPr>
              <a:t>Thank You</a:t>
            </a:r>
            <a:endParaRPr lang="en-US" sz="2600" dirty="0"/>
          </a:p>
        </p:txBody>
      </p:sp>
      <p:sp>
        <p:nvSpPr>
          <p:cNvPr id="22" name="Text 20"/>
          <p:cNvSpPr/>
          <p:nvPr/>
        </p:nvSpPr>
        <p:spPr>
          <a:xfrm>
            <a:off x="822960" y="6035040"/>
            <a:ext cx="10972800" cy="365760"/>
          </a:xfrm>
          <a:prstGeom prst="rect">
            <a:avLst/>
          </a:prstGeom>
          <a:noFill/>
          <a:ln/>
        </p:spPr>
        <p:txBody>
          <a:bodyPr wrap="square" rtlCol="0" anchor="ctr"/>
          <a:lstStyle/>
          <a:p>
            <a:pPr algn="ctr" indent="0" marL="0">
              <a:buNone/>
            </a:pPr>
            <a:r>
              <a:rPr lang="en-US" sz="1200" i="1" dirty="0">
                <a:solidFill>
                  <a:srgbClr val="5A6B7B"/>
                </a:solidFill>
                <a:latin typeface="Calibri" pitchFamily="34" charset="0"/>
                <a:ea typeface="Calibri" pitchFamily="34" charset="-122"/>
                <a:cs typeface="Calibri" pitchFamily="34" charset="-120"/>
              </a:rPr>
              <a:t>Repository:  </a:t>
            </a:r>
            <a:pPr algn="ctr" indent="0" marL="0">
              <a:buNone/>
            </a:pPr>
            <a:r>
              <a:rPr lang="en-US" sz="1200" b="1" i="1"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github.com/milab-iitj-dev/btp-reproduction</a:t>
            </a:r>
            <a:endParaRPr lang="en-US" sz="1200" dirty="0"/>
          </a:p>
        </p:txBody>
      </p:sp>
      <p:sp>
        <p:nvSpPr>
          <p:cNvPr id="23" name="Text 21"/>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BTP Fails on Text Tasks</dc:title>
  <dc:subject>PptxGenJS Presentation</dc:subject>
  <dc:creator>P. S. Kedar</dc:creator>
  <cp:lastModifiedBy>P. S. Kedar</cp:lastModifiedBy>
  <cp:revision>1</cp:revision>
  <dcterms:created xsi:type="dcterms:W3CDTF">2026-07-02T03:40:15Z</dcterms:created>
  <dcterms:modified xsi:type="dcterms:W3CDTF">2026-07-02T03:40:15Z</dcterms:modified>
</cp:coreProperties>
</file>