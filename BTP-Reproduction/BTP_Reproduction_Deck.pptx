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I'm Kedar, a research intern in Prof. Divya Saxena's lab. This is an independent reproduction study of the NeurIPS 2025 Balanced Token Pruning paper. I'll explain the method from first principles, then show how closely we reproduced it across three models on the IIT Jodhpur HPC.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Vision-language models are everywhere now — answering questions about images, reading documents, guiding robots, assisting in medical imaging. Familiar examples include LLaVA, Qwen-VL, GPT-4V and Gemini. They all share one job: take an image and a question, return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always the same shape: image in, a vision encoder turns it into visual tokens, the language model reasons over those tokens plus the prompt, and language comes out. LLaVA and Qwen2.5-VL are the two families we'll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are the units a model processes. Text is split into word-pieces. An image is split into patches, and each patch becomes a visual token. The number to remember: LLaVA-1.5 produces 576 visual tokens for a single image — and every one flows through the whole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Pruning's premise: most visual tokens repeat redundant information — sky, background — costing memory, compute and latency for little gain. The goal is to keep the informative tokens and drop the rest. In practice BTP takes LLaVA's 576 tokens down to about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BTP's core idea: combine two signals. Attention picks the tokens the model focuses on; diversity ensures we don't keep near-duplicates. Merging them gives a balanced set of about 128 tokens. Crucially, it prunes in stages across the network's depth, not in one cut, which preserves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headline claims: cut FLOPs by about 78%, keep 96 to 98% of performance, with no retraining, across many VLMs. The bar shows the trade-off — BTP keeps only about a fifth of the tokens yet retains roughly 97% of performance. Our job was to test whether that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covers four models. We reproduced three — LLaVA-1.5 at 7B and 13B, and Qwen2.5-VL-7B. The fourth, LLaVA-1.6, the authors never released code for, so it's greyed out. I'll return to that under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glossary. POPE measures hallucination. MME and MMBench are broad capability scores. GQA is compositional reasoning, ScienceQA is science with images. TextVQA — reading text in images — becomes important later. SEED-Bench is large-scale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matched the paper's benchmark set — POPE, MME, MMBench, GQA, SQA — and added two of our own: TextVQA and SEED-Bench. That extra coverage is exactly what surfaced our most interesting independent finding, which I'll show shortly. MM-Vet needs a paid GPT-4 judge, so it's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in six steps: take the authors' code, rebuild their exact environment, run the baseline, apply BTP by swapping one file, evaluate, and compare to the paper. The discipline that makes it trustworthy: only one variable changes between a baseline and BTP run, and every job logs which mode it's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LLaVA-1.5-7B, the main model. The last column is the story: every BTP result is within about a point of the paper — GQA essentially exact, POPE within a quarter point. Green is within one point. MME's ten-point gap is under one percent on its two-thousand-point scale. A clean reproduction.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13B model reproduced even more tightly. Baseline MME matched to the decimal. SQA edges the paper. BTP lands within roughly a point across the board. Larger model, same clean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Qwen2.5-VL, a different model family needing its own environment. POPE-BTP matched exactly at 86.2. MME and GQA are close. Two honest notes: SQA is higher than the paper for us — Qwen is genuinely strong on ScienceQA, likely a prompt-variant difference — and MMBench-BTP is a few points off. Still a faithful reproduction of the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 the whole study on one grid, styled after the paper's Table 1. Three models, each as Paper vs Ours, for baseline and BTP. Blue rows are ours. Read any blue row against the white one above it: GQA, MME and POPE reproduce within about a point everywhere. The reproduction holds across sizes and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reproduced the paper's efficiency claim. FLOPs are a theoretical compute count — exactly what the paper reports in Table 1 — so we computed them analytically. We calibrated only the 7B baseline to the paper's 3.82; the 13B baseline then came out at 7.48 against their 7.44 on its own, which validates the model. The reduction — BTP's whole selling point — reproduces at 73 to 76 percent versus their roughly 78. Keeping about a quarter of the tokens gives about a quarter of the compute. One honest caveat: this is FLOPs, not measured wall-clock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independent finding — not in the paper. On Qwen, TextVQA crashes from 82.7 at baseline to 23.6 with BTP, a 59-point drop confirmed on two separate runs. The reason is intuitive: reading text needs fine detail, and aggressive pruning throws away exactly the tokens that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reproduced BTP across three models and two families, matching the paper within about a point. We explained the early 36 percent failure as an environment issue, not a flaw in the method. And we found something new: aggressive pruning collapses Qwen's text-reading. That last point is our own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add MM-Vet once we have a judge key, measure real wall-clock latency, and build on our finding with OCR-aware retention and task-adaptive pruning. LLaVA-1.6 if the code is released. Everything so far is on the lab GitHub.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955280" y="914400"/>
            <a:ext cx="365760" cy="365760"/>
          </a:xfrm>
          <a:prstGeom prst="rect">
            <a:avLst/>
          </a:prstGeom>
          <a:solidFill>
            <a:srgbClr val="12355B">
              <a:alpha val="30000"/>
            </a:srgbClr>
          </a:solidFill>
          <a:ln/>
        </p:spPr>
      </p:sp>
      <p:sp>
        <p:nvSpPr>
          <p:cNvPr id="3" name="Shape 1"/>
          <p:cNvSpPr/>
          <p:nvPr/>
        </p:nvSpPr>
        <p:spPr>
          <a:xfrm>
            <a:off x="7955280" y="1389888"/>
            <a:ext cx="365760" cy="365760"/>
          </a:xfrm>
          <a:prstGeom prst="rect">
            <a:avLst/>
          </a:prstGeom>
          <a:solidFill>
            <a:srgbClr val="12355B">
              <a:alpha val="30000"/>
            </a:srgbClr>
          </a:solidFill>
          <a:ln/>
        </p:spPr>
      </p:sp>
      <p:sp>
        <p:nvSpPr>
          <p:cNvPr id="4" name="Shape 2"/>
          <p:cNvSpPr/>
          <p:nvPr/>
        </p:nvSpPr>
        <p:spPr>
          <a:xfrm>
            <a:off x="7955280" y="1865376"/>
            <a:ext cx="365760" cy="365760"/>
          </a:xfrm>
          <a:prstGeom prst="rect">
            <a:avLst/>
          </a:prstGeom>
          <a:solidFill>
            <a:srgbClr val="12355B">
              <a:alpha val="30000"/>
            </a:srgbClr>
          </a:solidFill>
          <a:ln/>
        </p:spPr>
      </p:sp>
      <p:sp>
        <p:nvSpPr>
          <p:cNvPr id="5" name="Shape 3"/>
          <p:cNvSpPr/>
          <p:nvPr/>
        </p:nvSpPr>
        <p:spPr>
          <a:xfrm>
            <a:off x="7955280" y="2340864"/>
            <a:ext cx="365760" cy="365760"/>
          </a:xfrm>
          <a:prstGeom prst="rect">
            <a:avLst/>
          </a:prstGeom>
          <a:solidFill>
            <a:srgbClr val="12355B">
              <a:alpha val="30000"/>
            </a:srgbClr>
          </a:solidFill>
          <a:ln/>
        </p:spPr>
      </p:sp>
      <p:sp>
        <p:nvSpPr>
          <p:cNvPr id="6" name="Shape 4"/>
          <p:cNvSpPr/>
          <p:nvPr/>
        </p:nvSpPr>
        <p:spPr>
          <a:xfrm>
            <a:off x="8430768" y="914400"/>
            <a:ext cx="365760" cy="365760"/>
          </a:xfrm>
          <a:prstGeom prst="rect">
            <a:avLst/>
          </a:prstGeom>
          <a:solidFill>
            <a:srgbClr val="12355B">
              <a:alpha val="30000"/>
            </a:srgbClr>
          </a:solidFill>
          <a:ln/>
        </p:spPr>
      </p:sp>
      <p:sp>
        <p:nvSpPr>
          <p:cNvPr id="7" name="Shape 5"/>
          <p:cNvSpPr/>
          <p:nvPr/>
        </p:nvSpPr>
        <p:spPr>
          <a:xfrm>
            <a:off x="8430768" y="1389888"/>
            <a:ext cx="365760" cy="365760"/>
          </a:xfrm>
          <a:prstGeom prst="rect">
            <a:avLst/>
          </a:prstGeom>
          <a:solidFill>
            <a:srgbClr val="1C7293">
              <a:alpha val="45000"/>
            </a:srgbClr>
          </a:solidFill>
          <a:ln/>
        </p:spPr>
      </p:sp>
      <p:sp>
        <p:nvSpPr>
          <p:cNvPr id="8" name="Shape 6"/>
          <p:cNvSpPr/>
          <p:nvPr/>
        </p:nvSpPr>
        <p:spPr>
          <a:xfrm>
            <a:off x="8430768" y="1865376"/>
            <a:ext cx="365760" cy="365760"/>
          </a:xfrm>
          <a:prstGeom prst="rect">
            <a:avLst/>
          </a:prstGeom>
          <a:solidFill>
            <a:srgbClr val="1C7293">
              <a:alpha val="45000"/>
            </a:srgbClr>
          </a:solidFill>
          <a:ln/>
        </p:spPr>
      </p:sp>
      <p:sp>
        <p:nvSpPr>
          <p:cNvPr id="9" name="Shape 7"/>
          <p:cNvSpPr/>
          <p:nvPr/>
        </p:nvSpPr>
        <p:spPr>
          <a:xfrm>
            <a:off x="8430768" y="2340864"/>
            <a:ext cx="365760" cy="365760"/>
          </a:xfrm>
          <a:prstGeom prst="rect">
            <a:avLst/>
          </a:prstGeom>
          <a:solidFill>
            <a:srgbClr val="12355B">
              <a:alpha val="30000"/>
            </a:srgbClr>
          </a:solidFill>
          <a:ln/>
        </p:spPr>
      </p:sp>
      <p:sp>
        <p:nvSpPr>
          <p:cNvPr id="10" name="Shape 8"/>
          <p:cNvSpPr/>
          <p:nvPr/>
        </p:nvSpPr>
        <p:spPr>
          <a:xfrm>
            <a:off x="8906256" y="914400"/>
            <a:ext cx="365760" cy="365760"/>
          </a:xfrm>
          <a:prstGeom prst="rect">
            <a:avLst/>
          </a:prstGeom>
          <a:solidFill>
            <a:srgbClr val="12355B">
              <a:alpha val="30000"/>
            </a:srgbClr>
          </a:solidFill>
          <a:ln/>
        </p:spPr>
      </p:sp>
      <p:sp>
        <p:nvSpPr>
          <p:cNvPr id="11" name="Shape 9"/>
          <p:cNvSpPr/>
          <p:nvPr/>
        </p:nvSpPr>
        <p:spPr>
          <a:xfrm>
            <a:off x="8906256" y="1389888"/>
            <a:ext cx="365760" cy="365760"/>
          </a:xfrm>
          <a:prstGeom prst="rect">
            <a:avLst/>
          </a:prstGeom>
          <a:solidFill>
            <a:srgbClr val="1C7293">
              <a:alpha val="45000"/>
            </a:srgbClr>
          </a:solidFill>
          <a:ln/>
        </p:spPr>
      </p:sp>
      <p:sp>
        <p:nvSpPr>
          <p:cNvPr id="12" name="Shape 10"/>
          <p:cNvSpPr/>
          <p:nvPr/>
        </p:nvSpPr>
        <p:spPr>
          <a:xfrm>
            <a:off x="8906256" y="1865376"/>
            <a:ext cx="365760" cy="365760"/>
          </a:xfrm>
          <a:prstGeom prst="rect">
            <a:avLst/>
          </a:prstGeom>
          <a:solidFill>
            <a:srgbClr val="1C7293">
              <a:alpha val="45000"/>
            </a:srgbClr>
          </a:solidFill>
          <a:ln/>
        </p:spPr>
      </p:sp>
      <p:sp>
        <p:nvSpPr>
          <p:cNvPr id="13" name="Shape 11"/>
          <p:cNvSpPr/>
          <p:nvPr/>
        </p:nvSpPr>
        <p:spPr>
          <a:xfrm>
            <a:off x="8906256" y="2340864"/>
            <a:ext cx="365760" cy="365760"/>
          </a:xfrm>
          <a:prstGeom prst="rect">
            <a:avLst/>
          </a:prstGeom>
          <a:solidFill>
            <a:srgbClr val="12355B">
              <a:alpha val="30000"/>
            </a:srgbClr>
          </a:solidFill>
          <a:ln/>
        </p:spPr>
      </p:sp>
      <p:sp>
        <p:nvSpPr>
          <p:cNvPr id="14" name="Shape 12"/>
          <p:cNvSpPr/>
          <p:nvPr/>
        </p:nvSpPr>
        <p:spPr>
          <a:xfrm>
            <a:off x="9381744" y="914400"/>
            <a:ext cx="365760" cy="365760"/>
          </a:xfrm>
          <a:prstGeom prst="rect">
            <a:avLst/>
          </a:prstGeom>
          <a:solidFill>
            <a:srgbClr val="12355B">
              <a:alpha val="30000"/>
            </a:srgbClr>
          </a:solidFill>
          <a:ln/>
        </p:spPr>
      </p:sp>
      <p:sp>
        <p:nvSpPr>
          <p:cNvPr id="15" name="Shape 13"/>
          <p:cNvSpPr/>
          <p:nvPr/>
        </p:nvSpPr>
        <p:spPr>
          <a:xfrm>
            <a:off x="9381744" y="1389888"/>
            <a:ext cx="365760" cy="365760"/>
          </a:xfrm>
          <a:prstGeom prst="rect">
            <a:avLst/>
          </a:prstGeom>
          <a:solidFill>
            <a:srgbClr val="12355B">
              <a:alpha val="30000"/>
            </a:srgbClr>
          </a:solidFill>
          <a:ln/>
        </p:spPr>
      </p:sp>
      <p:sp>
        <p:nvSpPr>
          <p:cNvPr id="16" name="Shape 14"/>
          <p:cNvSpPr/>
          <p:nvPr/>
        </p:nvSpPr>
        <p:spPr>
          <a:xfrm>
            <a:off x="9381744" y="1865376"/>
            <a:ext cx="365760" cy="365760"/>
          </a:xfrm>
          <a:prstGeom prst="rect">
            <a:avLst/>
          </a:prstGeom>
          <a:solidFill>
            <a:srgbClr val="12355B">
              <a:alpha val="30000"/>
            </a:srgbClr>
          </a:solidFill>
          <a:ln/>
        </p:spPr>
      </p:sp>
      <p:sp>
        <p:nvSpPr>
          <p:cNvPr id="17" name="Shape 15"/>
          <p:cNvSpPr/>
          <p:nvPr/>
        </p:nvSpPr>
        <p:spPr>
          <a:xfrm>
            <a:off x="9381744" y="2340864"/>
            <a:ext cx="365760" cy="365760"/>
          </a:xfrm>
          <a:prstGeom prst="rect">
            <a:avLst/>
          </a:prstGeom>
          <a:solidFill>
            <a:srgbClr val="12355B">
              <a:alpha val="30000"/>
            </a:srgbClr>
          </a:solidFill>
          <a:ln/>
        </p:spPr>
      </p:sp>
      <p:sp>
        <p:nvSpPr>
          <p:cNvPr id="18" name="Shape 16"/>
          <p:cNvSpPr/>
          <p:nvPr/>
        </p:nvSpPr>
        <p:spPr>
          <a:xfrm>
            <a:off x="9857232" y="914400"/>
            <a:ext cx="365760" cy="365760"/>
          </a:xfrm>
          <a:prstGeom prst="rect">
            <a:avLst/>
          </a:prstGeom>
          <a:solidFill>
            <a:srgbClr val="12355B">
              <a:alpha val="30000"/>
            </a:srgbClr>
          </a:solidFill>
          <a:ln/>
        </p:spPr>
      </p:sp>
      <p:sp>
        <p:nvSpPr>
          <p:cNvPr id="19" name="Shape 17"/>
          <p:cNvSpPr/>
          <p:nvPr/>
        </p:nvSpPr>
        <p:spPr>
          <a:xfrm>
            <a:off x="9857232" y="1389888"/>
            <a:ext cx="365760" cy="365760"/>
          </a:xfrm>
          <a:prstGeom prst="rect">
            <a:avLst/>
          </a:prstGeom>
          <a:solidFill>
            <a:srgbClr val="1C7293">
              <a:alpha val="45000"/>
            </a:srgbClr>
          </a:solidFill>
          <a:ln/>
        </p:spPr>
      </p:sp>
      <p:sp>
        <p:nvSpPr>
          <p:cNvPr id="20" name="Shape 18"/>
          <p:cNvSpPr/>
          <p:nvPr/>
        </p:nvSpPr>
        <p:spPr>
          <a:xfrm>
            <a:off x="9857232" y="1865376"/>
            <a:ext cx="365760" cy="365760"/>
          </a:xfrm>
          <a:prstGeom prst="rect">
            <a:avLst/>
          </a:prstGeom>
          <a:solidFill>
            <a:srgbClr val="1C7293">
              <a:alpha val="45000"/>
            </a:srgbClr>
          </a:solidFill>
          <a:ln/>
        </p:spPr>
      </p:sp>
      <p:sp>
        <p:nvSpPr>
          <p:cNvPr id="21" name="Shape 19"/>
          <p:cNvSpPr/>
          <p:nvPr/>
        </p:nvSpPr>
        <p:spPr>
          <a:xfrm>
            <a:off x="9857232" y="2340864"/>
            <a:ext cx="365760" cy="365760"/>
          </a:xfrm>
          <a:prstGeom prst="rect">
            <a:avLst/>
          </a:prstGeom>
          <a:solidFill>
            <a:srgbClr val="12355B">
              <a:alpha val="30000"/>
            </a:srgbClr>
          </a:solidFill>
          <a:ln/>
        </p:spPr>
      </p:sp>
      <p:sp>
        <p:nvSpPr>
          <p:cNvPr id="22" name="Shape 20"/>
          <p:cNvSpPr/>
          <p:nvPr/>
        </p:nvSpPr>
        <p:spPr>
          <a:xfrm>
            <a:off x="10332720" y="914400"/>
            <a:ext cx="365760" cy="365760"/>
          </a:xfrm>
          <a:prstGeom prst="rect">
            <a:avLst/>
          </a:prstGeom>
          <a:solidFill>
            <a:srgbClr val="12355B">
              <a:alpha val="30000"/>
            </a:srgbClr>
          </a:solidFill>
          <a:ln/>
        </p:spPr>
      </p:sp>
      <p:sp>
        <p:nvSpPr>
          <p:cNvPr id="23" name="Shape 21"/>
          <p:cNvSpPr/>
          <p:nvPr/>
        </p:nvSpPr>
        <p:spPr>
          <a:xfrm>
            <a:off x="10332720" y="1389888"/>
            <a:ext cx="365760" cy="365760"/>
          </a:xfrm>
          <a:prstGeom prst="rect">
            <a:avLst/>
          </a:prstGeom>
          <a:solidFill>
            <a:srgbClr val="1C7293">
              <a:alpha val="45000"/>
            </a:srgbClr>
          </a:solidFill>
          <a:ln/>
        </p:spPr>
      </p:sp>
      <p:sp>
        <p:nvSpPr>
          <p:cNvPr id="24" name="Shape 22"/>
          <p:cNvSpPr/>
          <p:nvPr/>
        </p:nvSpPr>
        <p:spPr>
          <a:xfrm>
            <a:off x="10332720" y="1865376"/>
            <a:ext cx="365760" cy="365760"/>
          </a:xfrm>
          <a:prstGeom prst="rect">
            <a:avLst/>
          </a:prstGeom>
          <a:solidFill>
            <a:srgbClr val="1C7293">
              <a:alpha val="45000"/>
            </a:srgbClr>
          </a:solidFill>
          <a:ln/>
        </p:spPr>
      </p:sp>
      <p:sp>
        <p:nvSpPr>
          <p:cNvPr id="25" name="Shape 23"/>
          <p:cNvSpPr/>
          <p:nvPr/>
        </p:nvSpPr>
        <p:spPr>
          <a:xfrm>
            <a:off x="10332720" y="2340864"/>
            <a:ext cx="365760" cy="365760"/>
          </a:xfrm>
          <a:prstGeom prst="rect">
            <a:avLst/>
          </a:prstGeom>
          <a:solidFill>
            <a:srgbClr val="12355B">
              <a:alpha val="30000"/>
            </a:srgbClr>
          </a:solidFill>
          <a:ln/>
        </p:spPr>
      </p:sp>
      <p:sp>
        <p:nvSpPr>
          <p:cNvPr id="26" name="Shape 24"/>
          <p:cNvSpPr/>
          <p:nvPr/>
        </p:nvSpPr>
        <p:spPr>
          <a:xfrm>
            <a:off x="10808208" y="914400"/>
            <a:ext cx="365760" cy="365760"/>
          </a:xfrm>
          <a:prstGeom prst="rect">
            <a:avLst/>
          </a:prstGeom>
          <a:solidFill>
            <a:srgbClr val="12355B">
              <a:alpha val="30000"/>
            </a:srgbClr>
          </a:solidFill>
          <a:ln/>
        </p:spPr>
      </p:sp>
      <p:sp>
        <p:nvSpPr>
          <p:cNvPr id="27" name="Shape 25"/>
          <p:cNvSpPr/>
          <p:nvPr/>
        </p:nvSpPr>
        <p:spPr>
          <a:xfrm>
            <a:off x="10808208" y="1389888"/>
            <a:ext cx="365760" cy="365760"/>
          </a:xfrm>
          <a:prstGeom prst="rect">
            <a:avLst/>
          </a:prstGeom>
          <a:solidFill>
            <a:srgbClr val="12355B">
              <a:alpha val="30000"/>
            </a:srgbClr>
          </a:solidFill>
          <a:ln/>
        </p:spPr>
      </p:sp>
      <p:sp>
        <p:nvSpPr>
          <p:cNvPr id="28" name="Shape 26"/>
          <p:cNvSpPr/>
          <p:nvPr/>
        </p:nvSpPr>
        <p:spPr>
          <a:xfrm>
            <a:off x="10808208" y="1865376"/>
            <a:ext cx="365760" cy="365760"/>
          </a:xfrm>
          <a:prstGeom prst="rect">
            <a:avLst/>
          </a:prstGeom>
          <a:solidFill>
            <a:srgbClr val="12355B">
              <a:alpha val="30000"/>
            </a:srgbClr>
          </a:solidFill>
          <a:ln/>
        </p:spPr>
      </p:sp>
      <p:sp>
        <p:nvSpPr>
          <p:cNvPr id="29" name="Shape 27"/>
          <p:cNvSpPr/>
          <p:nvPr/>
        </p:nvSpPr>
        <p:spPr>
          <a:xfrm>
            <a:off x="10808208" y="2340864"/>
            <a:ext cx="365760" cy="365760"/>
          </a:xfrm>
          <a:prstGeom prst="rect">
            <a:avLst/>
          </a:prstGeom>
          <a:solidFill>
            <a:srgbClr val="12355B">
              <a:alpha val="30000"/>
            </a:srgbClr>
          </a:solidFill>
          <a:ln/>
        </p:spPr>
      </p:sp>
      <p:sp>
        <p:nvSpPr>
          <p:cNvPr id="30" name="Shape 28"/>
          <p:cNvSpPr/>
          <p:nvPr/>
        </p:nvSpPr>
        <p:spPr>
          <a:xfrm>
            <a:off x="11283696" y="914400"/>
            <a:ext cx="365760" cy="365760"/>
          </a:xfrm>
          <a:prstGeom prst="rect">
            <a:avLst/>
          </a:prstGeom>
          <a:solidFill>
            <a:srgbClr val="12355B">
              <a:alpha val="30000"/>
            </a:srgbClr>
          </a:solidFill>
          <a:ln/>
        </p:spPr>
      </p:sp>
      <p:sp>
        <p:nvSpPr>
          <p:cNvPr id="31" name="Shape 29"/>
          <p:cNvSpPr/>
          <p:nvPr/>
        </p:nvSpPr>
        <p:spPr>
          <a:xfrm>
            <a:off x="11283696" y="1389888"/>
            <a:ext cx="365760" cy="365760"/>
          </a:xfrm>
          <a:prstGeom prst="rect">
            <a:avLst/>
          </a:prstGeom>
          <a:solidFill>
            <a:srgbClr val="1C7293">
              <a:alpha val="45000"/>
            </a:srgbClr>
          </a:solidFill>
          <a:ln/>
        </p:spPr>
      </p:sp>
      <p:sp>
        <p:nvSpPr>
          <p:cNvPr id="32" name="Shape 30"/>
          <p:cNvSpPr/>
          <p:nvPr/>
        </p:nvSpPr>
        <p:spPr>
          <a:xfrm>
            <a:off x="11283696" y="1865376"/>
            <a:ext cx="365760" cy="365760"/>
          </a:xfrm>
          <a:prstGeom prst="rect">
            <a:avLst/>
          </a:prstGeom>
          <a:solidFill>
            <a:srgbClr val="1C7293">
              <a:alpha val="45000"/>
            </a:srgbClr>
          </a:solidFill>
          <a:ln/>
        </p:spPr>
      </p:sp>
      <p:sp>
        <p:nvSpPr>
          <p:cNvPr id="33" name="Shape 31"/>
          <p:cNvSpPr/>
          <p:nvPr/>
        </p:nvSpPr>
        <p:spPr>
          <a:xfrm>
            <a:off x="11283696" y="2340864"/>
            <a:ext cx="365760" cy="365760"/>
          </a:xfrm>
          <a:prstGeom prst="rect">
            <a:avLst/>
          </a:prstGeom>
          <a:solidFill>
            <a:srgbClr val="12355B">
              <a:alpha val="30000"/>
            </a:srgbClr>
          </a:solidFill>
          <a:ln/>
        </p:spPr>
      </p:sp>
      <p:sp>
        <p:nvSpPr>
          <p:cNvPr id="34" name="Text 32"/>
          <p:cNvSpPr/>
          <p:nvPr/>
        </p:nvSpPr>
        <p:spPr>
          <a:xfrm>
            <a:off x="640080" y="1371600"/>
            <a:ext cx="7315200" cy="365760"/>
          </a:xfrm>
          <a:prstGeom prst="rect">
            <a:avLst/>
          </a:prstGeom>
          <a:noFill/>
          <a:ln/>
        </p:spPr>
        <p:txBody>
          <a:bodyPr wrap="square" rtlCol="0" anchor="ctr"/>
          <a:lstStyle/>
          <a:p>
            <a:pPr indent="0" marL="0">
              <a:buNone/>
            </a:pPr>
            <a:r>
              <a:rPr lang="en-US" sz="1400" b="1" spc="100" kern="0" dirty="0">
                <a:solidFill>
                  <a:srgbClr val="29C7AC"/>
                </a:solidFill>
                <a:latin typeface="Calibri" pitchFamily="34" charset="0"/>
                <a:ea typeface="Calibri" pitchFamily="34" charset="-122"/>
                <a:cs typeface="Calibri" pitchFamily="34" charset="-120"/>
              </a:rPr>
              <a:t>NeurIPS 2025  ·  Independent Reproduction Study</a:t>
            </a:r>
            <a:endParaRPr lang="en-US" sz="1400" dirty="0"/>
          </a:p>
        </p:txBody>
      </p:sp>
      <p:sp>
        <p:nvSpPr>
          <p:cNvPr id="35" name="Text 33"/>
          <p:cNvSpPr/>
          <p:nvPr/>
        </p:nvSpPr>
        <p:spPr>
          <a:xfrm>
            <a:off x="640080" y="1828800"/>
            <a:ext cx="8686800" cy="100584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Balanced Token Pruning</a:t>
            </a:r>
            <a:endParaRPr lang="en-US" sz="4800" dirty="0"/>
          </a:p>
        </p:txBody>
      </p:sp>
      <p:sp>
        <p:nvSpPr>
          <p:cNvPr id="36" name="Text 34"/>
          <p:cNvSpPr/>
          <p:nvPr/>
        </p:nvSpPr>
        <p:spPr>
          <a:xfrm>
            <a:off x="658368" y="2880360"/>
            <a:ext cx="8229600" cy="548640"/>
          </a:xfrm>
          <a:prstGeom prst="rect">
            <a:avLst/>
          </a:prstGeom>
          <a:noFill/>
          <a:ln/>
        </p:spPr>
        <p:txBody>
          <a:bodyPr wrap="square" rtlCol="0" anchor="ctr"/>
          <a:lstStyle/>
          <a:p>
            <a:pPr indent="0" marL="0">
              <a:buNone/>
            </a:pPr>
            <a:r>
              <a:rPr lang="en-US" sz="1800" i="1" dirty="0">
                <a:solidFill>
                  <a:srgbClr val="CFE3F2"/>
                </a:solidFill>
                <a:latin typeface="Calibri" pitchFamily="34" charset="0"/>
                <a:ea typeface="Calibri" pitchFamily="34" charset="-122"/>
                <a:cs typeface="Calibri" pitchFamily="34" charset="-120"/>
              </a:rPr>
              <a:t>Accelerating Vision-Language Models Beyond Local Optimization</a:t>
            </a:r>
            <a:endParaRPr lang="en-US" sz="1800" dirty="0"/>
          </a:p>
        </p:txBody>
      </p:sp>
      <p:sp>
        <p:nvSpPr>
          <p:cNvPr id="37" name="Shape 35"/>
          <p:cNvSpPr/>
          <p:nvPr/>
        </p:nvSpPr>
        <p:spPr>
          <a:xfrm>
            <a:off x="658368" y="3611880"/>
            <a:ext cx="2926080" cy="41148"/>
          </a:xfrm>
          <a:prstGeom prst="rect">
            <a:avLst/>
          </a:prstGeom>
          <a:solidFill>
            <a:srgbClr val="29C7AC"/>
          </a:solidFill>
          <a:ln/>
        </p:spPr>
      </p:sp>
      <p:sp>
        <p:nvSpPr>
          <p:cNvPr id="38" name="Text 36"/>
          <p:cNvSpPr/>
          <p:nvPr/>
        </p:nvSpPr>
        <p:spPr>
          <a:xfrm>
            <a:off x="658368" y="3886200"/>
            <a:ext cx="8229600" cy="1463040"/>
          </a:xfrm>
          <a:prstGeom prst="rect">
            <a:avLst/>
          </a:prstGeom>
          <a:noFill/>
          <a:ln/>
        </p:spPr>
        <p:txBody>
          <a:bodyPr wrap="square" rtlCol="0" anchor="t"/>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P. S. Kedar  ·  Research Intern</a:t>
            </a:r>
            <a:endParaRPr lang="en-US" sz="1500" dirty="0"/>
          </a:p>
          <a:p>
            <a:pPr indent="0" marL="0">
              <a:spcAft>
                <a:spcPts val="200"/>
              </a:spcAft>
              <a:buNone/>
            </a:pPr>
            <a:r>
              <a:rPr lang="en-US" sz="1300" dirty="0">
                <a:solidFill>
                  <a:srgbClr val="CFE3F2"/>
                </a:solidFill>
                <a:latin typeface="Calibri" pitchFamily="34" charset="0"/>
                <a:ea typeface="Calibri" pitchFamily="34" charset="-122"/>
                <a:cs typeface="Calibri" pitchFamily="34" charset="-120"/>
              </a:rPr>
              <a:t>Prof. Divya Saxena Lab  ·  School of AI &amp; Data Science</a:t>
            </a:r>
            <a:endParaRPr lang="en-US" sz="1500" dirty="0"/>
          </a:p>
          <a:p>
            <a:pPr indent="0" marL="0">
              <a:buNone/>
            </a:pPr>
            <a:r>
              <a:rPr lang="en-US" sz="1200" dirty="0">
                <a:solidFill>
                  <a:srgbClr val="5A6B7B"/>
                </a:solidFill>
                <a:latin typeface="Calibri" pitchFamily="34" charset="0"/>
                <a:ea typeface="Calibri" pitchFamily="34" charset="-122"/>
                <a:cs typeface="Calibri" pitchFamily="34" charset="-120"/>
              </a:rPr>
              <a:t>Indian Institute of Technology, Jodhpur  ·  June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INTRODUCTION</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Vision-Language Models?</a:t>
            </a:r>
            <a:endParaRPr lang="en-US" sz="2600" dirty="0"/>
          </a:p>
        </p:txBody>
      </p:sp>
      <p:sp>
        <p:nvSpPr>
          <p:cNvPr id="6" name="Text 4"/>
          <p:cNvSpPr/>
          <p:nvPr/>
        </p:nvSpPr>
        <p:spPr>
          <a:xfrm>
            <a:off x="640080" y="1325880"/>
            <a:ext cx="5486400" cy="365760"/>
          </a:xfrm>
          <a:prstGeom prst="rect">
            <a:avLst/>
          </a:prstGeom>
          <a:noFill/>
          <a:ln/>
        </p:spPr>
        <p:txBody>
          <a:bodyPr wrap="square"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Applications</a:t>
            </a:r>
            <a:endParaRPr lang="en-US" sz="1500" dirty="0"/>
          </a:p>
        </p:txBody>
      </p:sp>
      <p:sp>
        <p:nvSpPr>
          <p:cNvPr id="7" name="Text 5"/>
          <p:cNvSpPr/>
          <p:nvPr/>
        </p:nvSpPr>
        <p:spPr>
          <a:xfrm>
            <a:off x="640080" y="1737360"/>
            <a:ext cx="5852160" cy="4937760"/>
          </a:xfrm>
          <a:prstGeom prst="rect">
            <a:avLst/>
          </a:prstGeom>
          <a:noFill/>
          <a:ln/>
        </p:spPr>
        <p:txBody>
          <a:bodyPr wrap="square" rtlCol="0" anchor="t"/>
          <a:lstStyle/>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Visual Question Answering</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Image Understanding</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OCR / document reading</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Robotics &amp; autonomous systems</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Medical imaging</a:t>
            </a:r>
            <a:endParaRPr lang="en-US" sz="1600" dirty="0"/>
          </a:p>
        </p:txBody>
      </p:sp>
      <p:sp>
        <p:nvSpPr>
          <p:cNvPr id="8" name="Shape 6"/>
          <p:cNvSpPr/>
          <p:nvPr/>
        </p:nvSpPr>
        <p:spPr>
          <a:xfrm>
            <a:off x="6766560" y="1417320"/>
            <a:ext cx="4846320" cy="4480560"/>
          </a:xfrm>
          <a:prstGeom prst="roundRect">
            <a:avLst>
              <a:gd name="adj" fmla="val 1633"/>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9" name="Text 7"/>
          <p:cNvSpPr/>
          <p:nvPr/>
        </p:nvSpPr>
        <p:spPr>
          <a:xfrm>
            <a:off x="6766560" y="1600200"/>
            <a:ext cx="4846320" cy="365760"/>
          </a:xfrm>
          <a:prstGeom prst="rect">
            <a:avLst/>
          </a:prstGeom>
          <a:noFill/>
          <a:ln/>
        </p:spPr>
        <p:txBody>
          <a:bodyPr wrap="square" rtlCol="0" anchor="ctr"/>
          <a:lstStyle/>
          <a:p>
            <a:pPr algn="ctr" indent="0" marL="0">
              <a:buNone/>
            </a:pPr>
            <a:r>
              <a:rPr lang="en-US" sz="1400" b="1" dirty="0">
                <a:solidFill>
                  <a:srgbClr val="CFE3F2"/>
                </a:solidFill>
                <a:latin typeface="Calibri" pitchFamily="34" charset="0"/>
                <a:ea typeface="Calibri" pitchFamily="34" charset="-122"/>
                <a:cs typeface="Calibri" pitchFamily="34" charset="-120"/>
              </a:rPr>
              <a:t>Leading VLMs</a:t>
            </a:r>
            <a:endParaRPr lang="en-US" sz="1400" dirty="0"/>
          </a:p>
        </p:txBody>
      </p:sp>
      <p:sp>
        <p:nvSpPr>
          <p:cNvPr id="10" name="Shape 8"/>
          <p:cNvSpPr/>
          <p:nvPr/>
        </p:nvSpPr>
        <p:spPr>
          <a:xfrm>
            <a:off x="7315200" y="2148840"/>
            <a:ext cx="3749040" cy="420624"/>
          </a:xfrm>
          <a:prstGeom prst="roundRect">
            <a:avLst>
              <a:gd name="adj" fmla="val 50000"/>
            </a:avLst>
          </a:prstGeom>
          <a:solidFill>
            <a:srgbClr val="1C7293"/>
          </a:solidFill>
          <a:ln/>
        </p:spPr>
      </p:sp>
      <p:sp>
        <p:nvSpPr>
          <p:cNvPr id="11" name="Text 9"/>
          <p:cNvSpPr/>
          <p:nvPr/>
        </p:nvSpPr>
        <p:spPr>
          <a:xfrm>
            <a:off x="7315200" y="2148840"/>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LLaVA</a:t>
            </a:r>
            <a:endParaRPr lang="en-US" sz="1300" dirty="0"/>
          </a:p>
        </p:txBody>
      </p:sp>
      <p:sp>
        <p:nvSpPr>
          <p:cNvPr id="12" name="Shape 10"/>
          <p:cNvSpPr/>
          <p:nvPr/>
        </p:nvSpPr>
        <p:spPr>
          <a:xfrm>
            <a:off x="7315200" y="2990088"/>
            <a:ext cx="3749040" cy="420624"/>
          </a:xfrm>
          <a:prstGeom prst="roundRect">
            <a:avLst>
              <a:gd name="adj" fmla="val 50000"/>
            </a:avLst>
          </a:prstGeom>
          <a:solidFill>
            <a:srgbClr val="1C7293"/>
          </a:solidFill>
          <a:ln/>
        </p:spPr>
      </p:sp>
      <p:sp>
        <p:nvSpPr>
          <p:cNvPr id="13" name="Text 11"/>
          <p:cNvSpPr/>
          <p:nvPr/>
        </p:nvSpPr>
        <p:spPr>
          <a:xfrm>
            <a:off x="7315200" y="2990088"/>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Qwen-VL</a:t>
            </a:r>
            <a:endParaRPr lang="en-US" sz="1300" dirty="0"/>
          </a:p>
        </p:txBody>
      </p:sp>
      <p:sp>
        <p:nvSpPr>
          <p:cNvPr id="14" name="Shape 12"/>
          <p:cNvSpPr/>
          <p:nvPr/>
        </p:nvSpPr>
        <p:spPr>
          <a:xfrm>
            <a:off x="7315200" y="3831336"/>
            <a:ext cx="3749040" cy="420624"/>
          </a:xfrm>
          <a:prstGeom prst="roundRect">
            <a:avLst>
              <a:gd name="adj" fmla="val 50000"/>
            </a:avLst>
          </a:prstGeom>
          <a:solidFill>
            <a:srgbClr val="1C7293"/>
          </a:solidFill>
          <a:ln/>
        </p:spPr>
      </p:sp>
      <p:sp>
        <p:nvSpPr>
          <p:cNvPr id="15" name="Text 13"/>
          <p:cNvSpPr/>
          <p:nvPr/>
        </p:nvSpPr>
        <p:spPr>
          <a:xfrm>
            <a:off x="7315200" y="3831336"/>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GPT-4V</a:t>
            </a:r>
            <a:endParaRPr lang="en-US" sz="1300" dirty="0"/>
          </a:p>
        </p:txBody>
      </p:sp>
      <p:sp>
        <p:nvSpPr>
          <p:cNvPr id="16" name="Shape 14"/>
          <p:cNvSpPr/>
          <p:nvPr/>
        </p:nvSpPr>
        <p:spPr>
          <a:xfrm>
            <a:off x="7315200" y="4672584"/>
            <a:ext cx="3749040" cy="420624"/>
          </a:xfrm>
          <a:prstGeom prst="roundRect">
            <a:avLst>
              <a:gd name="adj" fmla="val 50000"/>
            </a:avLst>
          </a:prstGeom>
          <a:solidFill>
            <a:srgbClr val="1C7293"/>
          </a:solidFill>
          <a:ln/>
        </p:spPr>
      </p:sp>
      <p:sp>
        <p:nvSpPr>
          <p:cNvPr id="17" name="Text 15"/>
          <p:cNvSpPr/>
          <p:nvPr/>
        </p:nvSpPr>
        <p:spPr>
          <a:xfrm>
            <a:off x="7315200" y="4672584"/>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Gemini</a:t>
            </a:r>
            <a:endParaRPr lang="en-US" sz="1300" dirty="0"/>
          </a:p>
        </p:txBody>
      </p:sp>
      <p:sp>
        <p:nvSpPr>
          <p:cNvPr id="18" name="Text 16"/>
          <p:cNvSpPr/>
          <p:nvPr/>
        </p:nvSpPr>
        <p:spPr>
          <a:xfrm>
            <a:off x="6766560" y="5486400"/>
            <a:ext cx="4846320" cy="365760"/>
          </a:xfrm>
          <a:prstGeom prst="rect">
            <a:avLst/>
          </a:prstGeom>
          <a:noFill/>
          <a:ln/>
        </p:spPr>
        <p:txBody>
          <a:bodyPr wrap="square" rtlCol="0" anchor="ctr"/>
          <a:lstStyle/>
          <a:p>
            <a:pPr algn="ctr" indent="0" marL="0">
              <a:buNone/>
            </a:pPr>
            <a:r>
              <a:rPr lang="en-US" sz="1300" i="1" dirty="0">
                <a:solidFill>
                  <a:srgbClr val="29C7AC"/>
                </a:solidFill>
                <a:latin typeface="Calibri" pitchFamily="34" charset="0"/>
                <a:ea typeface="Calibri" pitchFamily="34" charset="-122"/>
                <a:cs typeface="Calibri" pitchFamily="34" charset="-120"/>
              </a:rPr>
              <a:t>Image + Question  →  AI Response</a:t>
            </a:r>
            <a:endParaRPr lang="en-US" sz="1300" dirty="0"/>
          </a:p>
        </p:txBody>
      </p:sp>
      <p:sp>
        <p:nvSpPr>
          <p:cNvPr id="19" name="Text 1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BACKGROUND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are Large Vision-Language Models?</a:t>
            </a:r>
            <a:endParaRPr lang="en-US" sz="2600" dirty="0"/>
          </a:p>
        </p:txBody>
      </p:sp>
      <p:sp>
        <p:nvSpPr>
          <p:cNvPr id="6" name="Text 4"/>
          <p:cNvSpPr/>
          <p:nvPr/>
        </p:nvSpPr>
        <p:spPr>
          <a:xfrm>
            <a:off x="640080" y="1554480"/>
            <a:ext cx="5486400" cy="4937760"/>
          </a:xfrm>
          <a:prstGeom prst="rect">
            <a:avLst/>
          </a:prstGeom>
          <a:noFill/>
          <a:ln/>
        </p:spPr>
        <p:txBody>
          <a:bodyPr wrap="square" rtlCol="0" anchor="t"/>
          <a:lstStyle/>
          <a:p>
            <a:pPr marL="228600" indent="-228600">
              <a:spcAft>
                <a:spcPts val="1100"/>
              </a:spcAft>
              <a:buSzPct val="100000"/>
              <a:buChar char="•"/>
            </a:pPr>
            <a:r>
              <a:rPr lang="en-US" sz="1600" b="1" dirty="0">
                <a:solidFill>
                  <a:srgbClr val="16222E"/>
                </a:solidFill>
                <a:latin typeface="Calibri" pitchFamily="34" charset="0"/>
                <a:ea typeface="Calibri" pitchFamily="34" charset="-122"/>
                <a:cs typeface="Calibri" pitchFamily="34" charset="-120"/>
              </a:rPr>
              <a:t>A model that reasons over images and text together</a:t>
            </a:r>
            <a:endParaRPr lang="en-US" sz="1600" dirty="0"/>
          </a:p>
          <a:p>
            <a:pPr marL="228600" indent="-228600">
              <a:spcAft>
                <a:spcPts val="1100"/>
              </a:spcAft>
              <a:buSzPct val="100000"/>
              <a:buChar char="•"/>
            </a:pPr>
            <a:r>
              <a:rPr lang="en-US" sz="1600" dirty="0">
                <a:solidFill>
                  <a:srgbClr val="16222E"/>
                </a:solidFill>
                <a:latin typeface="Calibri" pitchFamily="34" charset="0"/>
                <a:ea typeface="Calibri" pitchFamily="34" charset="-122"/>
                <a:cs typeface="Calibri" pitchFamily="34" charset="-120"/>
              </a:rPr>
              <a:t>The vision encoder 'sees' the image</a:t>
            </a:r>
            <a:endParaRPr lang="en-US" sz="1600" dirty="0"/>
          </a:p>
          <a:p>
            <a:pPr marL="228600" indent="-228600">
              <a:spcAft>
                <a:spcPts val="1100"/>
              </a:spcAft>
              <a:buSzPct val="100000"/>
              <a:buChar char="•"/>
            </a:pPr>
            <a:r>
              <a:rPr lang="en-US" sz="1600" dirty="0">
                <a:solidFill>
                  <a:srgbClr val="16222E"/>
                </a:solidFill>
                <a:latin typeface="Calibri" pitchFamily="34" charset="0"/>
                <a:ea typeface="Calibri" pitchFamily="34" charset="-122"/>
                <a:cs typeface="Calibri" pitchFamily="34" charset="-120"/>
              </a:rPr>
              <a:t>It becomes a set of visual tokens</a:t>
            </a:r>
            <a:endParaRPr lang="en-US" sz="1600" dirty="0"/>
          </a:p>
          <a:p>
            <a:pPr marL="228600" indent="-228600">
              <a:spcAft>
                <a:spcPts val="1100"/>
              </a:spcAft>
              <a:buSzPct val="100000"/>
              <a:buChar char="•"/>
            </a:pPr>
            <a:r>
              <a:rPr lang="en-US" sz="1600" dirty="0">
                <a:solidFill>
                  <a:srgbClr val="16222E"/>
                </a:solidFill>
                <a:latin typeface="Calibri" pitchFamily="34" charset="0"/>
                <a:ea typeface="Calibri" pitchFamily="34" charset="-122"/>
                <a:cs typeface="Calibri" pitchFamily="34" charset="-120"/>
              </a:rPr>
              <a:t>The language model reasons and answers</a:t>
            </a:r>
            <a:endParaRPr lang="en-US" sz="1600" dirty="0"/>
          </a:p>
          <a:p>
            <a:pPr marL="228600" indent="-228600">
              <a:spcAft>
                <a:spcPts val="1100"/>
              </a:spcAft>
              <a:buSzPct val="100000"/>
              <a:buChar char="•"/>
            </a:pPr>
            <a:r>
              <a:rPr lang="en-US" sz="1600" b="1" dirty="0">
                <a:solidFill>
                  <a:srgbClr val="1C7293"/>
                </a:solidFill>
                <a:latin typeface="Calibri" pitchFamily="34" charset="0"/>
                <a:ea typeface="Calibri" pitchFamily="34" charset="-122"/>
                <a:cs typeface="Calibri" pitchFamily="34" charset="-120"/>
              </a:rPr>
              <a:t>Examples: LLaVA · Qwen2.5-VL</a:t>
            </a:r>
            <a:endParaRPr lang="en-US" sz="1600" dirty="0"/>
          </a:p>
        </p:txBody>
      </p:sp>
      <p:sp>
        <p:nvSpPr>
          <p:cNvPr id="7" name="Shape 5"/>
          <p:cNvSpPr/>
          <p:nvPr/>
        </p:nvSpPr>
        <p:spPr>
          <a:xfrm>
            <a:off x="6858000" y="1554480"/>
            <a:ext cx="4480560" cy="749808"/>
          </a:xfrm>
          <a:prstGeom prst="roundRect">
            <a:avLst>
              <a:gd name="adj" fmla="val 9756"/>
            </a:avLst>
          </a:prstGeom>
          <a:solidFill>
            <a:srgbClr val="2B6CB0"/>
          </a:solidFill>
          <a:ln/>
        </p:spPr>
      </p:sp>
      <p:sp>
        <p:nvSpPr>
          <p:cNvPr id="8" name="Text 6"/>
          <p:cNvSpPr/>
          <p:nvPr/>
        </p:nvSpPr>
        <p:spPr>
          <a:xfrm>
            <a:off x="6949440" y="1554480"/>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Image</a:t>
            </a:r>
            <a:endParaRPr lang="en-US" sz="1300" dirty="0"/>
          </a:p>
        </p:txBody>
      </p:sp>
      <p:sp>
        <p:nvSpPr>
          <p:cNvPr id="9" name="Text 7"/>
          <p:cNvSpPr/>
          <p:nvPr/>
        </p:nvSpPr>
        <p:spPr>
          <a:xfrm>
            <a:off x="6858000" y="2286000"/>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0" name="Shape 8"/>
          <p:cNvSpPr/>
          <p:nvPr/>
        </p:nvSpPr>
        <p:spPr>
          <a:xfrm>
            <a:off x="6858000" y="2578608"/>
            <a:ext cx="4480560" cy="749808"/>
          </a:xfrm>
          <a:prstGeom prst="roundRect">
            <a:avLst>
              <a:gd name="adj" fmla="val 9756"/>
            </a:avLst>
          </a:prstGeom>
          <a:solidFill>
            <a:srgbClr val="1C7293"/>
          </a:solidFill>
          <a:ln/>
        </p:spPr>
      </p:sp>
      <p:sp>
        <p:nvSpPr>
          <p:cNvPr id="11" name="Text 9"/>
          <p:cNvSpPr/>
          <p:nvPr/>
        </p:nvSpPr>
        <p:spPr>
          <a:xfrm>
            <a:off x="6949440" y="2578608"/>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Vision Encoder</a:t>
            </a:r>
            <a:endParaRPr lang="en-US" sz="1300" dirty="0"/>
          </a:p>
        </p:txBody>
      </p:sp>
      <p:sp>
        <p:nvSpPr>
          <p:cNvPr id="12" name="Text 10"/>
          <p:cNvSpPr/>
          <p:nvPr/>
        </p:nvSpPr>
        <p:spPr>
          <a:xfrm>
            <a:off x="6858000" y="3310128"/>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3" name="Shape 11"/>
          <p:cNvSpPr/>
          <p:nvPr/>
        </p:nvSpPr>
        <p:spPr>
          <a:xfrm>
            <a:off x="6858000" y="3602736"/>
            <a:ext cx="4480560" cy="749808"/>
          </a:xfrm>
          <a:prstGeom prst="roundRect">
            <a:avLst>
              <a:gd name="adj" fmla="val 9756"/>
            </a:avLst>
          </a:prstGeom>
          <a:solidFill>
            <a:srgbClr val="2E7D8F"/>
          </a:solidFill>
          <a:ln/>
        </p:spPr>
      </p:sp>
      <p:sp>
        <p:nvSpPr>
          <p:cNvPr id="14" name="Text 12"/>
          <p:cNvSpPr/>
          <p:nvPr/>
        </p:nvSpPr>
        <p:spPr>
          <a:xfrm>
            <a:off x="6949440" y="3602736"/>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Visual Tokens</a:t>
            </a:r>
            <a:endParaRPr lang="en-US" sz="1300" dirty="0"/>
          </a:p>
        </p:txBody>
      </p:sp>
      <p:sp>
        <p:nvSpPr>
          <p:cNvPr id="15" name="Text 13"/>
          <p:cNvSpPr/>
          <p:nvPr/>
        </p:nvSpPr>
        <p:spPr>
          <a:xfrm>
            <a:off x="6858000" y="4334256"/>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6" name="Shape 14"/>
          <p:cNvSpPr/>
          <p:nvPr/>
        </p:nvSpPr>
        <p:spPr>
          <a:xfrm>
            <a:off x="6858000" y="4626864"/>
            <a:ext cx="4480560" cy="749808"/>
          </a:xfrm>
          <a:prstGeom prst="roundRect">
            <a:avLst>
              <a:gd name="adj" fmla="val 9756"/>
            </a:avLst>
          </a:prstGeom>
          <a:solidFill>
            <a:srgbClr val="12355B"/>
          </a:solidFill>
          <a:ln/>
        </p:spPr>
      </p:sp>
      <p:sp>
        <p:nvSpPr>
          <p:cNvPr id="17" name="Text 15"/>
          <p:cNvSpPr/>
          <p:nvPr/>
        </p:nvSpPr>
        <p:spPr>
          <a:xfrm>
            <a:off x="6949440" y="4626864"/>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Large Language Model</a:t>
            </a:r>
            <a:endParaRPr lang="en-US" sz="1300" dirty="0"/>
          </a:p>
        </p:txBody>
      </p:sp>
      <p:sp>
        <p:nvSpPr>
          <p:cNvPr id="18" name="Text 16"/>
          <p:cNvSpPr/>
          <p:nvPr/>
        </p:nvSpPr>
        <p:spPr>
          <a:xfrm>
            <a:off x="6858000" y="5358384"/>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9" name="Shape 17"/>
          <p:cNvSpPr/>
          <p:nvPr/>
        </p:nvSpPr>
        <p:spPr>
          <a:xfrm>
            <a:off x="6858000" y="5650992"/>
            <a:ext cx="4480560" cy="749808"/>
          </a:xfrm>
          <a:prstGeom prst="roundRect">
            <a:avLst>
              <a:gd name="adj" fmla="val 9756"/>
            </a:avLst>
          </a:prstGeom>
          <a:solidFill>
            <a:srgbClr val="29C7AC"/>
          </a:solidFill>
          <a:ln/>
        </p:spPr>
      </p:sp>
      <p:sp>
        <p:nvSpPr>
          <p:cNvPr id="20" name="Text 18"/>
          <p:cNvSpPr/>
          <p:nvPr/>
        </p:nvSpPr>
        <p:spPr>
          <a:xfrm>
            <a:off x="6949440" y="5650992"/>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Text Response</a:t>
            </a:r>
            <a:endParaRPr lang="en-US" sz="1300" dirty="0"/>
          </a:p>
        </p:txBody>
      </p:sp>
      <p:sp>
        <p:nvSpPr>
          <p:cNvPr id="21" name="Text 19"/>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BACKGROUND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are Tokens?</a:t>
            </a:r>
            <a:endParaRPr lang="en-US" sz="2600" dirty="0"/>
          </a:p>
        </p:txBody>
      </p:sp>
      <p:sp>
        <p:nvSpPr>
          <p:cNvPr id="6" name="Text 4"/>
          <p:cNvSpPr/>
          <p:nvPr/>
        </p:nvSpPr>
        <p:spPr>
          <a:xfrm>
            <a:off x="640080" y="1371600"/>
            <a:ext cx="4572000" cy="365760"/>
          </a:xfrm>
          <a:prstGeom prst="rect">
            <a:avLst/>
          </a:prstGeom>
          <a:noFill/>
          <a:ln/>
        </p:spPr>
        <p:txBody>
          <a:bodyPr wrap="square"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Text tokens</a:t>
            </a:r>
            <a:endParaRPr lang="en-US" sz="1500" dirty="0"/>
          </a:p>
        </p:txBody>
      </p:sp>
      <p:sp>
        <p:nvSpPr>
          <p:cNvPr id="7" name="Shape 5"/>
          <p:cNvSpPr/>
          <p:nvPr/>
        </p:nvSpPr>
        <p:spPr>
          <a:xfrm>
            <a:off x="640080" y="1828800"/>
            <a:ext cx="1554480" cy="420624"/>
          </a:xfrm>
          <a:prstGeom prst="roundRect">
            <a:avLst>
              <a:gd name="adj" fmla="val 50000"/>
            </a:avLst>
          </a:prstGeom>
          <a:solidFill>
            <a:srgbClr val="12355B"/>
          </a:solidFill>
          <a:ln/>
        </p:spPr>
      </p:sp>
      <p:sp>
        <p:nvSpPr>
          <p:cNvPr id="8" name="Text 6"/>
          <p:cNvSpPr/>
          <p:nvPr/>
        </p:nvSpPr>
        <p:spPr>
          <a:xfrm>
            <a:off x="640080" y="1828800"/>
            <a:ext cx="15544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"Balanced"</a:t>
            </a:r>
            <a:endParaRPr lang="en-US" sz="1300" dirty="0"/>
          </a:p>
        </p:txBody>
      </p:sp>
      <p:sp>
        <p:nvSpPr>
          <p:cNvPr id="9" name="Shape 7"/>
          <p:cNvSpPr/>
          <p:nvPr/>
        </p:nvSpPr>
        <p:spPr>
          <a:xfrm>
            <a:off x="2331720" y="1828800"/>
            <a:ext cx="1554480" cy="420624"/>
          </a:xfrm>
          <a:prstGeom prst="roundRect">
            <a:avLst>
              <a:gd name="adj" fmla="val 50000"/>
            </a:avLst>
          </a:prstGeom>
          <a:solidFill>
            <a:srgbClr val="12355B"/>
          </a:solidFill>
          <a:ln/>
        </p:spPr>
      </p:sp>
      <p:sp>
        <p:nvSpPr>
          <p:cNvPr id="10" name="Text 8"/>
          <p:cNvSpPr/>
          <p:nvPr/>
        </p:nvSpPr>
        <p:spPr>
          <a:xfrm>
            <a:off x="2331720" y="1828800"/>
            <a:ext cx="15544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"Token"</a:t>
            </a:r>
            <a:endParaRPr lang="en-US" sz="1300" dirty="0"/>
          </a:p>
        </p:txBody>
      </p:sp>
      <p:sp>
        <p:nvSpPr>
          <p:cNvPr id="11" name="Shape 9"/>
          <p:cNvSpPr/>
          <p:nvPr/>
        </p:nvSpPr>
        <p:spPr>
          <a:xfrm>
            <a:off x="4023360" y="1828800"/>
            <a:ext cx="1554480" cy="420624"/>
          </a:xfrm>
          <a:prstGeom prst="roundRect">
            <a:avLst>
              <a:gd name="adj" fmla="val 50000"/>
            </a:avLst>
          </a:prstGeom>
          <a:solidFill>
            <a:srgbClr val="12355B"/>
          </a:solidFill>
          <a:ln/>
        </p:spPr>
      </p:sp>
      <p:sp>
        <p:nvSpPr>
          <p:cNvPr id="12" name="Text 10"/>
          <p:cNvSpPr/>
          <p:nvPr/>
        </p:nvSpPr>
        <p:spPr>
          <a:xfrm>
            <a:off x="4023360" y="1828800"/>
            <a:ext cx="15544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"Pruning"</a:t>
            </a:r>
            <a:endParaRPr lang="en-US" sz="1300" dirty="0"/>
          </a:p>
        </p:txBody>
      </p:sp>
      <p:sp>
        <p:nvSpPr>
          <p:cNvPr id="13" name="Text 11"/>
          <p:cNvSpPr/>
          <p:nvPr/>
        </p:nvSpPr>
        <p:spPr>
          <a:xfrm>
            <a:off x="640080" y="2651760"/>
            <a:ext cx="4572000" cy="365760"/>
          </a:xfrm>
          <a:prstGeom prst="rect">
            <a:avLst/>
          </a:prstGeom>
          <a:noFill/>
          <a:ln/>
        </p:spPr>
        <p:txBody>
          <a:bodyPr wrap="square"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Visual tokens</a:t>
            </a:r>
            <a:endParaRPr lang="en-US" sz="1500" dirty="0"/>
          </a:p>
        </p:txBody>
      </p:sp>
      <p:sp>
        <p:nvSpPr>
          <p:cNvPr id="14" name="Text 12"/>
          <p:cNvSpPr/>
          <p:nvPr/>
        </p:nvSpPr>
        <p:spPr>
          <a:xfrm>
            <a:off x="640080" y="3108960"/>
            <a:ext cx="5760720" cy="4937760"/>
          </a:xfrm>
          <a:prstGeom prst="rect">
            <a:avLst/>
          </a:prstGeom>
          <a:noFill/>
          <a:ln/>
        </p:spPr>
        <p:txBody>
          <a:bodyPr wrap="square" rtlCol="0" anchor="t"/>
          <a:lstStyle/>
          <a:p>
            <a:pPr marL="228600" indent="-228600">
              <a:spcAft>
                <a:spcPts val="900"/>
              </a:spcAft>
              <a:buSzPct val="100000"/>
              <a:buChar char="•"/>
            </a:pPr>
            <a:r>
              <a:rPr lang="en-US" sz="1500" dirty="0">
                <a:solidFill>
                  <a:srgbClr val="16222E"/>
                </a:solidFill>
                <a:latin typeface="Calibri" pitchFamily="34" charset="0"/>
                <a:ea typeface="Calibri" pitchFamily="34" charset="-122"/>
                <a:cs typeface="Calibri" pitchFamily="34" charset="-120"/>
              </a:rPr>
              <a:t>The image is split into small patches</a:t>
            </a:r>
            <a:endParaRPr lang="en-US" sz="1500" dirty="0"/>
          </a:p>
          <a:p>
            <a:pPr marL="228600" indent="-228600">
              <a:spcAft>
                <a:spcPts val="900"/>
              </a:spcAft>
              <a:buSzPct val="100000"/>
              <a:buChar char="•"/>
            </a:pPr>
            <a:r>
              <a:rPr lang="en-US" sz="1500" dirty="0">
                <a:solidFill>
                  <a:srgbClr val="16222E"/>
                </a:solidFill>
                <a:latin typeface="Calibri" pitchFamily="34" charset="0"/>
                <a:ea typeface="Calibri" pitchFamily="34" charset="-122"/>
                <a:cs typeface="Calibri" pitchFamily="34" charset="-120"/>
              </a:rPr>
              <a:t>Each patch becomes one visual token</a:t>
            </a:r>
            <a:endParaRPr lang="en-US" sz="1500" dirty="0"/>
          </a:p>
          <a:p>
            <a:pPr marL="228600" indent="-228600">
              <a:spcAft>
                <a:spcPts val="900"/>
              </a:spcAft>
              <a:buSzPct val="100000"/>
              <a:buChar char="•"/>
            </a:pPr>
            <a:r>
              <a:rPr lang="en-US" sz="1500" b="1" dirty="0">
                <a:solidFill>
                  <a:srgbClr val="C0392B"/>
                </a:solidFill>
                <a:latin typeface="Calibri" pitchFamily="34" charset="0"/>
                <a:ea typeface="Calibri" pitchFamily="34" charset="-122"/>
                <a:cs typeface="Calibri" pitchFamily="34" charset="-120"/>
              </a:rPr>
              <a:t>LLaVA-1.5 → 576 visual tokens per image</a:t>
            </a:r>
            <a:endParaRPr lang="en-US" sz="1500" dirty="0"/>
          </a:p>
        </p:txBody>
      </p:sp>
      <p:sp>
        <p:nvSpPr>
          <p:cNvPr id="15" name="Shape 13"/>
          <p:cNvSpPr/>
          <p:nvPr/>
        </p:nvSpPr>
        <p:spPr>
          <a:xfrm>
            <a:off x="7498080" y="1554480"/>
            <a:ext cx="512064" cy="512064"/>
          </a:xfrm>
          <a:prstGeom prst="rect">
            <a:avLst/>
          </a:prstGeom>
          <a:solidFill>
            <a:srgbClr val="1C7293">
              <a:alpha val="85000"/>
            </a:srgbClr>
          </a:solidFill>
          <a:ln w="12700">
            <a:solidFill>
              <a:srgbClr val="FFFFFF"/>
            </a:solidFill>
            <a:prstDash val="solid"/>
          </a:ln>
        </p:spPr>
      </p:sp>
      <p:sp>
        <p:nvSpPr>
          <p:cNvPr id="16" name="Shape 14"/>
          <p:cNvSpPr/>
          <p:nvPr/>
        </p:nvSpPr>
        <p:spPr>
          <a:xfrm>
            <a:off x="8065008" y="1554480"/>
            <a:ext cx="512064" cy="512064"/>
          </a:xfrm>
          <a:prstGeom prst="rect">
            <a:avLst/>
          </a:prstGeom>
          <a:solidFill>
            <a:srgbClr val="1C7293">
              <a:alpha val="63000"/>
            </a:srgbClr>
          </a:solidFill>
          <a:ln w="12700">
            <a:solidFill>
              <a:srgbClr val="FFFFFF"/>
            </a:solidFill>
            <a:prstDash val="solid"/>
          </a:ln>
        </p:spPr>
      </p:sp>
      <p:sp>
        <p:nvSpPr>
          <p:cNvPr id="17" name="Shape 15"/>
          <p:cNvSpPr/>
          <p:nvPr/>
        </p:nvSpPr>
        <p:spPr>
          <a:xfrm>
            <a:off x="8631936" y="1554480"/>
            <a:ext cx="512064" cy="512064"/>
          </a:xfrm>
          <a:prstGeom prst="rect">
            <a:avLst/>
          </a:prstGeom>
          <a:solidFill>
            <a:srgbClr val="1C7293">
              <a:alpha val="41000"/>
            </a:srgbClr>
          </a:solidFill>
          <a:ln w="12700">
            <a:solidFill>
              <a:srgbClr val="FFFFFF"/>
            </a:solidFill>
            <a:prstDash val="solid"/>
          </a:ln>
        </p:spPr>
      </p:sp>
      <p:sp>
        <p:nvSpPr>
          <p:cNvPr id="18" name="Shape 16"/>
          <p:cNvSpPr/>
          <p:nvPr/>
        </p:nvSpPr>
        <p:spPr>
          <a:xfrm>
            <a:off x="9198864" y="1554480"/>
            <a:ext cx="512064" cy="512064"/>
          </a:xfrm>
          <a:prstGeom prst="rect">
            <a:avLst/>
          </a:prstGeom>
          <a:solidFill>
            <a:srgbClr val="1C7293">
              <a:alpha val="85000"/>
            </a:srgbClr>
          </a:solidFill>
          <a:ln w="12700">
            <a:solidFill>
              <a:srgbClr val="FFFFFF"/>
            </a:solidFill>
            <a:prstDash val="solid"/>
          </a:ln>
        </p:spPr>
      </p:sp>
      <p:sp>
        <p:nvSpPr>
          <p:cNvPr id="19" name="Shape 17"/>
          <p:cNvSpPr/>
          <p:nvPr/>
        </p:nvSpPr>
        <p:spPr>
          <a:xfrm>
            <a:off x="9765792" y="1554480"/>
            <a:ext cx="512064" cy="512064"/>
          </a:xfrm>
          <a:prstGeom prst="rect">
            <a:avLst/>
          </a:prstGeom>
          <a:solidFill>
            <a:srgbClr val="1C7293">
              <a:alpha val="63000"/>
            </a:srgbClr>
          </a:solidFill>
          <a:ln w="12700">
            <a:solidFill>
              <a:srgbClr val="FFFFFF"/>
            </a:solidFill>
            <a:prstDash val="solid"/>
          </a:ln>
        </p:spPr>
      </p:sp>
      <p:sp>
        <p:nvSpPr>
          <p:cNvPr id="20" name="Shape 18"/>
          <p:cNvSpPr/>
          <p:nvPr/>
        </p:nvSpPr>
        <p:spPr>
          <a:xfrm>
            <a:off x="10332720" y="1554480"/>
            <a:ext cx="512064" cy="512064"/>
          </a:xfrm>
          <a:prstGeom prst="rect">
            <a:avLst/>
          </a:prstGeom>
          <a:solidFill>
            <a:srgbClr val="1C7293">
              <a:alpha val="41000"/>
            </a:srgbClr>
          </a:solidFill>
          <a:ln w="12700">
            <a:solidFill>
              <a:srgbClr val="FFFFFF"/>
            </a:solidFill>
            <a:prstDash val="solid"/>
          </a:ln>
        </p:spPr>
      </p:sp>
      <p:sp>
        <p:nvSpPr>
          <p:cNvPr id="21" name="Shape 19"/>
          <p:cNvSpPr/>
          <p:nvPr/>
        </p:nvSpPr>
        <p:spPr>
          <a:xfrm>
            <a:off x="7498080" y="2121408"/>
            <a:ext cx="512064" cy="512064"/>
          </a:xfrm>
          <a:prstGeom prst="rect">
            <a:avLst/>
          </a:prstGeom>
          <a:solidFill>
            <a:srgbClr val="1C7293">
              <a:alpha val="63000"/>
            </a:srgbClr>
          </a:solidFill>
          <a:ln w="12700">
            <a:solidFill>
              <a:srgbClr val="FFFFFF"/>
            </a:solidFill>
            <a:prstDash val="solid"/>
          </a:ln>
        </p:spPr>
      </p:sp>
      <p:sp>
        <p:nvSpPr>
          <p:cNvPr id="22" name="Shape 20"/>
          <p:cNvSpPr/>
          <p:nvPr/>
        </p:nvSpPr>
        <p:spPr>
          <a:xfrm>
            <a:off x="8065008" y="2121408"/>
            <a:ext cx="512064" cy="512064"/>
          </a:xfrm>
          <a:prstGeom prst="rect">
            <a:avLst/>
          </a:prstGeom>
          <a:solidFill>
            <a:srgbClr val="1C7293">
              <a:alpha val="41000"/>
            </a:srgbClr>
          </a:solidFill>
          <a:ln w="12700">
            <a:solidFill>
              <a:srgbClr val="FFFFFF"/>
            </a:solidFill>
            <a:prstDash val="solid"/>
          </a:ln>
        </p:spPr>
      </p:sp>
      <p:sp>
        <p:nvSpPr>
          <p:cNvPr id="23" name="Shape 21"/>
          <p:cNvSpPr/>
          <p:nvPr/>
        </p:nvSpPr>
        <p:spPr>
          <a:xfrm>
            <a:off x="8631936" y="2121408"/>
            <a:ext cx="512064" cy="512064"/>
          </a:xfrm>
          <a:prstGeom prst="rect">
            <a:avLst/>
          </a:prstGeom>
          <a:solidFill>
            <a:srgbClr val="1C7293">
              <a:alpha val="85000"/>
            </a:srgbClr>
          </a:solidFill>
          <a:ln w="12700">
            <a:solidFill>
              <a:srgbClr val="FFFFFF"/>
            </a:solidFill>
            <a:prstDash val="solid"/>
          </a:ln>
        </p:spPr>
      </p:sp>
      <p:sp>
        <p:nvSpPr>
          <p:cNvPr id="24" name="Shape 22"/>
          <p:cNvSpPr/>
          <p:nvPr/>
        </p:nvSpPr>
        <p:spPr>
          <a:xfrm>
            <a:off x="9198864" y="2121408"/>
            <a:ext cx="512064" cy="512064"/>
          </a:xfrm>
          <a:prstGeom prst="rect">
            <a:avLst/>
          </a:prstGeom>
          <a:solidFill>
            <a:srgbClr val="1C7293">
              <a:alpha val="63000"/>
            </a:srgbClr>
          </a:solidFill>
          <a:ln w="12700">
            <a:solidFill>
              <a:srgbClr val="FFFFFF"/>
            </a:solidFill>
            <a:prstDash val="solid"/>
          </a:ln>
        </p:spPr>
      </p:sp>
      <p:sp>
        <p:nvSpPr>
          <p:cNvPr id="25" name="Shape 23"/>
          <p:cNvSpPr/>
          <p:nvPr/>
        </p:nvSpPr>
        <p:spPr>
          <a:xfrm>
            <a:off x="9765792" y="2121408"/>
            <a:ext cx="512064" cy="512064"/>
          </a:xfrm>
          <a:prstGeom prst="rect">
            <a:avLst/>
          </a:prstGeom>
          <a:solidFill>
            <a:srgbClr val="1C7293">
              <a:alpha val="41000"/>
            </a:srgbClr>
          </a:solidFill>
          <a:ln w="12700">
            <a:solidFill>
              <a:srgbClr val="FFFFFF"/>
            </a:solidFill>
            <a:prstDash val="solid"/>
          </a:ln>
        </p:spPr>
      </p:sp>
      <p:sp>
        <p:nvSpPr>
          <p:cNvPr id="26" name="Shape 24"/>
          <p:cNvSpPr/>
          <p:nvPr/>
        </p:nvSpPr>
        <p:spPr>
          <a:xfrm>
            <a:off x="10332720" y="2121408"/>
            <a:ext cx="512064" cy="512064"/>
          </a:xfrm>
          <a:prstGeom prst="rect">
            <a:avLst/>
          </a:prstGeom>
          <a:solidFill>
            <a:srgbClr val="1C7293">
              <a:alpha val="85000"/>
            </a:srgbClr>
          </a:solidFill>
          <a:ln w="12700">
            <a:solidFill>
              <a:srgbClr val="FFFFFF"/>
            </a:solidFill>
            <a:prstDash val="solid"/>
          </a:ln>
        </p:spPr>
      </p:sp>
      <p:sp>
        <p:nvSpPr>
          <p:cNvPr id="27" name="Shape 25"/>
          <p:cNvSpPr/>
          <p:nvPr/>
        </p:nvSpPr>
        <p:spPr>
          <a:xfrm>
            <a:off x="7498080" y="2688336"/>
            <a:ext cx="512064" cy="512064"/>
          </a:xfrm>
          <a:prstGeom prst="rect">
            <a:avLst/>
          </a:prstGeom>
          <a:solidFill>
            <a:srgbClr val="1C7293">
              <a:alpha val="41000"/>
            </a:srgbClr>
          </a:solidFill>
          <a:ln w="12700">
            <a:solidFill>
              <a:srgbClr val="FFFFFF"/>
            </a:solidFill>
            <a:prstDash val="solid"/>
          </a:ln>
        </p:spPr>
      </p:sp>
      <p:sp>
        <p:nvSpPr>
          <p:cNvPr id="28" name="Shape 26"/>
          <p:cNvSpPr/>
          <p:nvPr/>
        </p:nvSpPr>
        <p:spPr>
          <a:xfrm>
            <a:off x="8065008" y="2688336"/>
            <a:ext cx="512064" cy="512064"/>
          </a:xfrm>
          <a:prstGeom prst="rect">
            <a:avLst/>
          </a:prstGeom>
          <a:solidFill>
            <a:srgbClr val="1C7293">
              <a:alpha val="85000"/>
            </a:srgbClr>
          </a:solidFill>
          <a:ln w="12700">
            <a:solidFill>
              <a:srgbClr val="FFFFFF"/>
            </a:solidFill>
            <a:prstDash val="solid"/>
          </a:ln>
        </p:spPr>
      </p:sp>
      <p:sp>
        <p:nvSpPr>
          <p:cNvPr id="29" name="Shape 27"/>
          <p:cNvSpPr/>
          <p:nvPr/>
        </p:nvSpPr>
        <p:spPr>
          <a:xfrm>
            <a:off x="8631936" y="2688336"/>
            <a:ext cx="512064" cy="512064"/>
          </a:xfrm>
          <a:prstGeom prst="rect">
            <a:avLst/>
          </a:prstGeom>
          <a:solidFill>
            <a:srgbClr val="1C7293">
              <a:alpha val="63000"/>
            </a:srgbClr>
          </a:solidFill>
          <a:ln w="12700">
            <a:solidFill>
              <a:srgbClr val="FFFFFF"/>
            </a:solidFill>
            <a:prstDash val="solid"/>
          </a:ln>
        </p:spPr>
      </p:sp>
      <p:sp>
        <p:nvSpPr>
          <p:cNvPr id="30" name="Shape 28"/>
          <p:cNvSpPr/>
          <p:nvPr/>
        </p:nvSpPr>
        <p:spPr>
          <a:xfrm>
            <a:off x="9198864" y="2688336"/>
            <a:ext cx="512064" cy="512064"/>
          </a:xfrm>
          <a:prstGeom prst="rect">
            <a:avLst/>
          </a:prstGeom>
          <a:solidFill>
            <a:srgbClr val="1C7293">
              <a:alpha val="41000"/>
            </a:srgbClr>
          </a:solidFill>
          <a:ln w="12700">
            <a:solidFill>
              <a:srgbClr val="FFFFFF"/>
            </a:solidFill>
            <a:prstDash val="solid"/>
          </a:ln>
        </p:spPr>
      </p:sp>
      <p:sp>
        <p:nvSpPr>
          <p:cNvPr id="31" name="Shape 29"/>
          <p:cNvSpPr/>
          <p:nvPr/>
        </p:nvSpPr>
        <p:spPr>
          <a:xfrm>
            <a:off x="9765792" y="2688336"/>
            <a:ext cx="512064" cy="512064"/>
          </a:xfrm>
          <a:prstGeom prst="rect">
            <a:avLst/>
          </a:prstGeom>
          <a:solidFill>
            <a:srgbClr val="1C7293">
              <a:alpha val="85000"/>
            </a:srgbClr>
          </a:solidFill>
          <a:ln w="12700">
            <a:solidFill>
              <a:srgbClr val="FFFFFF"/>
            </a:solidFill>
            <a:prstDash val="solid"/>
          </a:ln>
        </p:spPr>
      </p:sp>
      <p:sp>
        <p:nvSpPr>
          <p:cNvPr id="32" name="Shape 30"/>
          <p:cNvSpPr/>
          <p:nvPr/>
        </p:nvSpPr>
        <p:spPr>
          <a:xfrm>
            <a:off x="10332720" y="2688336"/>
            <a:ext cx="512064" cy="512064"/>
          </a:xfrm>
          <a:prstGeom prst="rect">
            <a:avLst/>
          </a:prstGeom>
          <a:solidFill>
            <a:srgbClr val="1C7293">
              <a:alpha val="63000"/>
            </a:srgbClr>
          </a:solidFill>
          <a:ln w="12700">
            <a:solidFill>
              <a:srgbClr val="FFFFFF"/>
            </a:solidFill>
            <a:prstDash val="solid"/>
          </a:ln>
        </p:spPr>
      </p:sp>
      <p:sp>
        <p:nvSpPr>
          <p:cNvPr id="33" name="Shape 31"/>
          <p:cNvSpPr/>
          <p:nvPr/>
        </p:nvSpPr>
        <p:spPr>
          <a:xfrm>
            <a:off x="7498080" y="3255264"/>
            <a:ext cx="512064" cy="512064"/>
          </a:xfrm>
          <a:prstGeom prst="rect">
            <a:avLst/>
          </a:prstGeom>
          <a:solidFill>
            <a:srgbClr val="1C7293">
              <a:alpha val="85000"/>
            </a:srgbClr>
          </a:solidFill>
          <a:ln w="12700">
            <a:solidFill>
              <a:srgbClr val="FFFFFF"/>
            </a:solidFill>
            <a:prstDash val="solid"/>
          </a:ln>
        </p:spPr>
      </p:sp>
      <p:sp>
        <p:nvSpPr>
          <p:cNvPr id="34" name="Shape 32"/>
          <p:cNvSpPr/>
          <p:nvPr/>
        </p:nvSpPr>
        <p:spPr>
          <a:xfrm>
            <a:off x="8065008" y="3255264"/>
            <a:ext cx="512064" cy="512064"/>
          </a:xfrm>
          <a:prstGeom prst="rect">
            <a:avLst/>
          </a:prstGeom>
          <a:solidFill>
            <a:srgbClr val="1C7293">
              <a:alpha val="63000"/>
            </a:srgbClr>
          </a:solidFill>
          <a:ln w="12700">
            <a:solidFill>
              <a:srgbClr val="FFFFFF"/>
            </a:solidFill>
            <a:prstDash val="solid"/>
          </a:ln>
        </p:spPr>
      </p:sp>
      <p:sp>
        <p:nvSpPr>
          <p:cNvPr id="35" name="Shape 33"/>
          <p:cNvSpPr/>
          <p:nvPr/>
        </p:nvSpPr>
        <p:spPr>
          <a:xfrm>
            <a:off x="8631936" y="3255264"/>
            <a:ext cx="512064" cy="512064"/>
          </a:xfrm>
          <a:prstGeom prst="rect">
            <a:avLst/>
          </a:prstGeom>
          <a:solidFill>
            <a:srgbClr val="1C7293">
              <a:alpha val="41000"/>
            </a:srgbClr>
          </a:solidFill>
          <a:ln w="12700">
            <a:solidFill>
              <a:srgbClr val="FFFFFF"/>
            </a:solidFill>
            <a:prstDash val="solid"/>
          </a:ln>
        </p:spPr>
      </p:sp>
      <p:sp>
        <p:nvSpPr>
          <p:cNvPr id="36" name="Shape 34"/>
          <p:cNvSpPr/>
          <p:nvPr/>
        </p:nvSpPr>
        <p:spPr>
          <a:xfrm>
            <a:off x="9198864" y="3255264"/>
            <a:ext cx="512064" cy="512064"/>
          </a:xfrm>
          <a:prstGeom prst="rect">
            <a:avLst/>
          </a:prstGeom>
          <a:solidFill>
            <a:srgbClr val="1C7293">
              <a:alpha val="85000"/>
            </a:srgbClr>
          </a:solidFill>
          <a:ln w="12700">
            <a:solidFill>
              <a:srgbClr val="FFFFFF"/>
            </a:solidFill>
            <a:prstDash val="solid"/>
          </a:ln>
        </p:spPr>
      </p:sp>
      <p:sp>
        <p:nvSpPr>
          <p:cNvPr id="37" name="Shape 35"/>
          <p:cNvSpPr/>
          <p:nvPr/>
        </p:nvSpPr>
        <p:spPr>
          <a:xfrm>
            <a:off x="9765792" y="3255264"/>
            <a:ext cx="512064" cy="512064"/>
          </a:xfrm>
          <a:prstGeom prst="rect">
            <a:avLst/>
          </a:prstGeom>
          <a:solidFill>
            <a:srgbClr val="1C7293">
              <a:alpha val="63000"/>
            </a:srgbClr>
          </a:solidFill>
          <a:ln w="12700">
            <a:solidFill>
              <a:srgbClr val="FFFFFF"/>
            </a:solidFill>
            <a:prstDash val="solid"/>
          </a:ln>
        </p:spPr>
      </p:sp>
      <p:sp>
        <p:nvSpPr>
          <p:cNvPr id="38" name="Shape 36"/>
          <p:cNvSpPr/>
          <p:nvPr/>
        </p:nvSpPr>
        <p:spPr>
          <a:xfrm>
            <a:off x="10332720" y="3255264"/>
            <a:ext cx="512064" cy="512064"/>
          </a:xfrm>
          <a:prstGeom prst="rect">
            <a:avLst/>
          </a:prstGeom>
          <a:solidFill>
            <a:srgbClr val="1C7293">
              <a:alpha val="41000"/>
            </a:srgbClr>
          </a:solidFill>
          <a:ln w="12700">
            <a:solidFill>
              <a:srgbClr val="FFFFFF"/>
            </a:solidFill>
            <a:prstDash val="solid"/>
          </a:ln>
        </p:spPr>
      </p:sp>
      <p:sp>
        <p:nvSpPr>
          <p:cNvPr id="39" name="Shape 37"/>
          <p:cNvSpPr/>
          <p:nvPr/>
        </p:nvSpPr>
        <p:spPr>
          <a:xfrm>
            <a:off x="7498080" y="3822192"/>
            <a:ext cx="512064" cy="512064"/>
          </a:xfrm>
          <a:prstGeom prst="rect">
            <a:avLst/>
          </a:prstGeom>
          <a:solidFill>
            <a:srgbClr val="1C7293">
              <a:alpha val="63000"/>
            </a:srgbClr>
          </a:solidFill>
          <a:ln w="12700">
            <a:solidFill>
              <a:srgbClr val="FFFFFF"/>
            </a:solidFill>
            <a:prstDash val="solid"/>
          </a:ln>
        </p:spPr>
      </p:sp>
      <p:sp>
        <p:nvSpPr>
          <p:cNvPr id="40" name="Shape 38"/>
          <p:cNvSpPr/>
          <p:nvPr/>
        </p:nvSpPr>
        <p:spPr>
          <a:xfrm>
            <a:off x="8065008" y="3822192"/>
            <a:ext cx="512064" cy="512064"/>
          </a:xfrm>
          <a:prstGeom prst="rect">
            <a:avLst/>
          </a:prstGeom>
          <a:solidFill>
            <a:srgbClr val="1C7293">
              <a:alpha val="41000"/>
            </a:srgbClr>
          </a:solidFill>
          <a:ln w="12700">
            <a:solidFill>
              <a:srgbClr val="FFFFFF"/>
            </a:solidFill>
            <a:prstDash val="solid"/>
          </a:ln>
        </p:spPr>
      </p:sp>
      <p:sp>
        <p:nvSpPr>
          <p:cNvPr id="41" name="Shape 39"/>
          <p:cNvSpPr/>
          <p:nvPr/>
        </p:nvSpPr>
        <p:spPr>
          <a:xfrm>
            <a:off x="8631936" y="3822192"/>
            <a:ext cx="512064" cy="512064"/>
          </a:xfrm>
          <a:prstGeom prst="rect">
            <a:avLst/>
          </a:prstGeom>
          <a:solidFill>
            <a:srgbClr val="1C7293">
              <a:alpha val="85000"/>
            </a:srgbClr>
          </a:solidFill>
          <a:ln w="12700">
            <a:solidFill>
              <a:srgbClr val="FFFFFF"/>
            </a:solidFill>
            <a:prstDash val="solid"/>
          </a:ln>
        </p:spPr>
      </p:sp>
      <p:sp>
        <p:nvSpPr>
          <p:cNvPr id="42" name="Shape 40"/>
          <p:cNvSpPr/>
          <p:nvPr/>
        </p:nvSpPr>
        <p:spPr>
          <a:xfrm>
            <a:off x="9198864" y="3822192"/>
            <a:ext cx="512064" cy="512064"/>
          </a:xfrm>
          <a:prstGeom prst="rect">
            <a:avLst/>
          </a:prstGeom>
          <a:solidFill>
            <a:srgbClr val="1C7293">
              <a:alpha val="63000"/>
            </a:srgbClr>
          </a:solidFill>
          <a:ln w="12700">
            <a:solidFill>
              <a:srgbClr val="FFFFFF"/>
            </a:solidFill>
            <a:prstDash val="solid"/>
          </a:ln>
        </p:spPr>
      </p:sp>
      <p:sp>
        <p:nvSpPr>
          <p:cNvPr id="43" name="Shape 41"/>
          <p:cNvSpPr/>
          <p:nvPr/>
        </p:nvSpPr>
        <p:spPr>
          <a:xfrm>
            <a:off x="9765792" y="3822192"/>
            <a:ext cx="512064" cy="512064"/>
          </a:xfrm>
          <a:prstGeom prst="rect">
            <a:avLst/>
          </a:prstGeom>
          <a:solidFill>
            <a:srgbClr val="1C7293">
              <a:alpha val="41000"/>
            </a:srgbClr>
          </a:solidFill>
          <a:ln w="12700">
            <a:solidFill>
              <a:srgbClr val="FFFFFF"/>
            </a:solidFill>
            <a:prstDash val="solid"/>
          </a:ln>
        </p:spPr>
      </p:sp>
      <p:sp>
        <p:nvSpPr>
          <p:cNvPr id="44" name="Shape 42"/>
          <p:cNvSpPr/>
          <p:nvPr/>
        </p:nvSpPr>
        <p:spPr>
          <a:xfrm>
            <a:off x="10332720" y="3822192"/>
            <a:ext cx="512064" cy="512064"/>
          </a:xfrm>
          <a:prstGeom prst="rect">
            <a:avLst/>
          </a:prstGeom>
          <a:solidFill>
            <a:srgbClr val="1C7293">
              <a:alpha val="85000"/>
            </a:srgbClr>
          </a:solidFill>
          <a:ln w="12700">
            <a:solidFill>
              <a:srgbClr val="FFFFFF"/>
            </a:solidFill>
            <a:prstDash val="solid"/>
          </a:ln>
        </p:spPr>
      </p:sp>
      <p:sp>
        <p:nvSpPr>
          <p:cNvPr id="45" name="Shape 43"/>
          <p:cNvSpPr/>
          <p:nvPr/>
        </p:nvSpPr>
        <p:spPr>
          <a:xfrm>
            <a:off x="7498080" y="4389120"/>
            <a:ext cx="512064" cy="512064"/>
          </a:xfrm>
          <a:prstGeom prst="rect">
            <a:avLst/>
          </a:prstGeom>
          <a:solidFill>
            <a:srgbClr val="1C7293">
              <a:alpha val="41000"/>
            </a:srgbClr>
          </a:solidFill>
          <a:ln w="12700">
            <a:solidFill>
              <a:srgbClr val="FFFFFF"/>
            </a:solidFill>
            <a:prstDash val="solid"/>
          </a:ln>
        </p:spPr>
      </p:sp>
      <p:sp>
        <p:nvSpPr>
          <p:cNvPr id="46" name="Shape 44"/>
          <p:cNvSpPr/>
          <p:nvPr/>
        </p:nvSpPr>
        <p:spPr>
          <a:xfrm>
            <a:off x="8065008" y="4389120"/>
            <a:ext cx="512064" cy="512064"/>
          </a:xfrm>
          <a:prstGeom prst="rect">
            <a:avLst/>
          </a:prstGeom>
          <a:solidFill>
            <a:srgbClr val="1C7293">
              <a:alpha val="85000"/>
            </a:srgbClr>
          </a:solidFill>
          <a:ln w="12700">
            <a:solidFill>
              <a:srgbClr val="FFFFFF"/>
            </a:solidFill>
            <a:prstDash val="solid"/>
          </a:ln>
        </p:spPr>
      </p:sp>
      <p:sp>
        <p:nvSpPr>
          <p:cNvPr id="47" name="Shape 45"/>
          <p:cNvSpPr/>
          <p:nvPr/>
        </p:nvSpPr>
        <p:spPr>
          <a:xfrm>
            <a:off x="8631936" y="4389120"/>
            <a:ext cx="512064" cy="512064"/>
          </a:xfrm>
          <a:prstGeom prst="rect">
            <a:avLst/>
          </a:prstGeom>
          <a:solidFill>
            <a:srgbClr val="1C7293">
              <a:alpha val="63000"/>
            </a:srgbClr>
          </a:solidFill>
          <a:ln w="12700">
            <a:solidFill>
              <a:srgbClr val="FFFFFF"/>
            </a:solidFill>
            <a:prstDash val="solid"/>
          </a:ln>
        </p:spPr>
      </p:sp>
      <p:sp>
        <p:nvSpPr>
          <p:cNvPr id="48" name="Shape 46"/>
          <p:cNvSpPr/>
          <p:nvPr/>
        </p:nvSpPr>
        <p:spPr>
          <a:xfrm>
            <a:off x="9198864" y="4389120"/>
            <a:ext cx="512064" cy="512064"/>
          </a:xfrm>
          <a:prstGeom prst="rect">
            <a:avLst/>
          </a:prstGeom>
          <a:solidFill>
            <a:srgbClr val="1C7293">
              <a:alpha val="41000"/>
            </a:srgbClr>
          </a:solidFill>
          <a:ln w="12700">
            <a:solidFill>
              <a:srgbClr val="FFFFFF"/>
            </a:solidFill>
            <a:prstDash val="solid"/>
          </a:ln>
        </p:spPr>
      </p:sp>
      <p:sp>
        <p:nvSpPr>
          <p:cNvPr id="49" name="Shape 47"/>
          <p:cNvSpPr/>
          <p:nvPr/>
        </p:nvSpPr>
        <p:spPr>
          <a:xfrm>
            <a:off x="9765792" y="4389120"/>
            <a:ext cx="512064" cy="512064"/>
          </a:xfrm>
          <a:prstGeom prst="rect">
            <a:avLst/>
          </a:prstGeom>
          <a:solidFill>
            <a:srgbClr val="1C7293">
              <a:alpha val="85000"/>
            </a:srgbClr>
          </a:solidFill>
          <a:ln w="12700">
            <a:solidFill>
              <a:srgbClr val="FFFFFF"/>
            </a:solidFill>
            <a:prstDash val="solid"/>
          </a:ln>
        </p:spPr>
      </p:sp>
      <p:sp>
        <p:nvSpPr>
          <p:cNvPr id="50" name="Shape 48"/>
          <p:cNvSpPr/>
          <p:nvPr/>
        </p:nvSpPr>
        <p:spPr>
          <a:xfrm>
            <a:off x="10332720" y="4389120"/>
            <a:ext cx="512064" cy="512064"/>
          </a:xfrm>
          <a:prstGeom prst="rect">
            <a:avLst/>
          </a:prstGeom>
          <a:solidFill>
            <a:srgbClr val="1C7293">
              <a:alpha val="63000"/>
            </a:srgbClr>
          </a:solidFill>
          <a:ln w="12700">
            <a:solidFill>
              <a:srgbClr val="FFFFFF"/>
            </a:solidFill>
            <a:prstDash val="solid"/>
          </a:ln>
        </p:spPr>
      </p:sp>
      <p:sp>
        <p:nvSpPr>
          <p:cNvPr id="51" name="Text 49"/>
          <p:cNvSpPr/>
          <p:nvPr/>
        </p:nvSpPr>
        <p:spPr>
          <a:xfrm>
            <a:off x="7498080" y="5047488"/>
            <a:ext cx="3401568" cy="320040"/>
          </a:xfrm>
          <a:prstGeom prst="rect">
            <a:avLst/>
          </a:prstGeom>
          <a:noFill/>
          <a:ln/>
        </p:spPr>
        <p:txBody>
          <a:bodyPr wrap="square" rtlCol="0" anchor="ctr"/>
          <a:lstStyle/>
          <a:p>
            <a:pPr algn="ctr" indent="0" marL="0">
              <a:buNone/>
            </a:pPr>
            <a:r>
              <a:rPr lang="en-US" sz="1100" i="1" dirty="0">
                <a:solidFill>
                  <a:srgbClr val="5A6B7B"/>
                </a:solidFill>
                <a:latin typeface="Calibri" pitchFamily="34" charset="0"/>
                <a:ea typeface="Calibri" pitchFamily="34" charset="-122"/>
                <a:cs typeface="Calibri" pitchFamily="34" charset="-120"/>
              </a:rPr>
              <a:t>image → patch grid → tokens</a:t>
            </a:r>
            <a:endParaRPr lang="en-US" sz="1100" dirty="0"/>
          </a:p>
        </p:txBody>
      </p:sp>
      <p:sp>
        <p:nvSpPr>
          <p:cNvPr id="52" name="Text 50"/>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MOTIVATION</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is Token Pruning?</a:t>
            </a:r>
            <a:endParaRPr lang="en-US" sz="2600" dirty="0"/>
          </a:p>
        </p:txBody>
      </p:sp>
      <p:sp>
        <p:nvSpPr>
          <p:cNvPr id="6" name="Text 4"/>
          <p:cNvSpPr/>
          <p:nvPr/>
        </p:nvSpPr>
        <p:spPr>
          <a:xfrm>
            <a:off x="640080" y="1371600"/>
            <a:ext cx="4572000" cy="365760"/>
          </a:xfrm>
          <a:prstGeom prst="rect">
            <a:avLst/>
          </a:prstGeom>
          <a:noFill/>
          <a:ln/>
        </p:spPr>
        <p:txBody>
          <a:bodyPr wrap="square"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Problem</a:t>
            </a:r>
            <a:endParaRPr lang="en-US" sz="1500" dirty="0"/>
          </a:p>
        </p:txBody>
      </p:sp>
      <p:sp>
        <p:nvSpPr>
          <p:cNvPr id="7" name="Text 5"/>
          <p:cNvSpPr/>
          <p:nvPr/>
        </p:nvSpPr>
        <p:spPr>
          <a:xfrm>
            <a:off x="640080" y="1783080"/>
            <a:ext cx="5852160" cy="4937760"/>
          </a:xfrm>
          <a:prstGeom prst="rect">
            <a:avLst/>
          </a:prstGeom>
          <a:noFill/>
          <a:ln/>
        </p:spPr>
        <p:txBody>
          <a:bodyPr wrap="square" rtlCol="0" anchor="t"/>
          <a:lstStyle/>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Many visual tokens are redundant</a:t>
            </a:r>
            <a:endParaRPr lang="en-US" sz="1500" dirty="0"/>
          </a:p>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High memory, compute &amp; latency</a:t>
            </a:r>
            <a:endParaRPr lang="en-US" sz="1500" dirty="0"/>
          </a:p>
        </p:txBody>
      </p:sp>
      <p:sp>
        <p:nvSpPr>
          <p:cNvPr id="8" name="Text 6"/>
          <p:cNvSpPr/>
          <p:nvPr/>
        </p:nvSpPr>
        <p:spPr>
          <a:xfrm>
            <a:off x="640080" y="2971800"/>
            <a:ext cx="4572000" cy="365760"/>
          </a:xfrm>
          <a:prstGeom prst="rect">
            <a:avLst/>
          </a:prstGeom>
          <a:noFill/>
          <a:ln/>
        </p:spPr>
        <p:txBody>
          <a:bodyPr wrap="square"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Goal</a:t>
            </a:r>
            <a:endParaRPr lang="en-US" sz="1500" dirty="0"/>
          </a:p>
        </p:txBody>
      </p:sp>
      <p:sp>
        <p:nvSpPr>
          <p:cNvPr id="9" name="Text 7"/>
          <p:cNvSpPr/>
          <p:nvPr/>
        </p:nvSpPr>
        <p:spPr>
          <a:xfrm>
            <a:off x="640080" y="3383280"/>
            <a:ext cx="5852160" cy="4937760"/>
          </a:xfrm>
          <a:prstGeom prst="rect">
            <a:avLst/>
          </a:prstGeom>
          <a:noFill/>
          <a:ln/>
        </p:spPr>
        <p:txBody>
          <a:bodyPr wrap="square" rtlCol="0" anchor="t"/>
          <a:lstStyle/>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Keep the important tokens</a:t>
            </a:r>
            <a:endParaRPr lang="en-US" sz="1500" dirty="0"/>
          </a:p>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Drop the redundant ones</a:t>
            </a:r>
            <a:endParaRPr lang="en-US" sz="1500" dirty="0"/>
          </a:p>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 faster, lighter, cheaper inference</a:t>
            </a:r>
            <a:endParaRPr lang="en-US" sz="1500" dirty="0"/>
          </a:p>
        </p:txBody>
      </p:sp>
      <p:sp>
        <p:nvSpPr>
          <p:cNvPr id="10" name="Shape 8"/>
          <p:cNvSpPr/>
          <p:nvPr/>
        </p:nvSpPr>
        <p:spPr>
          <a:xfrm>
            <a:off x="7406640" y="1554480"/>
            <a:ext cx="4206240" cy="4114800"/>
          </a:xfrm>
          <a:prstGeom prst="roundRect">
            <a:avLst>
              <a:gd name="adj" fmla="val 1778"/>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1" name="Text 9"/>
          <p:cNvSpPr/>
          <p:nvPr/>
        </p:nvSpPr>
        <p:spPr>
          <a:xfrm>
            <a:off x="7406640" y="1828800"/>
            <a:ext cx="4206240" cy="91440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576</a:t>
            </a:r>
            <a:endParaRPr lang="en-US" sz="5200" dirty="0"/>
          </a:p>
        </p:txBody>
      </p:sp>
      <p:sp>
        <p:nvSpPr>
          <p:cNvPr id="12" name="Text 10"/>
          <p:cNvSpPr/>
          <p:nvPr/>
        </p:nvSpPr>
        <p:spPr>
          <a:xfrm>
            <a:off x="7406640" y="2697480"/>
            <a:ext cx="4206240" cy="365760"/>
          </a:xfrm>
          <a:prstGeom prst="rect">
            <a:avLst/>
          </a:prstGeom>
          <a:noFill/>
          <a:ln/>
        </p:spPr>
        <p:txBody>
          <a:bodyPr wrap="square" rtlCol="0" anchor="ctr"/>
          <a:lstStyle/>
          <a:p>
            <a:pPr algn="ctr" indent="0" marL="0">
              <a:buNone/>
            </a:pPr>
            <a:r>
              <a:rPr lang="en-US" sz="1300" dirty="0">
                <a:solidFill>
                  <a:srgbClr val="CFE3F2"/>
                </a:solidFill>
                <a:latin typeface="Calibri" pitchFamily="34" charset="0"/>
                <a:ea typeface="Calibri" pitchFamily="34" charset="-122"/>
                <a:cs typeface="Calibri" pitchFamily="34" charset="-120"/>
              </a:rPr>
              <a:t>visual tokens</a:t>
            </a:r>
            <a:endParaRPr lang="en-US" sz="1300" dirty="0"/>
          </a:p>
        </p:txBody>
      </p:sp>
      <p:sp>
        <p:nvSpPr>
          <p:cNvPr id="13" name="Text 11"/>
          <p:cNvSpPr/>
          <p:nvPr/>
        </p:nvSpPr>
        <p:spPr>
          <a:xfrm>
            <a:off x="7406640" y="3154680"/>
            <a:ext cx="4206240" cy="457200"/>
          </a:xfrm>
          <a:prstGeom prst="rect">
            <a:avLst/>
          </a:prstGeom>
          <a:noFill/>
          <a:ln/>
        </p:spPr>
        <p:txBody>
          <a:bodyPr wrap="square" rtlCol="0" anchor="ctr"/>
          <a:lstStyle/>
          <a:p>
            <a:pPr algn="ctr" indent="0" marL="0">
              <a:buNone/>
            </a:pPr>
            <a:r>
              <a:rPr lang="en-US" sz="2400" dirty="0">
                <a:solidFill>
                  <a:srgbClr val="29C7AC"/>
                </a:solidFill>
              </a:rPr>
              <a:t>▼</a:t>
            </a:r>
            <a:endParaRPr lang="en-US" sz="2400" dirty="0"/>
          </a:p>
        </p:txBody>
      </p:sp>
      <p:sp>
        <p:nvSpPr>
          <p:cNvPr id="14" name="Text 12"/>
          <p:cNvSpPr/>
          <p:nvPr/>
        </p:nvSpPr>
        <p:spPr>
          <a:xfrm>
            <a:off x="7406640" y="3657600"/>
            <a:ext cx="4206240" cy="914400"/>
          </a:xfrm>
          <a:prstGeom prst="rect">
            <a:avLst/>
          </a:prstGeom>
          <a:noFill/>
          <a:ln/>
        </p:spPr>
        <p:txBody>
          <a:bodyPr wrap="square" rtlCol="0" anchor="ctr"/>
          <a:lstStyle/>
          <a:p>
            <a:pPr algn="ctr" indent="0" marL="0">
              <a:buNone/>
            </a:pPr>
            <a:r>
              <a:rPr lang="en-US" sz="5200" b="1" dirty="0">
                <a:solidFill>
                  <a:srgbClr val="29C7AC"/>
                </a:solidFill>
                <a:latin typeface="Georgia" pitchFamily="34" charset="0"/>
                <a:ea typeface="Georgia" pitchFamily="34" charset="-122"/>
                <a:cs typeface="Georgia" pitchFamily="34" charset="-120"/>
              </a:rPr>
              <a:t>~128</a:t>
            </a:r>
            <a:endParaRPr lang="en-US" sz="5200" dirty="0"/>
          </a:p>
        </p:txBody>
      </p:sp>
      <p:sp>
        <p:nvSpPr>
          <p:cNvPr id="15" name="Text 13"/>
          <p:cNvSpPr/>
          <p:nvPr/>
        </p:nvSpPr>
        <p:spPr>
          <a:xfrm>
            <a:off x="7406640" y="4526280"/>
            <a:ext cx="4206240" cy="365760"/>
          </a:xfrm>
          <a:prstGeom prst="rect">
            <a:avLst/>
          </a:prstGeom>
          <a:noFill/>
          <a:ln/>
        </p:spPr>
        <p:txBody>
          <a:bodyPr wrap="square" rtlCol="0" anchor="ctr"/>
          <a:lstStyle/>
          <a:p>
            <a:pPr algn="ctr" indent="0" marL="0">
              <a:buNone/>
            </a:pPr>
            <a:r>
              <a:rPr lang="en-US" sz="1300" dirty="0">
                <a:solidFill>
                  <a:srgbClr val="CFE3F2"/>
                </a:solidFill>
                <a:latin typeface="Calibri" pitchFamily="34" charset="0"/>
                <a:ea typeface="Calibri" pitchFamily="34" charset="-122"/>
                <a:cs typeface="Calibri" pitchFamily="34" charset="-120"/>
              </a:rPr>
              <a:t>after pruning</a:t>
            </a:r>
            <a:endParaRPr lang="en-US" sz="1300" dirty="0"/>
          </a:p>
        </p:txBody>
      </p:sp>
      <p:sp>
        <p:nvSpPr>
          <p:cNvPr id="16" name="Text 14"/>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THE METHOD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is Balanced Token Pruning?</a:t>
            </a:r>
            <a:endParaRPr lang="en-US" sz="2600" dirty="0"/>
          </a:p>
        </p:txBody>
      </p:sp>
      <p:sp>
        <p:nvSpPr>
          <p:cNvPr id="6" name="Text 4"/>
          <p:cNvSpPr/>
          <p:nvPr/>
        </p:nvSpPr>
        <p:spPr>
          <a:xfrm>
            <a:off x="640080" y="1554480"/>
            <a:ext cx="5394960" cy="4937760"/>
          </a:xfrm>
          <a:prstGeom prst="rect">
            <a:avLst/>
          </a:prstGeom>
          <a:noFill/>
          <a:ln/>
        </p:spPr>
        <p:txBody>
          <a:bodyPr wrap="square" rtlCol="0" anchor="t"/>
          <a:lstStyle/>
          <a:p>
            <a:pPr marL="228600" indent="-228600">
              <a:spcAft>
                <a:spcPts val="1100"/>
              </a:spcAft>
              <a:buSzPct val="100000"/>
              <a:buChar char="•"/>
            </a:pPr>
            <a:r>
              <a:rPr lang="en-US" sz="1600" b="1" dirty="0">
                <a:solidFill>
                  <a:srgbClr val="16222E"/>
                </a:solidFill>
                <a:latin typeface="Calibri" pitchFamily="34" charset="0"/>
                <a:ea typeface="Calibri" pitchFamily="34" charset="-122"/>
                <a:cs typeface="Calibri" pitchFamily="34" charset="-120"/>
              </a:rPr>
              <a:t>BTP blends two selection signals</a:t>
            </a:r>
            <a:endParaRPr lang="en-US" sz="1600" dirty="0"/>
          </a:p>
          <a:p>
            <a:pPr marL="228600" indent="-228600">
              <a:spcAft>
                <a:spcPts val="1100"/>
              </a:spcAft>
              <a:buSzPct val="100000"/>
              <a:buChar char="•"/>
            </a:pPr>
            <a:r>
              <a:rPr lang="en-US" sz="1600" dirty="0">
                <a:solidFill>
                  <a:srgbClr val="1C7293"/>
                </a:solidFill>
                <a:latin typeface="Calibri" pitchFamily="34" charset="0"/>
                <a:ea typeface="Calibri" pitchFamily="34" charset="-122"/>
                <a:cs typeface="Calibri" pitchFamily="34" charset="-120"/>
              </a:rPr>
              <a:t>Attention — what the model looks at</a:t>
            </a:r>
            <a:endParaRPr lang="en-US" sz="1600" dirty="0"/>
          </a:p>
          <a:p>
            <a:pPr marL="228600" indent="-228600">
              <a:spcAft>
                <a:spcPts val="1100"/>
              </a:spcAft>
              <a:buSzPct val="100000"/>
              <a:buChar char="•"/>
            </a:pPr>
            <a:r>
              <a:rPr lang="en-US" sz="1600" dirty="0">
                <a:solidFill>
                  <a:srgbClr val="1C7293"/>
                </a:solidFill>
                <a:latin typeface="Calibri" pitchFamily="34" charset="0"/>
                <a:ea typeface="Calibri" pitchFamily="34" charset="-122"/>
                <a:cs typeface="Calibri" pitchFamily="34" charset="-120"/>
              </a:rPr>
              <a:t>Diversity — keep a varied, non-duplicate set</a:t>
            </a:r>
            <a:endParaRPr lang="en-US" sz="1600" dirty="0"/>
          </a:p>
          <a:p>
            <a:pPr marL="228600" indent="-228600">
              <a:spcAft>
                <a:spcPts val="1100"/>
              </a:spcAft>
              <a:buSzPct val="100000"/>
              <a:buChar char="•"/>
            </a:pPr>
            <a:r>
              <a:rPr lang="en-US" sz="1600" b="1" dirty="0">
                <a:solidFill>
                  <a:srgbClr val="16222E"/>
                </a:solidFill>
                <a:latin typeface="Calibri" pitchFamily="34" charset="0"/>
                <a:ea typeface="Calibri" pitchFamily="34" charset="-122"/>
                <a:cs typeface="Calibri" pitchFamily="34" charset="-120"/>
              </a:rPr>
              <a:t>Goal: preserve information, keep accuracy</a:t>
            </a:r>
            <a:endParaRPr lang="en-US" sz="1600" dirty="0"/>
          </a:p>
        </p:txBody>
      </p:sp>
      <p:sp>
        <p:nvSpPr>
          <p:cNvPr id="7" name="Shape 5"/>
          <p:cNvSpPr/>
          <p:nvPr/>
        </p:nvSpPr>
        <p:spPr>
          <a:xfrm>
            <a:off x="6675120" y="1508760"/>
            <a:ext cx="4937760" cy="4389120"/>
          </a:xfrm>
          <a:prstGeom prst="roundRect">
            <a:avLst>
              <a:gd name="adj" fmla="val 1667"/>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8" name="Shape 6"/>
          <p:cNvSpPr/>
          <p:nvPr/>
        </p:nvSpPr>
        <p:spPr>
          <a:xfrm>
            <a:off x="7132320" y="1874520"/>
            <a:ext cx="1828800" cy="420624"/>
          </a:xfrm>
          <a:prstGeom prst="roundRect">
            <a:avLst>
              <a:gd name="adj" fmla="val 50000"/>
            </a:avLst>
          </a:prstGeom>
          <a:solidFill>
            <a:srgbClr val="1C7293"/>
          </a:solidFill>
          <a:ln/>
        </p:spPr>
      </p:sp>
      <p:sp>
        <p:nvSpPr>
          <p:cNvPr id="9" name="Text 7"/>
          <p:cNvSpPr/>
          <p:nvPr/>
        </p:nvSpPr>
        <p:spPr>
          <a:xfrm>
            <a:off x="7132320" y="1874520"/>
            <a:ext cx="182880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Attention</a:t>
            </a:r>
            <a:endParaRPr lang="en-US" sz="1300" dirty="0"/>
          </a:p>
        </p:txBody>
      </p:sp>
      <p:sp>
        <p:nvSpPr>
          <p:cNvPr id="10" name="Shape 8"/>
          <p:cNvSpPr/>
          <p:nvPr/>
        </p:nvSpPr>
        <p:spPr>
          <a:xfrm>
            <a:off x="9326880" y="1874520"/>
            <a:ext cx="1828800" cy="420624"/>
          </a:xfrm>
          <a:prstGeom prst="roundRect">
            <a:avLst>
              <a:gd name="adj" fmla="val 50000"/>
            </a:avLst>
          </a:prstGeom>
          <a:solidFill>
            <a:srgbClr val="977C0E"/>
          </a:solidFill>
          <a:ln/>
        </p:spPr>
      </p:sp>
      <p:sp>
        <p:nvSpPr>
          <p:cNvPr id="11" name="Text 9"/>
          <p:cNvSpPr/>
          <p:nvPr/>
        </p:nvSpPr>
        <p:spPr>
          <a:xfrm>
            <a:off x="9326880" y="1874520"/>
            <a:ext cx="182880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Diversity</a:t>
            </a:r>
            <a:endParaRPr lang="en-US" sz="1300" dirty="0"/>
          </a:p>
        </p:txBody>
      </p:sp>
      <p:sp>
        <p:nvSpPr>
          <p:cNvPr id="12" name="Text 10"/>
          <p:cNvSpPr/>
          <p:nvPr/>
        </p:nvSpPr>
        <p:spPr>
          <a:xfrm>
            <a:off x="7132320" y="2331720"/>
            <a:ext cx="1828800" cy="274320"/>
          </a:xfrm>
          <a:prstGeom prst="rect">
            <a:avLst/>
          </a:prstGeom>
          <a:noFill/>
          <a:ln/>
        </p:spPr>
        <p:txBody>
          <a:bodyPr wrap="square" rtlCol="0" anchor="ctr"/>
          <a:lstStyle/>
          <a:p>
            <a:pPr algn="ctr" indent="0" marL="0">
              <a:buNone/>
            </a:pPr>
            <a:r>
              <a:rPr lang="en-US" sz="1300" dirty="0">
                <a:solidFill>
                  <a:srgbClr val="CFE3F2"/>
                </a:solidFill>
              </a:rPr>
              <a:t>▼</a:t>
            </a:r>
            <a:endParaRPr lang="en-US" sz="1300" dirty="0"/>
          </a:p>
        </p:txBody>
      </p:sp>
      <p:sp>
        <p:nvSpPr>
          <p:cNvPr id="13" name="Text 11"/>
          <p:cNvSpPr/>
          <p:nvPr/>
        </p:nvSpPr>
        <p:spPr>
          <a:xfrm>
            <a:off x="9326880" y="2331720"/>
            <a:ext cx="1828800" cy="274320"/>
          </a:xfrm>
          <a:prstGeom prst="rect">
            <a:avLst/>
          </a:prstGeom>
          <a:noFill/>
          <a:ln/>
        </p:spPr>
        <p:txBody>
          <a:bodyPr wrap="square" rtlCol="0" anchor="ctr"/>
          <a:lstStyle/>
          <a:p>
            <a:pPr algn="ctr" indent="0" marL="0">
              <a:buNone/>
            </a:pPr>
            <a:r>
              <a:rPr lang="en-US" sz="1300" dirty="0">
                <a:solidFill>
                  <a:srgbClr val="CFE3F2"/>
                </a:solidFill>
              </a:rPr>
              <a:t>▼</a:t>
            </a:r>
            <a:endParaRPr lang="en-US" sz="1300" dirty="0"/>
          </a:p>
        </p:txBody>
      </p:sp>
      <p:sp>
        <p:nvSpPr>
          <p:cNvPr id="14" name="Shape 12"/>
          <p:cNvSpPr/>
          <p:nvPr/>
        </p:nvSpPr>
        <p:spPr>
          <a:xfrm>
            <a:off x="7406640" y="2743200"/>
            <a:ext cx="3474720" cy="731520"/>
          </a:xfrm>
          <a:prstGeom prst="roundRect">
            <a:avLst>
              <a:gd name="adj" fmla="val 10000"/>
            </a:avLst>
          </a:prstGeom>
          <a:solidFill>
            <a:srgbClr val="29C7AC"/>
          </a:solidFill>
          <a:ln/>
        </p:spPr>
      </p:sp>
      <p:sp>
        <p:nvSpPr>
          <p:cNvPr id="15" name="Text 13"/>
          <p:cNvSpPr/>
          <p:nvPr/>
        </p:nvSpPr>
        <p:spPr>
          <a:xfrm>
            <a:off x="7406640" y="2743200"/>
            <a:ext cx="3474720" cy="731520"/>
          </a:xfrm>
          <a:prstGeom prst="rect">
            <a:avLst/>
          </a:prstGeom>
          <a:noFill/>
          <a:ln/>
        </p:spPr>
        <p:txBody>
          <a:bodyPr wrap="square"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Balanced Token Set</a:t>
            </a:r>
            <a:endParaRPr lang="en-US" sz="1400" dirty="0"/>
          </a:p>
        </p:txBody>
      </p:sp>
      <p:sp>
        <p:nvSpPr>
          <p:cNvPr id="16" name="Text 14"/>
          <p:cNvSpPr/>
          <p:nvPr/>
        </p:nvSpPr>
        <p:spPr>
          <a:xfrm>
            <a:off x="6675120" y="3520440"/>
            <a:ext cx="4937760" cy="320040"/>
          </a:xfrm>
          <a:prstGeom prst="rect">
            <a:avLst/>
          </a:prstGeom>
          <a:noFill/>
          <a:ln/>
        </p:spPr>
        <p:txBody>
          <a:bodyPr wrap="square" rtlCol="0" anchor="ctr"/>
          <a:lstStyle/>
          <a:p>
            <a:pPr algn="ctr" indent="0" marL="0">
              <a:buNone/>
            </a:pPr>
            <a:r>
              <a:rPr lang="en-US" sz="1300" dirty="0">
                <a:solidFill>
                  <a:srgbClr val="CFE3F2"/>
                </a:solidFill>
              </a:rPr>
              <a:t>▼</a:t>
            </a:r>
            <a:endParaRPr lang="en-US" sz="1300" dirty="0"/>
          </a:p>
        </p:txBody>
      </p:sp>
      <p:sp>
        <p:nvSpPr>
          <p:cNvPr id="17" name="Shape 15"/>
          <p:cNvSpPr/>
          <p:nvPr/>
        </p:nvSpPr>
        <p:spPr>
          <a:xfrm>
            <a:off x="7406640" y="3931920"/>
            <a:ext cx="3474720" cy="731520"/>
          </a:xfrm>
          <a:prstGeom prst="roundRect">
            <a:avLst>
              <a:gd name="adj" fmla="val 10000"/>
            </a:avLst>
          </a:prstGeom>
          <a:solidFill>
            <a:srgbClr val="FFFFFF"/>
          </a:solidFill>
          <a:ln/>
        </p:spPr>
      </p:sp>
      <p:sp>
        <p:nvSpPr>
          <p:cNvPr id="18" name="Text 16"/>
          <p:cNvSpPr/>
          <p:nvPr/>
        </p:nvSpPr>
        <p:spPr>
          <a:xfrm>
            <a:off x="7406640" y="3931920"/>
            <a:ext cx="3474720" cy="731520"/>
          </a:xfrm>
          <a:prstGeom prst="rect">
            <a:avLst/>
          </a:prstGeom>
          <a:noFill/>
          <a:ln/>
        </p:spPr>
        <p:txBody>
          <a:bodyPr wrap="square" rtlCol="0" anchor="ctr"/>
          <a:lstStyle/>
          <a:p>
            <a:pPr algn="ctr" indent="0" marL="0">
              <a:buNone/>
            </a:pPr>
            <a:r>
              <a:rPr lang="en-US" sz="1400" b="1" dirty="0">
                <a:solidFill>
                  <a:srgbClr val="16222E"/>
                </a:solidFill>
                <a:latin typeface="Calibri" pitchFamily="34" charset="0"/>
                <a:ea typeface="Calibri" pitchFamily="34" charset="-122"/>
                <a:cs typeface="Calibri" pitchFamily="34" charset="-120"/>
              </a:rPr>
              <a:t>Pruned Tokens (~128)</a:t>
            </a:r>
            <a:endParaRPr lang="en-US" sz="1400" dirty="0"/>
          </a:p>
        </p:txBody>
      </p:sp>
      <p:sp>
        <p:nvSpPr>
          <p:cNvPr id="19" name="Text 17"/>
          <p:cNvSpPr/>
          <p:nvPr/>
        </p:nvSpPr>
        <p:spPr>
          <a:xfrm>
            <a:off x="6675120" y="5029200"/>
            <a:ext cx="4937760" cy="365760"/>
          </a:xfrm>
          <a:prstGeom prst="rect">
            <a:avLst/>
          </a:prstGeom>
          <a:noFill/>
          <a:ln/>
        </p:spPr>
        <p:txBody>
          <a:bodyPr wrap="square" rtlCol="0" anchor="ctr"/>
          <a:lstStyle/>
          <a:p>
            <a:pPr algn="ctr" indent="0" marL="0">
              <a:buNone/>
            </a:pPr>
            <a:r>
              <a:rPr lang="en-US" sz="1200" i="1" dirty="0">
                <a:solidFill>
                  <a:srgbClr val="CFE3F2"/>
                </a:solidFill>
                <a:latin typeface="Calibri" pitchFamily="34" charset="0"/>
                <a:ea typeface="Calibri" pitchFamily="34" charset="-122"/>
                <a:cs typeface="Calibri" pitchFamily="34" charset="-120"/>
              </a:rPr>
              <a:t>Prunes in STAGES across layers — not all at once.</a:t>
            </a:r>
            <a:endParaRPr lang="en-US" sz="1200" dirty="0"/>
          </a:p>
        </p:txBody>
      </p:sp>
      <p:sp>
        <p:nvSpPr>
          <p:cNvPr id="20" name="Text 18"/>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THE METHOD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BTP? — Paper Claims</a:t>
            </a:r>
            <a:endParaRPr lang="en-US" sz="2600" dirty="0"/>
          </a:p>
        </p:txBody>
      </p:sp>
      <p:sp>
        <p:nvSpPr>
          <p:cNvPr id="6" name="Shape 4"/>
          <p:cNvSpPr/>
          <p:nvPr/>
        </p:nvSpPr>
        <p:spPr>
          <a:xfrm>
            <a:off x="64008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Text 5"/>
          <p:cNvSpPr/>
          <p:nvPr/>
        </p:nvSpPr>
        <p:spPr>
          <a:xfrm>
            <a:off x="640080" y="1828800"/>
            <a:ext cx="2606040" cy="822960"/>
          </a:xfrm>
          <a:prstGeom prst="rect">
            <a:avLst/>
          </a:prstGeom>
          <a:noFill/>
          <a:ln/>
        </p:spPr>
        <p:txBody>
          <a:bodyPr wrap="square" rtlCol="0" anchor="ctr"/>
          <a:lstStyle/>
          <a:p>
            <a:pPr algn="ctr" indent="0" marL="0">
              <a:buNone/>
            </a:pPr>
            <a:r>
              <a:rPr lang="en-US" sz="3400" b="1" dirty="0">
                <a:solidFill>
                  <a:srgbClr val="1C7293"/>
                </a:solidFill>
                <a:latin typeface="Georgia" pitchFamily="34" charset="0"/>
                <a:ea typeface="Georgia" pitchFamily="34" charset="-122"/>
                <a:cs typeface="Georgia" pitchFamily="34" charset="-120"/>
              </a:rPr>
              <a:t>~78%</a:t>
            </a:r>
            <a:endParaRPr lang="en-US" sz="3400" dirty="0"/>
          </a:p>
        </p:txBody>
      </p:sp>
      <p:sp>
        <p:nvSpPr>
          <p:cNvPr id="8" name="Text 6"/>
          <p:cNvSpPr/>
          <p:nvPr/>
        </p:nvSpPr>
        <p:spPr>
          <a:xfrm>
            <a:off x="82296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FLOP reduction</a:t>
            </a:r>
            <a:endParaRPr lang="en-US" sz="1300" dirty="0"/>
          </a:p>
        </p:txBody>
      </p:sp>
      <p:sp>
        <p:nvSpPr>
          <p:cNvPr id="9" name="Shape 7"/>
          <p:cNvSpPr/>
          <p:nvPr/>
        </p:nvSpPr>
        <p:spPr>
          <a:xfrm>
            <a:off x="342900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0" name="Text 8"/>
          <p:cNvSpPr/>
          <p:nvPr/>
        </p:nvSpPr>
        <p:spPr>
          <a:xfrm>
            <a:off x="3429000" y="1828800"/>
            <a:ext cx="2606040" cy="822960"/>
          </a:xfrm>
          <a:prstGeom prst="rect">
            <a:avLst/>
          </a:prstGeom>
          <a:noFill/>
          <a:ln/>
        </p:spPr>
        <p:txBody>
          <a:bodyPr wrap="square" rtlCol="0" anchor="ctr"/>
          <a:lstStyle/>
          <a:p>
            <a:pPr algn="ctr" indent="0" marL="0">
              <a:buNone/>
            </a:pPr>
            <a:r>
              <a:rPr lang="en-US" sz="3400" b="1" dirty="0">
                <a:solidFill>
                  <a:srgbClr val="1E8E5A"/>
                </a:solidFill>
                <a:latin typeface="Georgia" pitchFamily="34" charset="0"/>
                <a:ea typeface="Georgia" pitchFamily="34" charset="-122"/>
                <a:cs typeface="Georgia" pitchFamily="34" charset="-120"/>
              </a:rPr>
              <a:t>~96–98%</a:t>
            </a:r>
            <a:endParaRPr lang="en-US" sz="3400" dirty="0"/>
          </a:p>
        </p:txBody>
      </p:sp>
      <p:sp>
        <p:nvSpPr>
          <p:cNvPr id="11" name="Text 9"/>
          <p:cNvSpPr/>
          <p:nvPr/>
        </p:nvSpPr>
        <p:spPr>
          <a:xfrm>
            <a:off x="361188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performance retained</a:t>
            </a:r>
            <a:endParaRPr lang="en-US" sz="1300" dirty="0"/>
          </a:p>
        </p:txBody>
      </p:sp>
      <p:sp>
        <p:nvSpPr>
          <p:cNvPr id="12" name="Shape 10"/>
          <p:cNvSpPr/>
          <p:nvPr/>
        </p:nvSpPr>
        <p:spPr>
          <a:xfrm>
            <a:off x="621792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3" name="Text 11"/>
          <p:cNvSpPr/>
          <p:nvPr/>
        </p:nvSpPr>
        <p:spPr>
          <a:xfrm>
            <a:off x="6217920" y="1828800"/>
            <a:ext cx="2606040" cy="822960"/>
          </a:xfrm>
          <a:prstGeom prst="rect">
            <a:avLst/>
          </a:prstGeom>
          <a:noFill/>
          <a:ln/>
        </p:spPr>
        <p:txBody>
          <a:bodyPr wrap="square" rtlCol="0" anchor="ctr"/>
          <a:lstStyle/>
          <a:p>
            <a:pPr algn="ctr" indent="0" marL="0">
              <a:buNone/>
            </a:pPr>
            <a:r>
              <a:rPr lang="en-US" sz="3400" b="1" dirty="0">
                <a:solidFill>
                  <a:srgbClr val="12355B"/>
                </a:solidFill>
                <a:latin typeface="Georgia" pitchFamily="34" charset="0"/>
                <a:ea typeface="Georgia" pitchFamily="34" charset="-122"/>
                <a:cs typeface="Georgia" pitchFamily="34" charset="-120"/>
              </a:rPr>
              <a:t>No</a:t>
            </a:r>
            <a:endParaRPr lang="en-US" sz="3400" dirty="0"/>
          </a:p>
        </p:txBody>
      </p:sp>
      <p:sp>
        <p:nvSpPr>
          <p:cNvPr id="14" name="Text 12"/>
          <p:cNvSpPr/>
          <p:nvPr/>
        </p:nvSpPr>
        <p:spPr>
          <a:xfrm>
            <a:off x="640080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retraining needed</a:t>
            </a:r>
            <a:endParaRPr lang="en-US" sz="1300" dirty="0"/>
          </a:p>
        </p:txBody>
      </p:sp>
      <p:sp>
        <p:nvSpPr>
          <p:cNvPr id="15" name="Shape 13"/>
          <p:cNvSpPr/>
          <p:nvPr/>
        </p:nvSpPr>
        <p:spPr>
          <a:xfrm>
            <a:off x="900684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6" name="Text 14"/>
          <p:cNvSpPr/>
          <p:nvPr/>
        </p:nvSpPr>
        <p:spPr>
          <a:xfrm>
            <a:off x="9006840" y="1828800"/>
            <a:ext cx="2606040" cy="822960"/>
          </a:xfrm>
          <a:prstGeom prst="rect">
            <a:avLst/>
          </a:prstGeom>
          <a:noFill/>
          <a:ln/>
        </p:spPr>
        <p:txBody>
          <a:bodyPr wrap="square" rtlCol="0" anchor="ctr"/>
          <a:lstStyle/>
          <a:p>
            <a:pPr algn="ctr" indent="0" marL="0">
              <a:buNone/>
            </a:pPr>
            <a:r>
              <a:rPr lang="en-US" sz="3400" b="1" dirty="0">
                <a:solidFill>
                  <a:srgbClr val="977C0E"/>
                </a:solidFill>
                <a:latin typeface="Georgia" pitchFamily="34" charset="0"/>
                <a:ea typeface="Georgia" pitchFamily="34" charset="-122"/>
                <a:cs typeface="Georgia" pitchFamily="34" charset="-120"/>
              </a:rPr>
              <a:t>Many</a:t>
            </a:r>
            <a:endParaRPr lang="en-US" sz="3400" dirty="0"/>
          </a:p>
        </p:txBody>
      </p:sp>
      <p:sp>
        <p:nvSpPr>
          <p:cNvPr id="17" name="Text 15"/>
          <p:cNvSpPr/>
          <p:nvPr/>
        </p:nvSpPr>
        <p:spPr>
          <a:xfrm>
            <a:off x="918972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VLMs supported</a:t>
            </a:r>
            <a:endParaRPr lang="en-US" sz="1300" dirty="0"/>
          </a:p>
        </p:txBody>
      </p:sp>
      <p:sp>
        <p:nvSpPr>
          <p:cNvPr id="18" name="Shape 16"/>
          <p:cNvSpPr/>
          <p:nvPr/>
        </p:nvSpPr>
        <p:spPr>
          <a:xfrm>
            <a:off x="640080" y="3749040"/>
            <a:ext cx="10881360" cy="2011680"/>
          </a:xfrm>
          <a:prstGeom prst="roundRect">
            <a:avLst>
              <a:gd name="adj" fmla="val 3636"/>
            </a:avLst>
          </a:prstGeom>
          <a:solidFill>
            <a:srgbClr val="F4F7F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9" name="Text 17"/>
          <p:cNvSpPr/>
          <p:nvPr/>
        </p:nvSpPr>
        <p:spPr>
          <a:xfrm>
            <a:off x="640080" y="3931920"/>
            <a:ext cx="1088136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Speed ↑   ·   Memory ↓   ·   Accuracy ≈ maintained</a:t>
            </a:r>
            <a:endParaRPr lang="en-US" sz="1600" dirty="0"/>
          </a:p>
        </p:txBody>
      </p:sp>
      <p:sp>
        <p:nvSpPr>
          <p:cNvPr id="20" name="Text 18"/>
          <p:cNvSpPr/>
          <p:nvPr/>
        </p:nvSpPr>
        <p:spPr>
          <a:xfrm>
            <a:off x="914400" y="4572000"/>
            <a:ext cx="3017520" cy="320040"/>
          </a:xfrm>
          <a:prstGeom prst="rect">
            <a:avLst/>
          </a:prstGeom>
          <a:noFill/>
          <a:ln/>
        </p:spPr>
        <p:txBody>
          <a:bodyPr wrap="square" rtlCol="0" anchor="ctr"/>
          <a:lstStyle/>
          <a:p>
            <a:pPr algn="l" indent="0" marL="0">
              <a:buNone/>
            </a:pPr>
            <a:r>
              <a:rPr lang="en-US" sz="1100" dirty="0">
                <a:solidFill>
                  <a:srgbClr val="16222E"/>
                </a:solidFill>
                <a:latin typeface="Calibri" pitchFamily="34" charset="0"/>
                <a:ea typeface="Calibri" pitchFamily="34" charset="-122"/>
                <a:cs typeface="Calibri" pitchFamily="34" charset="-120"/>
              </a:rPr>
              <a:t>Original</a:t>
            </a:r>
            <a:endParaRPr lang="en-US" sz="1100" dirty="0"/>
          </a:p>
        </p:txBody>
      </p:sp>
      <p:sp>
        <p:nvSpPr>
          <p:cNvPr id="21" name="Shape 19"/>
          <p:cNvSpPr/>
          <p:nvPr/>
        </p:nvSpPr>
        <p:spPr>
          <a:xfrm>
            <a:off x="4023360" y="4617720"/>
            <a:ext cx="6583680" cy="237744"/>
          </a:xfrm>
          <a:prstGeom prst="rect">
            <a:avLst/>
          </a:prstGeom>
          <a:solidFill>
            <a:srgbClr val="2B6CB0"/>
          </a:solidFill>
          <a:ln/>
        </p:spPr>
      </p:sp>
      <p:sp>
        <p:nvSpPr>
          <p:cNvPr id="22" name="Text 20"/>
          <p:cNvSpPr/>
          <p:nvPr/>
        </p:nvSpPr>
        <p:spPr>
          <a:xfrm>
            <a:off x="10698480" y="4572000"/>
            <a:ext cx="914400" cy="320040"/>
          </a:xfrm>
          <a:prstGeom prst="rect">
            <a:avLst/>
          </a:prstGeom>
          <a:noFill/>
          <a:ln/>
        </p:spPr>
        <p:txBody>
          <a:bodyPr wrap="square" rtlCol="0" anchor="ctr"/>
          <a:lstStyle/>
          <a:p>
            <a:pPr indent="0" marL="0">
              <a:buNone/>
            </a:pPr>
            <a:r>
              <a:rPr lang="en-US" sz="1100" b="1" dirty="0">
                <a:solidFill>
                  <a:srgbClr val="16222E"/>
                </a:solidFill>
                <a:latin typeface="Calibri" pitchFamily="34" charset="0"/>
                <a:ea typeface="Calibri" pitchFamily="34" charset="-122"/>
                <a:cs typeface="Calibri" pitchFamily="34" charset="-120"/>
              </a:rPr>
              <a:t>100%</a:t>
            </a:r>
            <a:endParaRPr lang="en-US" sz="1100" dirty="0"/>
          </a:p>
        </p:txBody>
      </p:sp>
      <p:sp>
        <p:nvSpPr>
          <p:cNvPr id="23" name="Text 21"/>
          <p:cNvSpPr/>
          <p:nvPr/>
        </p:nvSpPr>
        <p:spPr>
          <a:xfrm>
            <a:off x="914400" y="4956048"/>
            <a:ext cx="3017520" cy="320040"/>
          </a:xfrm>
          <a:prstGeom prst="rect">
            <a:avLst/>
          </a:prstGeom>
          <a:noFill/>
          <a:ln/>
        </p:spPr>
        <p:txBody>
          <a:bodyPr wrap="square" rtlCol="0" anchor="ctr"/>
          <a:lstStyle/>
          <a:p>
            <a:pPr algn="l" indent="0" marL="0">
              <a:buNone/>
            </a:pPr>
            <a:r>
              <a:rPr lang="en-US" sz="1100" dirty="0">
                <a:solidFill>
                  <a:srgbClr val="16222E"/>
                </a:solidFill>
                <a:latin typeface="Calibri" pitchFamily="34" charset="0"/>
                <a:ea typeface="Calibri" pitchFamily="34" charset="-122"/>
                <a:cs typeface="Calibri" pitchFamily="34" charset="-120"/>
              </a:rPr>
              <a:t>BTP — tokens kept</a:t>
            </a:r>
            <a:endParaRPr lang="en-US" sz="1100" dirty="0"/>
          </a:p>
        </p:txBody>
      </p:sp>
      <p:sp>
        <p:nvSpPr>
          <p:cNvPr id="24" name="Shape 22"/>
          <p:cNvSpPr/>
          <p:nvPr/>
        </p:nvSpPr>
        <p:spPr>
          <a:xfrm>
            <a:off x="4023360" y="5001768"/>
            <a:ext cx="1448410" cy="237744"/>
          </a:xfrm>
          <a:prstGeom prst="rect">
            <a:avLst/>
          </a:prstGeom>
          <a:solidFill>
            <a:srgbClr val="C0392B"/>
          </a:solidFill>
          <a:ln/>
        </p:spPr>
      </p:sp>
      <p:sp>
        <p:nvSpPr>
          <p:cNvPr id="25" name="Text 23"/>
          <p:cNvSpPr/>
          <p:nvPr/>
        </p:nvSpPr>
        <p:spPr>
          <a:xfrm>
            <a:off x="5563210" y="4956048"/>
            <a:ext cx="914400" cy="320040"/>
          </a:xfrm>
          <a:prstGeom prst="rect">
            <a:avLst/>
          </a:prstGeom>
          <a:noFill/>
          <a:ln/>
        </p:spPr>
        <p:txBody>
          <a:bodyPr wrap="square" rtlCol="0" anchor="ctr"/>
          <a:lstStyle/>
          <a:p>
            <a:pPr indent="0" marL="0">
              <a:buNone/>
            </a:pPr>
            <a:r>
              <a:rPr lang="en-US" sz="1100" b="1" dirty="0">
                <a:solidFill>
                  <a:srgbClr val="16222E"/>
                </a:solidFill>
                <a:latin typeface="Calibri" pitchFamily="34" charset="0"/>
                <a:ea typeface="Calibri" pitchFamily="34" charset="-122"/>
                <a:cs typeface="Calibri" pitchFamily="34" charset="-120"/>
              </a:rPr>
              <a:t>22%</a:t>
            </a:r>
            <a:endParaRPr lang="en-US" sz="1100" dirty="0"/>
          </a:p>
        </p:txBody>
      </p:sp>
      <p:sp>
        <p:nvSpPr>
          <p:cNvPr id="26" name="Text 24"/>
          <p:cNvSpPr/>
          <p:nvPr/>
        </p:nvSpPr>
        <p:spPr>
          <a:xfrm>
            <a:off x="914400" y="5340096"/>
            <a:ext cx="3017520" cy="320040"/>
          </a:xfrm>
          <a:prstGeom prst="rect">
            <a:avLst/>
          </a:prstGeom>
          <a:noFill/>
          <a:ln/>
        </p:spPr>
        <p:txBody>
          <a:bodyPr wrap="square" rtlCol="0" anchor="ctr"/>
          <a:lstStyle/>
          <a:p>
            <a:pPr algn="l" indent="0" marL="0">
              <a:buNone/>
            </a:pPr>
            <a:r>
              <a:rPr lang="en-US" sz="1100" dirty="0">
                <a:solidFill>
                  <a:srgbClr val="16222E"/>
                </a:solidFill>
                <a:latin typeface="Calibri" pitchFamily="34" charset="0"/>
                <a:ea typeface="Calibri" pitchFamily="34" charset="-122"/>
                <a:cs typeface="Calibri" pitchFamily="34" charset="-120"/>
              </a:rPr>
              <a:t>BTP — performance kept</a:t>
            </a:r>
            <a:endParaRPr lang="en-US" sz="1100" dirty="0"/>
          </a:p>
        </p:txBody>
      </p:sp>
      <p:sp>
        <p:nvSpPr>
          <p:cNvPr id="27" name="Shape 25"/>
          <p:cNvSpPr/>
          <p:nvPr/>
        </p:nvSpPr>
        <p:spPr>
          <a:xfrm>
            <a:off x="4023360" y="5385816"/>
            <a:ext cx="6386170" cy="237744"/>
          </a:xfrm>
          <a:prstGeom prst="rect">
            <a:avLst/>
          </a:prstGeom>
          <a:solidFill>
            <a:srgbClr val="1E8E5A"/>
          </a:solidFill>
          <a:ln/>
        </p:spPr>
      </p:sp>
      <p:sp>
        <p:nvSpPr>
          <p:cNvPr id="28" name="Text 26"/>
          <p:cNvSpPr/>
          <p:nvPr/>
        </p:nvSpPr>
        <p:spPr>
          <a:xfrm>
            <a:off x="10500970" y="5340096"/>
            <a:ext cx="914400" cy="320040"/>
          </a:xfrm>
          <a:prstGeom prst="rect">
            <a:avLst/>
          </a:prstGeom>
          <a:noFill/>
          <a:ln/>
        </p:spPr>
        <p:txBody>
          <a:bodyPr wrap="square" rtlCol="0" anchor="ctr"/>
          <a:lstStyle/>
          <a:p>
            <a:pPr indent="0" marL="0">
              <a:buNone/>
            </a:pPr>
            <a:r>
              <a:rPr lang="en-US" sz="1100" b="1" dirty="0">
                <a:solidFill>
                  <a:srgbClr val="16222E"/>
                </a:solidFill>
                <a:latin typeface="Calibri" pitchFamily="34" charset="0"/>
                <a:ea typeface="Calibri" pitchFamily="34" charset="-122"/>
                <a:cs typeface="Calibri" pitchFamily="34" charset="-120"/>
              </a:rPr>
              <a:t>97%</a:t>
            </a:r>
            <a:endParaRPr lang="en-US" sz="1100" dirty="0"/>
          </a:p>
        </p:txBody>
      </p:sp>
      <p:sp>
        <p:nvSpPr>
          <p:cNvPr id="29" name="Text 2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SCOPE</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Models Evaluated in the Paper</a:t>
            </a:r>
            <a:endParaRPr lang="en-US" sz="2600" dirty="0"/>
          </a:p>
        </p:txBody>
      </p:sp>
      <p:sp>
        <p:nvSpPr>
          <p:cNvPr id="6" name="Shape 4"/>
          <p:cNvSpPr/>
          <p:nvPr/>
        </p:nvSpPr>
        <p:spPr>
          <a:xfrm>
            <a:off x="640080" y="141732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640080" y="1417320"/>
            <a:ext cx="128016" cy="1828800"/>
          </a:xfrm>
          <a:prstGeom prst="rect">
            <a:avLst/>
          </a:prstGeom>
          <a:solidFill>
            <a:srgbClr val="2B6CB0"/>
          </a:solidFill>
          <a:ln/>
        </p:spPr>
      </p:sp>
      <p:sp>
        <p:nvSpPr>
          <p:cNvPr id="8" name="Text 6"/>
          <p:cNvSpPr/>
          <p:nvPr/>
        </p:nvSpPr>
        <p:spPr>
          <a:xfrm>
            <a:off x="1005840" y="1645920"/>
            <a:ext cx="3931920" cy="502920"/>
          </a:xfrm>
          <a:prstGeom prst="rect">
            <a:avLst/>
          </a:prstGeom>
          <a:noFill/>
          <a:ln/>
        </p:spPr>
        <p:txBody>
          <a:bodyPr wrap="square" rtlCol="0" anchor="ctr"/>
          <a:lstStyle/>
          <a:p>
            <a:pPr indent="0" marL="0">
              <a:buNone/>
            </a:pPr>
            <a:r>
              <a:rPr lang="en-US" sz="1800" b="1" dirty="0">
                <a:solidFill>
                  <a:srgbClr val="16222E"/>
                </a:solidFill>
                <a:latin typeface="Calibri" pitchFamily="34" charset="0"/>
                <a:ea typeface="Calibri" pitchFamily="34" charset="-122"/>
                <a:cs typeface="Calibri" pitchFamily="34" charset="-120"/>
              </a:rPr>
              <a:t>LLaVA-1.5-7B</a:t>
            </a:r>
            <a:endParaRPr lang="en-US" sz="1800" dirty="0"/>
          </a:p>
        </p:txBody>
      </p:sp>
      <p:sp>
        <p:nvSpPr>
          <p:cNvPr id="9" name="Shape 7"/>
          <p:cNvSpPr/>
          <p:nvPr/>
        </p:nvSpPr>
        <p:spPr>
          <a:xfrm>
            <a:off x="4663440" y="1691640"/>
            <a:ext cx="1097280" cy="420624"/>
          </a:xfrm>
          <a:prstGeom prst="roundRect">
            <a:avLst>
              <a:gd name="adj" fmla="val 50000"/>
            </a:avLst>
          </a:prstGeom>
          <a:solidFill>
            <a:srgbClr val="1C7293"/>
          </a:solidFill>
          <a:ln/>
        </p:spPr>
      </p:sp>
      <p:sp>
        <p:nvSpPr>
          <p:cNvPr id="10" name="Text 8"/>
          <p:cNvSpPr/>
          <p:nvPr/>
        </p:nvSpPr>
        <p:spPr>
          <a:xfrm>
            <a:off x="4663440" y="169164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B</a:t>
            </a:r>
            <a:endParaRPr lang="en-US" sz="1300" dirty="0"/>
          </a:p>
        </p:txBody>
      </p:sp>
      <p:sp>
        <p:nvSpPr>
          <p:cNvPr id="11" name="Text 9"/>
          <p:cNvSpPr/>
          <p:nvPr/>
        </p:nvSpPr>
        <p:spPr>
          <a:xfrm>
            <a:off x="1005840" y="228600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Most common baseline VLM</a:t>
            </a:r>
            <a:endParaRPr lang="en-US" sz="1300" dirty="0"/>
          </a:p>
        </p:txBody>
      </p:sp>
      <p:sp>
        <p:nvSpPr>
          <p:cNvPr id="12" name="Text 10"/>
          <p:cNvSpPr/>
          <p:nvPr/>
        </p:nvSpPr>
        <p:spPr>
          <a:xfrm>
            <a:off x="1005840" y="2743200"/>
            <a:ext cx="4754880" cy="365760"/>
          </a:xfrm>
          <a:prstGeom prst="rect">
            <a:avLst/>
          </a:prstGeom>
          <a:noFill/>
          <a:ln/>
        </p:spPr>
        <p:txBody>
          <a:bodyPr wrap="square" rtlCol="0" anchor="ctr"/>
          <a:lstStyle/>
          <a:p>
            <a:pPr indent="0" marL="0">
              <a:buNone/>
            </a:pPr>
            <a:r>
              <a:rPr lang="en-US" sz="1200" b="1" dirty="0">
                <a:solidFill>
                  <a:srgbClr val="1E8E5A"/>
                </a:solidFill>
                <a:latin typeface="Calibri" pitchFamily="34" charset="0"/>
                <a:ea typeface="Calibri" pitchFamily="34" charset="-122"/>
                <a:cs typeface="Calibri" pitchFamily="34" charset="-120"/>
              </a:rPr>
              <a:t>✓  Reproduced</a:t>
            </a:r>
            <a:endParaRPr lang="en-US" sz="1200" dirty="0"/>
          </a:p>
        </p:txBody>
      </p:sp>
      <p:sp>
        <p:nvSpPr>
          <p:cNvPr id="13" name="Shape 11"/>
          <p:cNvSpPr/>
          <p:nvPr/>
        </p:nvSpPr>
        <p:spPr>
          <a:xfrm>
            <a:off x="6309360" y="141732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4" name="Shape 12"/>
          <p:cNvSpPr/>
          <p:nvPr/>
        </p:nvSpPr>
        <p:spPr>
          <a:xfrm>
            <a:off x="6309360" y="1417320"/>
            <a:ext cx="128016" cy="1828800"/>
          </a:xfrm>
          <a:prstGeom prst="rect">
            <a:avLst/>
          </a:prstGeom>
          <a:solidFill>
            <a:srgbClr val="1C7293"/>
          </a:solidFill>
          <a:ln/>
        </p:spPr>
      </p:sp>
      <p:sp>
        <p:nvSpPr>
          <p:cNvPr id="15" name="Text 13"/>
          <p:cNvSpPr/>
          <p:nvPr/>
        </p:nvSpPr>
        <p:spPr>
          <a:xfrm>
            <a:off x="6675120" y="1645920"/>
            <a:ext cx="3931920" cy="502920"/>
          </a:xfrm>
          <a:prstGeom prst="rect">
            <a:avLst/>
          </a:prstGeom>
          <a:noFill/>
          <a:ln/>
        </p:spPr>
        <p:txBody>
          <a:bodyPr wrap="square" rtlCol="0" anchor="ctr"/>
          <a:lstStyle/>
          <a:p>
            <a:pPr indent="0" marL="0">
              <a:buNone/>
            </a:pPr>
            <a:r>
              <a:rPr lang="en-US" sz="1800" b="1" dirty="0">
                <a:solidFill>
                  <a:srgbClr val="16222E"/>
                </a:solidFill>
                <a:latin typeface="Calibri" pitchFamily="34" charset="0"/>
                <a:ea typeface="Calibri" pitchFamily="34" charset="-122"/>
                <a:cs typeface="Calibri" pitchFamily="34" charset="-120"/>
              </a:rPr>
              <a:t>LLaVA-1.5-13B</a:t>
            </a:r>
            <a:endParaRPr lang="en-US" sz="1800" dirty="0"/>
          </a:p>
        </p:txBody>
      </p:sp>
      <p:sp>
        <p:nvSpPr>
          <p:cNvPr id="16" name="Shape 14"/>
          <p:cNvSpPr/>
          <p:nvPr/>
        </p:nvSpPr>
        <p:spPr>
          <a:xfrm>
            <a:off x="10332720" y="1691640"/>
            <a:ext cx="1097280" cy="420624"/>
          </a:xfrm>
          <a:prstGeom prst="roundRect">
            <a:avLst>
              <a:gd name="adj" fmla="val 50000"/>
            </a:avLst>
          </a:prstGeom>
          <a:solidFill>
            <a:srgbClr val="1C7293"/>
          </a:solidFill>
          <a:ln/>
        </p:spPr>
      </p:sp>
      <p:sp>
        <p:nvSpPr>
          <p:cNvPr id="17" name="Text 15"/>
          <p:cNvSpPr/>
          <p:nvPr/>
        </p:nvSpPr>
        <p:spPr>
          <a:xfrm>
            <a:off x="10332720" y="169164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 B</a:t>
            </a:r>
            <a:endParaRPr lang="en-US" sz="1300" dirty="0"/>
          </a:p>
        </p:txBody>
      </p:sp>
      <p:sp>
        <p:nvSpPr>
          <p:cNvPr id="18" name="Text 16"/>
          <p:cNvSpPr/>
          <p:nvPr/>
        </p:nvSpPr>
        <p:spPr>
          <a:xfrm>
            <a:off x="6675120" y="228600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Larger LLaVA variant</a:t>
            </a:r>
            <a:endParaRPr lang="en-US" sz="1300" dirty="0"/>
          </a:p>
        </p:txBody>
      </p:sp>
      <p:sp>
        <p:nvSpPr>
          <p:cNvPr id="19" name="Text 17"/>
          <p:cNvSpPr/>
          <p:nvPr/>
        </p:nvSpPr>
        <p:spPr>
          <a:xfrm>
            <a:off x="6675120" y="2743200"/>
            <a:ext cx="4754880" cy="365760"/>
          </a:xfrm>
          <a:prstGeom prst="rect">
            <a:avLst/>
          </a:prstGeom>
          <a:noFill/>
          <a:ln/>
        </p:spPr>
        <p:txBody>
          <a:bodyPr wrap="square" rtlCol="0" anchor="ctr"/>
          <a:lstStyle/>
          <a:p>
            <a:pPr indent="0" marL="0">
              <a:buNone/>
            </a:pPr>
            <a:r>
              <a:rPr lang="en-US" sz="1200" b="1" dirty="0">
                <a:solidFill>
                  <a:srgbClr val="1E8E5A"/>
                </a:solidFill>
                <a:latin typeface="Calibri" pitchFamily="34" charset="0"/>
                <a:ea typeface="Calibri" pitchFamily="34" charset="-122"/>
                <a:cs typeface="Calibri" pitchFamily="34" charset="-120"/>
              </a:rPr>
              <a:t>✓  Reproduced</a:t>
            </a:r>
            <a:endParaRPr lang="en-US" sz="1200" dirty="0"/>
          </a:p>
        </p:txBody>
      </p:sp>
      <p:sp>
        <p:nvSpPr>
          <p:cNvPr id="20" name="Shape 18"/>
          <p:cNvSpPr/>
          <p:nvPr/>
        </p:nvSpPr>
        <p:spPr>
          <a:xfrm>
            <a:off x="640080" y="3520440"/>
            <a:ext cx="5394960" cy="1828800"/>
          </a:xfrm>
          <a:prstGeom prst="roundRect">
            <a:avLst>
              <a:gd name="adj" fmla="val 4000"/>
            </a:avLst>
          </a:prstGeom>
          <a:solidFill>
            <a:srgbClr val="F0F1F3"/>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21" name="Shape 19"/>
          <p:cNvSpPr/>
          <p:nvPr/>
        </p:nvSpPr>
        <p:spPr>
          <a:xfrm>
            <a:off x="640080" y="3520440"/>
            <a:ext cx="128016" cy="1828800"/>
          </a:xfrm>
          <a:prstGeom prst="rect">
            <a:avLst/>
          </a:prstGeom>
          <a:solidFill>
            <a:srgbClr val="9AA7B2"/>
          </a:solidFill>
          <a:ln/>
        </p:spPr>
      </p:sp>
      <p:sp>
        <p:nvSpPr>
          <p:cNvPr id="22" name="Text 20"/>
          <p:cNvSpPr/>
          <p:nvPr/>
        </p:nvSpPr>
        <p:spPr>
          <a:xfrm>
            <a:off x="1005840" y="3749040"/>
            <a:ext cx="3931920" cy="502920"/>
          </a:xfrm>
          <a:prstGeom prst="rect">
            <a:avLst/>
          </a:prstGeom>
          <a:noFill/>
          <a:ln/>
        </p:spPr>
        <p:txBody>
          <a:bodyPr wrap="square" rtlCol="0" anchor="ctr"/>
          <a:lstStyle/>
          <a:p>
            <a:pPr indent="0" marL="0">
              <a:buNone/>
            </a:pPr>
            <a:r>
              <a:rPr lang="en-US" sz="1800" b="1" dirty="0">
                <a:solidFill>
                  <a:srgbClr val="5A6B7B"/>
                </a:solidFill>
                <a:latin typeface="Calibri" pitchFamily="34" charset="0"/>
                <a:ea typeface="Calibri" pitchFamily="34" charset="-122"/>
                <a:cs typeface="Calibri" pitchFamily="34" charset="-120"/>
              </a:rPr>
              <a:t>LLaVA-1.6-7B</a:t>
            </a:r>
            <a:endParaRPr lang="en-US" sz="1800" dirty="0"/>
          </a:p>
        </p:txBody>
      </p:sp>
      <p:sp>
        <p:nvSpPr>
          <p:cNvPr id="23" name="Shape 21"/>
          <p:cNvSpPr/>
          <p:nvPr/>
        </p:nvSpPr>
        <p:spPr>
          <a:xfrm>
            <a:off x="4663440" y="3794760"/>
            <a:ext cx="1097280" cy="420624"/>
          </a:xfrm>
          <a:prstGeom prst="roundRect">
            <a:avLst>
              <a:gd name="adj" fmla="val 50000"/>
            </a:avLst>
          </a:prstGeom>
          <a:solidFill>
            <a:srgbClr val="9AA7B2"/>
          </a:solidFill>
          <a:ln/>
        </p:spPr>
      </p:sp>
      <p:sp>
        <p:nvSpPr>
          <p:cNvPr id="24" name="Text 22"/>
          <p:cNvSpPr/>
          <p:nvPr/>
        </p:nvSpPr>
        <p:spPr>
          <a:xfrm>
            <a:off x="4663440" y="379476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B</a:t>
            </a:r>
            <a:endParaRPr lang="en-US" sz="1300" dirty="0"/>
          </a:p>
        </p:txBody>
      </p:sp>
      <p:sp>
        <p:nvSpPr>
          <p:cNvPr id="25" name="Text 23"/>
          <p:cNvSpPr/>
          <p:nvPr/>
        </p:nvSpPr>
        <p:spPr>
          <a:xfrm>
            <a:off x="1005840" y="438912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NeXT — dynamic resolution</a:t>
            </a:r>
            <a:endParaRPr lang="en-US" sz="1300" dirty="0"/>
          </a:p>
        </p:txBody>
      </p:sp>
      <p:sp>
        <p:nvSpPr>
          <p:cNvPr id="26" name="Text 24"/>
          <p:cNvSpPr/>
          <p:nvPr/>
        </p:nvSpPr>
        <p:spPr>
          <a:xfrm>
            <a:off x="1005840" y="4846320"/>
            <a:ext cx="4754880" cy="36576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Code not released</a:t>
            </a:r>
            <a:endParaRPr lang="en-US" sz="1200" dirty="0"/>
          </a:p>
        </p:txBody>
      </p:sp>
      <p:sp>
        <p:nvSpPr>
          <p:cNvPr id="27" name="Shape 25"/>
          <p:cNvSpPr/>
          <p:nvPr/>
        </p:nvSpPr>
        <p:spPr>
          <a:xfrm>
            <a:off x="6309360" y="352044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28" name="Shape 26"/>
          <p:cNvSpPr/>
          <p:nvPr/>
        </p:nvSpPr>
        <p:spPr>
          <a:xfrm>
            <a:off x="6309360" y="3520440"/>
            <a:ext cx="128016" cy="1828800"/>
          </a:xfrm>
          <a:prstGeom prst="rect">
            <a:avLst/>
          </a:prstGeom>
          <a:solidFill>
            <a:srgbClr val="12355B"/>
          </a:solidFill>
          <a:ln/>
        </p:spPr>
      </p:sp>
      <p:sp>
        <p:nvSpPr>
          <p:cNvPr id="29" name="Text 27"/>
          <p:cNvSpPr/>
          <p:nvPr/>
        </p:nvSpPr>
        <p:spPr>
          <a:xfrm>
            <a:off x="6675120" y="3749040"/>
            <a:ext cx="3931920" cy="502920"/>
          </a:xfrm>
          <a:prstGeom prst="rect">
            <a:avLst/>
          </a:prstGeom>
          <a:noFill/>
          <a:ln/>
        </p:spPr>
        <p:txBody>
          <a:bodyPr wrap="square" rtlCol="0" anchor="ctr"/>
          <a:lstStyle/>
          <a:p>
            <a:pPr indent="0" marL="0">
              <a:buNone/>
            </a:pPr>
            <a:r>
              <a:rPr lang="en-US" sz="1800" b="1" dirty="0">
                <a:solidFill>
                  <a:srgbClr val="16222E"/>
                </a:solidFill>
                <a:latin typeface="Calibri" pitchFamily="34" charset="0"/>
                <a:ea typeface="Calibri" pitchFamily="34" charset="-122"/>
                <a:cs typeface="Calibri" pitchFamily="34" charset="-120"/>
              </a:rPr>
              <a:t>Qwen2.5-VL-7B</a:t>
            </a:r>
            <a:endParaRPr lang="en-US" sz="1800" dirty="0"/>
          </a:p>
        </p:txBody>
      </p:sp>
      <p:sp>
        <p:nvSpPr>
          <p:cNvPr id="30" name="Shape 28"/>
          <p:cNvSpPr/>
          <p:nvPr/>
        </p:nvSpPr>
        <p:spPr>
          <a:xfrm>
            <a:off x="10332720" y="3794760"/>
            <a:ext cx="1097280" cy="420624"/>
          </a:xfrm>
          <a:prstGeom prst="roundRect">
            <a:avLst>
              <a:gd name="adj" fmla="val 50000"/>
            </a:avLst>
          </a:prstGeom>
          <a:solidFill>
            <a:srgbClr val="1C7293"/>
          </a:solidFill>
          <a:ln/>
        </p:spPr>
      </p:sp>
      <p:sp>
        <p:nvSpPr>
          <p:cNvPr id="31" name="Text 29"/>
          <p:cNvSpPr/>
          <p:nvPr/>
        </p:nvSpPr>
        <p:spPr>
          <a:xfrm>
            <a:off x="10332720" y="379476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B</a:t>
            </a:r>
            <a:endParaRPr lang="en-US" sz="1300" dirty="0"/>
          </a:p>
        </p:txBody>
      </p:sp>
      <p:sp>
        <p:nvSpPr>
          <p:cNvPr id="32" name="Text 30"/>
          <p:cNvSpPr/>
          <p:nvPr/>
        </p:nvSpPr>
        <p:spPr>
          <a:xfrm>
            <a:off x="6675120" y="438912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Different model family</a:t>
            </a:r>
            <a:endParaRPr lang="en-US" sz="1300" dirty="0"/>
          </a:p>
        </p:txBody>
      </p:sp>
      <p:sp>
        <p:nvSpPr>
          <p:cNvPr id="33" name="Text 31"/>
          <p:cNvSpPr/>
          <p:nvPr/>
        </p:nvSpPr>
        <p:spPr>
          <a:xfrm>
            <a:off x="6675120" y="4846320"/>
            <a:ext cx="4754880" cy="365760"/>
          </a:xfrm>
          <a:prstGeom prst="rect">
            <a:avLst/>
          </a:prstGeom>
          <a:noFill/>
          <a:ln/>
        </p:spPr>
        <p:txBody>
          <a:bodyPr wrap="square" rtlCol="0" anchor="ctr"/>
          <a:lstStyle/>
          <a:p>
            <a:pPr indent="0" marL="0">
              <a:buNone/>
            </a:pPr>
            <a:r>
              <a:rPr lang="en-US" sz="1200" b="1" dirty="0">
                <a:solidFill>
                  <a:srgbClr val="1E8E5A"/>
                </a:solidFill>
                <a:latin typeface="Calibri" pitchFamily="34" charset="0"/>
                <a:ea typeface="Calibri" pitchFamily="34" charset="-122"/>
                <a:cs typeface="Calibri" pitchFamily="34" charset="-120"/>
              </a:rPr>
              <a:t>✓  Reproduced</a:t>
            </a:r>
            <a:endParaRPr lang="en-US" sz="1200" dirty="0"/>
          </a:p>
        </p:txBody>
      </p:sp>
      <p:sp>
        <p:nvSpPr>
          <p:cNvPr id="34" name="Text 3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SCOPE</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Evaluation Benchmarks</a:t>
            </a:r>
            <a:endParaRPr lang="en-US" sz="2600" dirty="0"/>
          </a:p>
        </p:txBody>
      </p:sp>
      <p:sp>
        <p:nvSpPr>
          <p:cNvPr id="6" name="Shape 4"/>
          <p:cNvSpPr/>
          <p:nvPr/>
        </p:nvSpPr>
        <p:spPr>
          <a:xfrm>
            <a:off x="640080" y="1417320"/>
            <a:ext cx="2926080" cy="566928"/>
          </a:xfrm>
          <a:prstGeom prst="rect">
            <a:avLst/>
          </a:prstGeom>
          <a:solidFill>
            <a:srgbClr val="0B1F3A"/>
          </a:solidFill>
          <a:ln w="12700">
            <a:solidFill>
              <a:srgbClr val="D7E1EC"/>
            </a:solidFill>
            <a:prstDash val="solid"/>
          </a:ln>
        </p:spPr>
      </p:sp>
      <p:sp>
        <p:nvSpPr>
          <p:cNvPr id="7" name="Text 5"/>
          <p:cNvSpPr/>
          <p:nvPr/>
        </p:nvSpPr>
        <p:spPr>
          <a:xfrm>
            <a:off x="777240" y="1417320"/>
            <a:ext cx="2697480" cy="56692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Benchmark</a:t>
            </a:r>
            <a:endParaRPr lang="en-US" sz="1350" dirty="0"/>
          </a:p>
        </p:txBody>
      </p:sp>
      <p:sp>
        <p:nvSpPr>
          <p:cNvPr id="8" name="Shape 6"/>
          <p:cNvSpPr/>
          <p:nvPr/>
        </p:nvSpPr>
        <p:spPr>
          <a:xfrm>
            <a:off x="3566160" y="1417320"/>
            <a:ext cx="8046720" cy="566928"/>
          </a:xfrm>
          <a:prstGeom prst="rect">
            <a:avLst/>
          </a:prstGeom>
          <a:solidFill>
            <a:srgbClr val="0B1F3A"/>
          </a:solidFill>
          <a:ln w="12700">
            <a:solidFill>
              <a:srgbClr val="D7E1EC"/>
            </a:solidFill>
            <a:prstDash val="solid"/>
          </a:ln>
        </p:spPr>
      </p:sp>
      <p:sp>
        <p:nvSpPr>
          <p:cNvPr id="9" name="Text 7"/>
          <p:cNvSpPr/>
          <p:nvPr/>
        </p:nvSpPr>
        <p:spPr>
          <a:xfrm>
            <a:off x="3703320" y="1417320"/>
            <a:ext cx="7818120" cy="56692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Purpose</a:t>
            </a:r>
            <a:endParaRPr lang="en-US" sz="1350" dirty="0"/>
          </a:p>
        </p:txBody>
      </p:sp>
      <p:sp>
        <p:nvSpPr>
          <p:cNvPr id="10" name="Shape 8"/>
          <p:cNvSpPr/>
          <p:nvPr/>
        </p:nvSpPr>
        <p:spPr>
          <a:xfrm>
            <a:off x="640080" y="1984248"/>
            <a:ext cx="2926080" cy="566928"/>
          </a:xfrm>
          <a:prstGeom prst="rect">
            <a:avLst/>
          </a:prstGeom>
          <a:solidFill>
            <a:srgbClr val="FFFFFF"/>
          </a:solidFill>
          <a:ln w="12700">
            <a:solidFill>
              <a:srgbClr val="D7E1EC"/>
            </a:solidFill>
            <a:prstDash val="solid"/>
          </a:ln>
        </p:spPr>
      </p:sp>
      <p:sp>
        <p:nvSpPr>
          <p:cNvPr id="11" name="Text 9"/>
          <p:cNvSpPr/>
          <p:nvPr/>
        </p:nvSpPr>
        <p:spPr>
          <a:xfrm>
            <a:off x="777240" y="1984248"/>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12" name="Shape 10"/>
          <p:cNvSpPr/>
          <p:nvPr/>
        </p:nvSpPr>
        <p:spPr>
          <a:xfrm>
            <a:off x="3566160" y="1984248"/>
            <a:ext cx="8046720" cy="566928"/>
          </a:xfrm>
          <a:prstGeom prst="rect">
            <a:avLst/>
          </a:prstGeom>
          <a:solidFill>
            <a:srgbClr val="FFFFFF"/>
          </a:solidFill>
          <a:ln w="12700">
            <a:solidFill>
              <a:srgbClr val="D7E1EC"/>
            </a:solidFill>
            <a:prstDash val="solid"/>
          </a:ln>
        </p:spPr>
      </p:sp>
      <p:sp>
        <p:nvSpPr>
          <p:cNvPr id="13" name="Text 11"/>
          <p:cNvSpPr/>
          <p:nvPr/>
        </p:nvSpPr>
        <p:spPr>
          <a:xfrm>
            <a:off x="3703320" y="1984248"/>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Object hallucination detection</a:t>
            </a:r>
            <a:endParaRPr lang="en-US" sz="1250" dirty="0"/>
          </a:p>
        </p:txBody>
      </p:sp>
      <p:sp>
        <p:nvSpPr>
          <p:cNvPr id="14" name="Shape 12"/>
          <p:cNvSpPr/>
          <p:nvPr/>
        </p:nvSpPr>
        <p:spPr>
          <a:xfrm>
            <a:off x="640080" y="2551176"/>
            <a:ext cx="2926080" cy="566928"/>
          </a:xfrm>
          <a:prstGeom prst="rect">
            <a:avLst/>
          </a:prstGeom>
          <a:solidFill>
            <a:srgbClr val="EAF1F8"/>
          </a:solidFill>
          <a:ln w="12700">
            <a:solidFill>
              <a:srgbClr val="D7E1EC"/>
            </a:solidFill>
            <a:prstDash val="solid"/>
          </a:ln>
        </p:spPr>
      </p:sp>
      <p:sp>
        <p:nvSpPr>
          <p:cNvPr id="15" name="Text 13"/>
          <p:cNvSpPr/>
          <p:nvPr/>
        </p:nvSpPr>
        <p:spPr>
          <a:xfrm>
            <a:off x="777240" y="2551176"/>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MME</a:t>
            </a:r>
            <a:endParaRPr lang="en-US" sz="1250" dirty="0"/>
          </a:p>
        </p:txBody>
      </p:sp>
      <p:sp>
        <p:nvSpPr>
          <p:cNvPr id="16" name="Shape 14"/>
          <p:cNvSpPr/>
          <p:nvPr/>
        </p:nvSpPr>
        <p:spPr>
          <a:xfrm>
            <a:off x="3566160" y="2551176"/>
            <a:ext cx="8046720" cy="566928"/>
          </a:xfrm>
          <a:prstGeom prst="rect">
            <a:avLst/>
          </a:prstGeom>
          <a:solidFill>
            <a:srgbClr val="EAF1F8"/>
          </a:solidFill>
          <a:ln w="12700">
            <a:solidFill>
              <a:srgbClr val="D7E1EC"/>
            </a:solidFill>
            <a:prstDash val="solid"/>
          </a:ln>
        </p:spPr>
      </p:sp>
      <p:sp>
        <p:nvSpPr>
          <p:cNvPr id="17" name="Text 15"/>
          <p:cNvSpPr/>
          <p:nvPr/>
        </p:nvSpPr>
        <p:spPr>
          <a:xfrm>
            <a:off x="3703320" y="2551176"/>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Perception &amp; cognition score</a:t>
            </a:r>
            <a:endParaRPr lang="en-US" sz="1250" dirty="0"/>
          </a:p>
        </p:txBody>
      </p:sp>
      <p:sp>
        <p:nvSpPr>
          <p:cNvPr id="18" name="Shape 16"/>
          <p:cNvSpPr/>
          <p:nvPr/>
        </p:nvSpPr>
        <p:spPr>
          <a:xfrm>
            <a:off x="640080" y="3118104"/>
            <a:ext cx="2926080" cy="566928"/>
          </a:xfrm>
          <a:prstGeom prst="rect">
            <a:avLst/>
          </a:prstGeom>
          <a:solidFill>
            <a:srgbClr val="FFFFFF"/>
          </a:solidFill>
          <a:ln w="12700">
            <a:solidFill>
              <a:srgbClr val="D7E1EC"/>
            </a:solidFill>
            <a:prstDash val="solid"/>
          </a:ln>
        </p:spPr>
      </p:sp>
      <p:sp>
        <p:nvSpPr>
          <p:cNvPr id="19" name="Text 17"/>
          <p:cNvSpPr/>
          <p:nvPr/>
        </p:nvSpPr>
        <p:spPr>
          <a:xfrm>
            <a:off x="777240" y="3118104"/>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20" name="Shape 18"/>
          <p:cNvSpPr/>
          <p:nvPr/>
        </p:nvSpPr>
        <p:spPr>
          <a:xfrm>
            <a:off x="3566160" y="3118104"/>
            <a:ext cx="8046720" cy="566928"/>
          </a:xfrm>
          <a:prstGeom prst="rect">
            <a:avLst/>
          </a:prstGeom>
          <a:solidFill>
            <a:srgbClr val="FFFFFF"/>
          </a:solidFill>
          <a:ln w="12700">
            <a:solidFill>
              <a:srgbClr val="D7E1EC"/>
            </a:solidFill>
            <a:prstDash val="solid"/>
          </a:ln>
        </p:spPr>
      </p:sp>
      <p:sp>
        <p:nvSpPr>
          <p:cNvPr id="21" name="Text 19"/>
          <p:cNvSpPr/>
          <p:nvPr/>
        </p:nvSpPr>
        <p:spPr>
          <a:xfrm>
            <a:off x="3703320" y="3118104"/>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General multimodal evaluation</a:t>
            </a:r>
            <a:endParaRPr lang="en-US" sz="1250" dirty="0"/>
          </a:p>
        </p:txBody>
      </p:sp>
      <p:sp>
        <p:nvSpPr>
          <p:cNvPr id="22" name="Shape 20"/>
          <p:cNvSpPr/>
          <p:nvPr/>
        </p:nvSpPr>
        <p:spPr>
          <a:xfrm>
            <a:off x="640080" y="3685032"/>
            <a:ext cx="2926080" cy="566928"/>
          </a:xfrm>
          <a:prstGeom prst="rect">
            <a:avLst/>
          </a:prstGeom>
          <a:solidFill>
            <a:srgbClr val="EAF1F8"/>
          </a:solidFill>
          <a:ln w="12700">
            <a:solidFill>
              <a:srgbClr val="D7E1EC"/>
            </a:solidFill>
            <a:prstDash val="solid"/>
          </a:ln>
        </p:spPr>
      </p:sp>
      <p:sp>
        <p:nvSpPr>
          <p:cNvPr id="23" name="Text 21"/>
          <p:cNvSpPr/>
          <p:nvPr/>
        </p:nvSpPr>
        <p:spPr>
          <a:xfrm>
            <a:off x="777240" y="3685032"/>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24" name="Shape 22"/>
          <p:cNvSpPr/>
          <p:nvPr/>
        </p:nvSpPr>
        <p:spPr>
          <a:xfrm>
            <a:off x="3566160" y="3685032"/>
            <a:ext cx="8046720" cy="566928"/>
          </a:xfrm>
          <a:prstGeom prst="rect">
            <a:avLst/>
          </a:prstGeom>
          <a:solidFill>
            <a:srgbClr val="EAF1F8"/>
          </a:solidFill>
          <a:ln w="12700">
            <a:solidFill>
              <a:srgbClr val="D7E1EC"/>
            </a:solidFill>
            <a:prstDash val="solid"/>
          </a:ln>
        </p:spPr>
      </p:sp>
      <p:sp>
        <p:nvSpPr>
          <p:cNvPr id="25" name="Text 23"/>
          <p:cNvSpPr/>
          <p:nvPr/>
        </p:nvSpPr>
        <p:spPr>
          <a:xfrm>
            <a:off x="3703320" y="3685032"/>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Compositional visual reasoning</a:t>
            </a:r>
            <a:endParaRPr lang="en-US" sz="1250" dirty="0"/>
          </a:p>
        </p:txBody>
      </p:sp>
      <p:sp>
        <p:nvSpPr>
          <p:cNvPr id="26" name="Shape 24"/>
          <p:cNvSpPr/>
          <p:nvPr/>
        </p:nvSpPr>
        <p:spPr>
          <a:xfrm>
            <a:off x="640080" y="4251960"/>
            <a:ext cx="2926080" cy="566928"/>
          </a:xfrm>
          <a:prstGeom prst="rect">
            <a:avLst/>
          </a:prstGeom>
          <a:solidFill>
            <a:srgbClr val="FFFFFF"/>
          </a:solidFill>
          <a:ln w="12700">
            <a:solidFill>
              <a:srgbClr val="D7E1EC"/>
            </a:solidFill>
            <a:prstDash val="solid"/>
          </a:ln>
        </p:spPr>
      </p:sp>
      <p:sp>
        <p:nvSpPr>
          <p:cNvPr id="27" name="Text 25"/>
          <p:cNvSpPr/>
          <p:nvPr/>
        </p:nvSpPr>
        <p:spPr>
          <a:xfrm>
            <a:off x="777240" y="4251960"/>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28" name="Shape 26"/>
          <p:cNvSpPr/>
          <p:nvPr/>
        </p:nvSpPr>
        <p:spPr>
          <a:xfrm>
            <a:off x="3566160" y="4251960"/>
            <a:ext cx="8046720" cy="566928"/>
          </a:xfrm>
          <a:prstGeom prst="rect">
            <a:avLst/>
          </a:prstGeom>
          <a:solidFill>
            <a:srgbClr val="FFFFFF"/>
          </a:solidFill>
          <a:ln w="12700">
            <a:solidFill>
              <a:srgbClr val="D7E1EC"/>
            </a:solidFill>
            <a:prstDash val="solid"/>
          </a:ln>
        </p:spPr>
      </p:sp>
      <p:sp>
        <p:nvSpPr>
          <p:cNvPr id="29" name="Text 27"/>
          <p:cNvSpPr/>
          <p:nvPr/>
        </p:nvSpPr>
        <p:spPr>
          <a:xfrm>
            <a:off x="3703320" y="4251960"/>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Science question answering</a:t>
            </a:r>
            <a:endParaRPr lang="en-US" sz="1250" dirty="0"/>
          </a:p>
        </p:txBody>
      </p:sp>
      <p:sp>
        <p:nvSpPr>
          <p:cNvPr id="30" name="Shape 28"/>
          <p:cNvSpPr/>
          <p:nvPr/>
        </p:nvSpPr>
        <p:spPr>
          <a:xfrm>
            <a:off x="640080" y="4818888"/>
            <a:ext cx="2926080" cy="566928"/>
          </a:xfrm>
          <a:prstGeom prst="rect">
            <a:avLst/>
          </a:prstGeom>
          <a:solidFill>
            <a:srgbClr val="EAF1F8"/>
          </a:solidFill>
          <a:ln w="12700">
            <a:solidFill>
              <a:srgbClr val="D7E1EC"/>
            </a:solidFill>
            <a:prstDash val="solid"/>
          </a:ln>
        </p:spPr>
      </p:sp>
      <p:sp>
        <p:nvSpPr>
          <p:cNvPr id="31" name="Text 29"/>
          <p:cNvSpPr/>
          <p:nvPr/>
        </p:nvSpPr>
        <p:spPr>
          <a:xfrm>
            <a:off x="777240" y="4818888"/>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TextVQA</a:t>
            </a:r>
            <a:endParaRPr lang="en-US" sz="1250" dirty="0"/>
          </a:p>
        </p:txBody>
      </p:sp>
      <p:sp>
        <p:nvSpPr>
          <p:cNvPr id="32" name="Shape 30"/>
          <p:cNvSpPr/>
          <p:nvPr/>
        </p:nvSpPr>
        <p:spPr>
          <a:xfrm>
            <a:off x="3566160" y="4818888"/>
            <a:ext cx="8046720" cy="566928"/>
          </a:xfrm>
          <a:prstGeom prst="rect">
            <a:avLst/>
          </a:prstGeom>
          <a:solidFill>
            <a:srgbClr val="EAF1F8"/>
          </a:solidFill>
          <a:ln w="12700">
            <a:solidFill>
              <a:srgbClr val="D7E1EC"/>
            </a:solidFill>
            <a:prstDash val="solid"/>
          </a:ln>
        </p:spPr>
      </p:sp>
      <p:sp>
        <p:nvSpPr>
          <p:cNvPr id="33" name="Text 31"/>
          <p:cNvSpPr/>
          <p:nvPr/>
        </p:nvSpPr>
        <p:spPr>
          <a:xfrm>
            <a:off x="3703320" y="4818888"/>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Reading text inside images</a:t>
            </a:r>
            <a:endParaRPr lang="en-US" sz="1250" dirty="0"/>
          </a:p>
        </p:txBody>
      </p:sp>
      <p:sp>
        <p:nvSpPr>
          <p:cNvPr id="34" name="Shape 32"/>
          <p:cNvSpPr/>
          <p:nvPr/>
        </p:nvSpPr>
        <p:spPr>
          <a:xfrm>
            <a:off x="640080" y="5385816"/>
            <a:ext cx="2926080" cy="566928"/>
          </a:xfrm>
          <a:prstGeom prst="rect">
            <a:avLst/>
          </a:prstGeom>
          <a:solidFill>
            <a:srgbClr val="FFFFFF"/>
          </a:solidFill>
          <a:ln w="12700">
            <a:solidFill>
              <a:srgbClr val="D7E1EC"/>
            </a:solidFill>
            <a:prstDash val="solid"/>
          </a:ln>
        </p:spPr>
      </p:sp>
      <p:sp>
        <p:nvSpPr>
          <p:cNvPr id="35" name="Text 33"/>
          <p:cNvSpPr/>
          <p:nvPr/>
        </p:nvSpPr>
        <p:spPr>
          <a:xfrm>
            <a:off x="777240" y="5385816"/>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SEED-Bench</a:t>
            </a:r>
            <a:endParaRPr lang="en-US" sz="1250" dirty="0"/>
          </a:p>
        </p:txBody>
      </p:sp>
      <p:sp>
        <p:nvSpPr>
          <p:cNvPr id="36" name="Shape 34"/>
          <p:cNvSpPr/>
          <p:nvPr/>
        </p:nvSpPr>
        <p:spPr>
          <a:xfrm>
            <a:off x="3566160" y="5385816"/>
            <a:ext cx="8046720" cy="566928"/>
          </a:xfrm>
          <a:prstGeom prst="rect">
            <a:avLst/>
          </a:prstGeom>
          <a:solidFill>
            <a:srgbClr val="FFFFFF"/>
          </a:solidFill>
          <a:ln w="12700">
            <a:solidFill>
              <a:srgbClr val="D7E1EC"/>
            </a:solidFill>
            <a:prstDash val="solid"/>
          </a:ln>
        </p:spPr>
      </p:sp>
      <p:sp>
        <p:nvSpPr>
          <p:cNvPr id="37" name="Text 35"/>
          <p:cNvSpPr/>
          <p:nvPr/>
        </p:nvSpPr>
        <p:spPr>
          <a:xfrm>
            <a:off x="3703320" y="5385816"/>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Large-scale comprehension</a:t>
            </a:r>
            <a:endParaRPr lang="en-US" sz="1250" dirty="0"/>
          </a:p>
        </p:txBody>
      </p:sp>
      <p:sp>
        <p:nvSpPr>
          <p:cNvPr id="38" name="Text 36"/>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SCOPE</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Paper Benchmarks vs Our Benchmarks</a:t>
            </a:r>
            <a:endParaRPr lang="en-US" sz="2600" dirty="0"/>
          </a:p>
        </p:txBody>
      </p:sp>
      <p:sp>
        <p:nvSpPr>
          <p:cNvPr id="6" name="Shape 4"/>
          <p:cNvSpPr/>
          <p:nvPr/>
        </p:nvSpPr>
        <p:spPr>
          <a:xfrm>
            <a:off x="640080" y="1463040"/>
            <a:ext cx="5394960" cy="4297680"/>
          </a:xfrm>
          <a:prstGeom prst="roundRect">
            <a:avLst>
              <a:gd name="adj" fmla="val 1702"/>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640080" y="1463040"/>
            <a:ext cx="5394960" cy="640080"/>
          </a:xfrm>
          <a:prstGeom prst="rect">
            <a:avLst/>
          </a:prstGeom>
          <a:solidFill>
            <a:srgbClr val="12355B"/>
          </a:solidFill>
          <a:ln/>
        </p:spPr>
      </p:sp>
      <p:sp>
        <p:nvSpPr>
          <p:cNvPr id="8" name="Text 6"/>
          <p:cNvSpPr/>
          <p:nvPr/>
        </p:nvSpPr>
        <p:spPr>
          <a:xfrm>
            <a:off x="640080" y="1463040"/>
            <a:ext cx="539496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Authors evaluated</a:t>
            </a:r>
            <a:endParaRPr lang="en-US" sz="1500" dirty="0"/>
          </a:p>
        </p:txBody>
      </p:sp>
      <p:sp>
        <p:nvSpPr>
          <p:cNvPr id="9" name="Text 7"/>
          <p:cNvSpPr/>
          <p:nvPr/>
        </p:nvSpPr>
        <p:spPr>
          <a:xfrm>
            <a:off x="1188720" y="233172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POPE</a:t>
            </a:r>
            <a:endParaRPr lang="en-US" sz="1500" dirty="0"/>
          </a:p>
        </p:txBody>
      </p:sp>
      <p:sp>
        <p:nvSpPr>
          <p:cNvPr id="10" name="Text 8"/>
          <p:cNvSpPr/>
          <p:nvPr/>
        </p:nvSpPr>
        <p:spPr>
          <a:xfrm>
            <a:off x="1188720" y="288036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MME</a:t>
            </a:r>
            <a:endParaRPr lang="en-US" sz="1500" dirty="0"/>
          </a:p>
        </p:txBody>
      </p:sp>
      <p:sp>
        <p:nvSpPr>
          <p:cNvPr id="11" name="Text 9"/>
          <p:cNvSpPr/>
          <p:nvPr/>
        </p:nvSpPr>
        <p:spPr>
          <a:xfrm>
            <a:off x="1188720" y="342900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MMBench</a:t>
            </a:r>
            <a:endParaRPr lang="en-US" sz="1500" dirty="0"/>
          </a:p>
        </p:txBody>
      </p:sp>
      <p:sp>
        <p:nvSpPr>
          <p:cNvPr id="12" name="Text 10"/>
          <p:cNvSpPr/>
          <p:nvPr/>
        </p:nvSpPr>
        <p:spPr>
          <a:xfrm>
            <a:off x="1188720" y="397764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GQA</a:t>
            </a:r>
            <a:endParaRPr lang="en-US" sz="1500" dirty="0"/>
          </a:p>
        </p:txBody>
      </p:sp>
      <p:sp>
        <p:nvSpPr>
          <p:cNvPr id="13" name="Text 11"/>
          <p:cNvSpPr/>
          <p:nvPr/>
        </p:nvSpPr>
        <p:spPr>
          <a:xfrm>
            <a:off x="1188720" y="452628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SQA</a:t>
            </a:r>
            <a:endParaRPr lang="en-US" sz="1500" dirty="0"/>
          </a:p>
        </p:txBody>
      </p:sp>
      <p:sp>
        <p:nvSpPr>
          <p:cNvPr id="14" name="Text 12"/>
          <p:cNvSpPr/>
          <p:nvPr/>
        </p:nvSpPr>
        <p:spPr>
          <a:xfrm>
            <a:off x="1188720" y="507492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MM-Vet</a:t>
            </a:r>
            <a:endParaRPr lang="en-US" sz="1500" dirty="0"/>
          </a:p>
        </p:txBody>
      </p:sp>
      <p:sp>
        <p:nvSpPr>
          <p:cNvPr id="15" name="Shape 13"/>
          <p:cNvSpPr/>
          <p:nvPr/>
        </p:nvSpPr>
        <p:spPr>
          <a:xfrm>
            <a:off x="6217920" y="1463040"/>
            <a:ext cx="5394960" cy="4297680"/>
          </a:xfrm>
          <a:prstGeom prst="roundRect">
            <a:avLst>
              <a:gd name="adj" fmla="val 1702"/>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6" name="Shape 14"/>
          <p:cNvSpPr/>
          <p:nvPr/>
        </p:nvSpPr>
        <p:spPr>
          <a:xfrm>
            <a:off x="6217920" y="1463040"/>
            <a:ext cx="5394960" cy="640080"/>
          </a:xfrm>
          <a:prstGeom prst="rect">
            <a:avLst/>
          </a:prstGeom>
          <a:solidFill>
            <a:srgbClr val="1C7293"/>
          </a:solidFill>
          <a:ln/>
        </p:spPr>
      </p:sp>
      <p:sp>
        <p:nvSpPr>
          <p:cNvPr id="17" name="Text 15"/>
          <p:cNvSpPr/>
          <p:nvPr/>
        </p:nvSpPr>
        <p:spPr>
          <a:xfrm>
            <a:off x="6217920" y="1463040"/>
            <a:ext cx="539496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We additionally evaluated</a:t>
            </a:r>
            <a:endParaRPr lang="en-US" sz="1500" dirty="0"/>
          </a:p>
        </p:txBody>
      </p:sp>
      <p:sp>
        <p:nvSpPr>
          <p:cNvPr id="18" name="Text 16"/>
          <p:cNvSpPr/>
          <p:nvPr/>
        </p:nvSpPr>
        <p:spPr>
          <a:xfrm>
            <a:off x="6766560" y="2468880"/>
            <a:ext cx="4572000" cy="457200"/>
          </a:xfrm>
          <a:prstGeom prst="rect">
            <a:avLst/>
          </a:prstGeom>
          <a:noFill/>
          <a:ln/>
        </p:spPr>
        <p:txBody>
          <a:bodyPr wrap="square"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  TextVQA  — reading text in images</a:t>
            </a:r>
            <a:endParaRPr lang="en-US" sz="1500" dirty="0"/>
          </a:p>
        </p:txBody>
      </p:sp>
      <p:sp>
        <p:nvSpPr>
          <p:cNvPr id="19" name="Text 17"/>
          <p:cNvSpPr/>
          <p:nvPr/>
        </p:nvSpPr>
        <p:spPr>
          <a:xfrm>
            <a:off x="6766560" y="3154680"/>
            <a:ext cx="4572000" cy="457200"/>
          </a:xfrm>
          <a:prstGeom prst="rect">
            <a:avLst/>
          </a:prstGeom>
          <a:noFill/>
          <a:ln/>
        </p:spPr>
        <p:txBody>
          <a:bodyPr wrap="square"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  SEED-Bench  — broad comprehension</a:t>
            </a:r>
            <a:endParaRPr lang="en-US" sz="1500" dirty="0"/>
          </a:p>
        </p:txBody>
      </p:sp>
      <p:sp>
        <p:nvSpPr>
          <p:cNvPr id="20" name="Text 18"/>
          <p:cNvSpPr/>
          <p:nvPr/>
        </p:nvSpPr>
        <p:spPr>
          <a:xfrm>
            <a:off x="6400800" y="4937760"/>
            <a:ext cx="5029200" cy="640080"/>
          </a:xfrm>
          <a:prstGeom prst="rect">
            <a:avLst/>
          </a:prstGeom>
          <a:noFill/>
          <a:ln/>
        </p:spPr>
        <p:txBody>
          <a:bodyPr wrap="square"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These extras surfaced our key independent finding (TextVQA).</a:t>
            </a:r>
            <a:endParaRPr lang="en-US" sz="1200" dirty="0"/>
          </a:p>
        </p:txBody>
      </p:sp>
      <p:sp>
        <p:nvSpPr>
          <p:cNvPr id="21" name="Text 19"/>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9C7AC"/>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300" kern="0" dirty="0">
                <a:solidFill>
                  <a:srgbClr val="29C7AC"/>
                </a:solidFill>
                <a:latin typeface="Calibri" pitchFamily="34" charset="0"/>
                <a:ea typeface="Calibri" pitchFamily="34" charset="-122"/>
                <a:cs typeface="Calibri" pitchFamily="34" charset="-120"/>
              </a:rPr>
              <a:t>REPRODUCTION</a:t>
            </a:r>
            <a:endParaRPr lang="en-US" sz="1200" dirty="0"/>
          </a:p>
        </p:txBody>
      </p:sp>
      <p:sp>
        <p:nvSpPr>
          <p:cNvPr id="4" name="Text 2"/>
          <p:cNvSpPr/>
          <p:nvPr/>
        </p:nvSpPr>
        <p:spPr>
          <a:xfrm>
            <a:off x="548640" y="777240"/>
            <a:ext cx="100584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Experimental Pipeline</a:t>
            </a:r>
            <a:endParaRPr lang="en-US" sz="2600" dirty="0"/>
          </a:p>
        </p:txBody>
      </p:sp>
      <p:sp>
        <p:nvSpPr>
          <p:cNvPr id="5" name="Shape 3"/>
          <p:cNvSpPr/>
          <p:nvPr/>
        </p:nvSpPr>
        <p:spPr>
          <a:xfrm>
            <a:off x="914400" y="2103120"/>
            <a:ext cx="3291840" cy="868680"/>
          </a:xfrm>
          <a:prstGeom prst="roundRect">
            <a:avLst>
              <a:gd name="adj" fmla="val 10526"/>
            </a:avLst>
          </a:prstGeom>
          <a:solidFill>
            <a:srgbClr val="2B6CB0"/>
          </a:solidFill>
          <a:ln/>
          <a:effectLst>
            <a:outerShdw sx="100000" sy="100000" kx="0" ky="0" algn="bl" rotWithShape="0" blurRad="88900" dist="38100" dir="8100000">
              <a:srgbClr val="000000">
                <a:alpha val="18000"/>
              </a:srgbClr>
            </a:outerShdw>
          </a:effectLst>
        </p:spPr>
      </p:sp>
      <p:sp>
        <p:nvSpPr>
          <p:cNvPr id="6" name="Text 4"/>
          <p:cNvSpPr/>
          <p:nvPr/>
        </p:nvSpPr>
        <p:spPr>
          <a:xfrm>
            <a:off x="1005840" y="210312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Paper code</a:t>
            </a:r>
            <a:endParaRPr lang="en-US" sz="1400" dirty="0"/>
          </a:p>
        </p:txBody>
      </p:sp>
      <p:sp>
        <p:nvSpPr>
          <p:cNvPr id="7" name="Text 5"/>
          <p:cNvSpPr/>
          <p:nvPr/>
        </p:nvSpPr>
        <p:spPr>
          <a:xfrm>
            <a:off x="4206240" y="237286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8" name="Shape 6"/>
          <p:cNvSpPr/>
          <p:nvPr/>
        </p:nvSpPr>
        <p:spPr>
          <a:xfrm>
            <a:off x="4663440" y="2103120"/>
            <a:ext cx="3291840" cy="868680"/>
          </a:xfrm>
          <a:prstGeom prst="roundRect">
            <a:avLst>
              <a:gd name="adj" fmla="val 10526"/>
            </a:avLst>
          </a:prstGeom>
          <a:solidFill>
            <a:srgbClr val="1C7293"/>
          </a:solidFill>
          <a:ln/>
          <a:effectLst>
            <a:outerShdw sx="100000" sy="100000" kx="0" ky="0" algn="bl" rotWithShape="0" blurRad="88900" dist="38100" dir="8100000">
              <a:srgbClr val="000000">
                <a:alpha val="18000"/>
              </a:srgbClr>
            </a:outerShdw>
          </a:effectLst>
        </p:spPr>
      </p:sp>
      <p:sp>
        <p:nvSpPr>
          <p:cNvPr id="9" name="Text 7"/>
          <p:cNvSpPr/>
          <p:nvPr/>
        </p:nvSpPr>
        <p:spPr>
          <a:xfrm>
            <a:off x="4754880" y="210312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Environment setup</a:t>
            </a:r>
            <a:endParaRPr lang="en-US" sz="1400" dirty="0"/>
          </a:p>
        </p:txBody>
      </p:sp>
      <p:sp>
        <p:nvSpPr>
          <p:cNvPr id="10" name="Text 8"/>
          <p:cNvSpPr/>
          <p:nvPr/>
        </p:nvSpPr>
        <p:spPr>
          <a:xfrm>
            <a:off x="7955280" y="237286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11" name="Shape 9"/>
          <p:cNvSpPr/>
          <p:nvPr/>
        </p:nvSpPr>
        <p:spPr>
          <a:xfrm>
            <a:off x="8412480" y="2103120"/>
            <a:ext cx="3291840" cy="868680"/>
          </a:xfrm>
          <a:prstGeom prst="roundRect">
            <a:avLst>
              <a:gd name="adj" fmla="val 10526"/>
            </a:avLst>
          </a:prstGeom>
          <a:solidFill>
            <a:srgbClr val="2E7D8F"/>
          </a:solidFill>
          <a:ln/>
          <a:effectLst>
            <a:outerShdw sx="100000" sy="100000" kx="0" ky="0" algn="bl" rotWithShape="0" blurRad="88900" dist="38100" dir="8100000">
              <a:srgbClr val="000000">
                <a:alpha val="18000"/>
              </a:srgbClr>
            </a:outerShdw>
          </a:effectLst>
        </p:spPr>
      </p:sp>
      <p:sp>
        <p:nvSpPr>
          <p:cNvPr id="12" name="Text 10"/>
          <p:cNvSpPr/>
          <p:nvPr/>
        </p:nvSpPr>
        <p:spPr>
          <a:xfrm>
            <a:off x="8503920" y="210312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  Baseline eval</a:t>
            </a:r>
            <a:endParaRPr lang="en-US" sz="1400" dirty="0"/>
          </a:p>
        </p:txBody>
      </p:sp>
      <p:sp>
        <p:nvSpPr>
          <p:cNvPr id="13" name="Text 11"/>
          <p:cNvSpPr/>
          <p:nvPr/>
        </p:nvSpPr>
        <p:spPr>
          <a:xfrm>
            <a:off x="6537960" y="2971800"/>
            <a:ext cx="365760" cy="365760"/>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14" name="Shape 12"/>
          <p:cNvSpPr/>
          <p:nvPr/>
        </p:nvSpPr>
        <p:spPr>
          <a:xfrm>
            <a:off x="914400" y="3337560"/>
            <a:ext cx="3291840" cy="868680"/>
          </a:xfrm>
          <a:prstGeom prst="roundRect">
            <a:avLst>
              <a:gd name="adj" fmla="val 10526"/>
            </a:avLst>
          </a:prstGeom>
          <a:solidFill>
            <a:srgbClr val="3A6A7A"/>
          </a:solidFill>
          <a:ln/>
          <a:effectLst>
            <a:outerShdw sx="100000" sy="100000" kx="0" ky="0" algn="bl" rotWithShape="0" blurRad="88900" dist="38100" dir="8100000">
              <a:srgbClr val="000000">
                <a:alpha val="18000"/>
              </a:srgbClr>
            </a:outerShdw>
          </a:effectLst>
        </p:spPr>
      </p:sp>
      <p:sp>
        <p:nvSpPr>
          <p:cNvPr id="15" name="Text 13"/>
          <p:cNvSpPr/>
          <p:nvPr/>
        </p:nvSpPr>
        <p:spPr>
          <a:xfrm>
            <a:off x="1005840" y="333756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  Apply BTP (file swap)</a:t>
            </a:r>
            <a:endParaRPr lang="en-US" sz="1400" dirty="0"/>
          </a:p>
        </p:txBody>
      </p:sp>
      <p:sp>
        <p:nvSpPr>
          <p:cNvPr id="16" name="Text 14"/>
          <p:cNvSpPr/>
          <p:nvPr/>
        </p:nvSpPr>
        <p:spPr>
          <a:xfrm>
            <a:off x="4206240" y="360730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17" name="Shape 15"/>
          <p:cNvSpPr/>
          <p:nvPr/>
        </p:nvSpPr>
        <p:spPr>
          <a:xfrm>
            <a:off x="4663440" y="3337560"/>
            <a:ext cx="3291840" cy="868680"/>
          </a:xfrm>
          <a:prstGeom prst="roundRect">
            <a:avLst>
              <a:gd name="adj" fmla="val 10526"/>
            </a:avLst>
          </a:prstGeom>
          <a:solidFill>
            <a:srgbClr val="12355B"/>
          </a:solidFill>
          <a:ln/>
          <a:effectLst>
            <a:outerShdw sx="100000" sy="100000" kx="0" ky="0" algn="bl" rotWithShape="0" blurRad="88900" dist="38100" dir="8100000">
              <a:srgbClr val="000000">
                <a:alpha val="18000"/>
              </a:srgbClr>
            </a:outerShdw>
          </a:effectLst>
        </p:spPr>
      </p:sp>
      <p:sp>
        <p:nvSpPr>
          <p:cNvPr id="18" name="Text 16"/>
          <p:cNvSpPr/>
          <p:nvPr/>
        </p:nvSpPr>
        <p:spPr>
          <a:xfrm>
            <a:off x="4754880" y="333756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Benchmark eval</a:t>
            </a:r>
            <a:endParaRPr lang="en-US" sz="1400" dirty="0"/>
          </a:p>
        </p:txBody>
      </p:sp>
      <p:sp>
        <p:nvSpPr>
          <p:cNvPr id="19" name="Text 17"/>
          <p:cNvSpPr/>
          <p:nvPr/>
        </p:nvSpPr>
        <p:spPr>
          <a:xfrm>
            <a:off x="7955280" y="360730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20" name="Shape 18"/>
          <p:cNvSpPr/>
          <p:nvPr/>
        </p:nvSpPr>
        <p:spPr>
          <a:xfrm>
            <a:off x="8412480" y="3337560"/>
            <a:ext cx="3291840" cy="868680"/>
          </a:xfrm>
          <a:prstGeom prst="roundRect">
            <a:avLst>
              <a:gd name="adj" fmla="val 10526"/>
            </a:avLst>
          </a:prstGeom>
          <a:solidFill>
            <a:srgbClr val="29C7AC"/>
          </a:solidFill>
          <a:ln/>
          <a:effectLst>
            <a:outerShdw sx="100000" sy="100000" kx="0" ky="0" algn="bl" rotWithShape="0" blurRad="88900" dist="38100" dir="8100000">
              <a:srgbClr val="000000">
                <a:alpha val="18000"/>
              </a:srgbClr>
            </a:outerShdw>
          </a:effectLst>
        </p:spPr>
      </p:sp>
      <p:sp>
        <p:nvSpPr>
          <p:cNvPr id="21" name="Text 19"/>
          <p:cNvSpPr/>
          <p:nvPr/>
        </p:nvSpPr>
        <p:spPr>
          <a:xfrm>
            <a:off x="8503920" y="333756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  Compare vs paper</a:t>
            </a:r>
            <a:endParaRPr lang="en-US" sz="1400" dirty="0"/>
          </a:p>
        </p:txBody>
      </p:sp>
      <p:sp>
        <p:nvSpPr>
          <p:cNvPr id="22" name="Text 20"/>
          <p:cNvSpPr/>
          <p:nvPr/>
        </p:nvSpPr>
        <p:spPr>
          <a:xfrm>
            <a:off x="548640" y="5212080"/>
            <a:ext cx="10972800" cy="457200"/>
          </a:xfrm>
          <a:prstGeom prst="rect">
            <a:avLst/>
          </a:prstGeom>
          <a:noFill/>
          <a:ln/>
        </p:spPr>
        <p:txBody>
          <a:bodyPr wrap="square" rtlCol="0" anchor="ctr"/>
          <a:lstStyle/>
          <a:p>
            <a:pPr algn="ctr" indent="0" marL="0">
              <a:buNone/>
            </a:pPr>
            <a:r>
              <a:rPr lang="en-US" sz="1400" i="1" dirty="0">
                <a:solidFill>
                  <a:srgbClr val="CFE3F2"/>
                </a:solidFill>
                <a:latin typeface="Calibri" pitchFamily="34" charset="0"/>
                <a:ea typeface="Calibri" pitchFamily="34" charset="-122"/>
                <a:cs typeface="Calibri" pitchFamily="34" charset="-120"/>
              </a:rPr>
              <a:t>One variable changes between baseline &amp; BTP — a single file swap, mode-audited every run.</a:t>
            </a:r>
            <a:endParaRPr lang="en-US" sz="1400" dirty="0"/>
          </a:p>
        </p:txBody>
      </p:sp>
      <p:sp>
        <p:nvSpPr>
          <p:cNvPr id="23" name="Text 21"/>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LLaVA-1.5-7B — Paper vs Ours</a:t>
            </a:r>
            <a:endParaRPr lang="en-US" sz="2600" dirty="0"/>
          </a:p>
        </p:txBody>
      </p:sp>
      <p:sp>
        <p:nvSpPr>
          <p:cNvPr id="6" name="Shape 4"/>
          <p:cNvSpPr/>
          <p:nvPr/>
        </p:nvSpPr>
        <p:spPr>
          <a:xfrm>
            <a:off x="502920" y="1417320"/>
            <a:ext cx="2743200" cy="663854"/>
          </a:xfrm>
          <a:prstGeom prst="rect">
            <a:avLst/>
          </a:prstGeom>
          <a:solidFill>
            <a:srgbClr val="0B1F3A"/>
          </a:solidFill>
          <a:ln w="12700">
            <a:solidFill>
              <a:srgbClr val="D7E1EC"/>
            </a:solidFill>
            <a:prstDash val="solid"/>
          </a:ln>
        </p:spPr>
      </p:sp>
      <p:sp>
        <p:nvSpPr>
          <p:cNvPr id="7" name="Text 5"/>
          <p:cNvSpPr/>
          <p:nvPr/>
        </p:nvSpPr>
        <p:spPr>
          <a:xfrm>
            <a:off x="548640" y="1417320"/>
            <a:ext cx="265176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p>
        </p:txBody>
      </p:sp>
      <p:sp>
        <p:nvSpPr>
          <p:cNvPr id="8" name="Shape 6"/>
          <p:cNvSpPr/>
          <p:nvPr/>
        </p:nvSpPr>
        <p:spPr>
          <a:xfrm>
            <a:off x="3246120" y="1417320"/>
            <a:ext cx="1691640" cy="663854"/>
          </a:xfrm>
          <a:prstGeom prst="rect">
            <a:avLst/>
          </a:prstGeom>
          <a:solidFill>
            <a:srgbClr val="0B1F3A"/>
          </a:solidFill>
          <a:ln w="12700">
            <a:solidFill>
              <a:srgbClr val="D7E1EC"/>
            </a:solidFill>
            <a:prstDash val="solid"/>
          </a:ln>
        </p:spPr>
      </p:sp>
      <p:sp>
        <p:nvSpPr>
          <p:cNvPr id="9" name="Text 7"/>
          <p:cNvSpPr/>
          <p:nvPr/>
        </p:nvSpPr>
        <p:spPr>
          <a:xfrm>
            <a:off x="329184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0" name="Shape 8"/>
          <p:cNvSpPr/>
          <p:nvPr/>
        </p:nvSpPr>
        <p:spPr>
          <a:xfrm>
            <a:off x="4937760" y="1417320"/>
            <a:ext cx="1691640" cy="663854"/>
          </a:xfrm>
          <a:prstGeom prst="rect">
            <a:avLst/>
          </a:prstGeom>
          <a:solidFill>
            <a:srgbClr val="0B1F3A"/>
          </a:solidFill>
          <a:ln w="12700">
            <a:solidFill>
              <a:srgbClr val="D7E1EC"/>
            </a:solidFill>
            <a:prstDash val="solid"/>
          </a:ln>
        </p:spPr>
      </p:sp>
      <p:sp>
        <p:nvSpPr>
          <p:cNvPr id="11" name="Text 9"/>
          <p:cNvSpPr/>
          <p:nvPr/>
        </p:nvSpPr>
        <p:spPr>
          <a:xfrm>
            <a:off x="498348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2" name="Shape 10"/>
          <p:cNvSpPr/>
          <p:nvPr/>
        </p:nvSpPr>
        <p:spPr>
          <a:xfrm>
            <a:off x="6629400" y="1417320"/>
            <a:ext cx="1691640" cy="663854"/>
          </a:xfrm>
          <a:prstGeom prst="rect">
            <a:avLst/>
          </a:prstGeom>
          <a:solidFill>
            <a:srgbClr val="0B1F3A"/>
          </a:solidFill>
          <a:ln w="12700">
            <a:solidFill>
              <a:srgbClr val="D7E1EC"/>
            </a:solidFill>
            <a:prstDash val="solid"/>
          </a:ln>
        </p:spPr>
      </p:sp>
      <p:sp>
        <p:nvSpPr>
          <p:cNvPr id="13" name="Text 11"/>
          <p:cNvSpPr/>
          <p:nvPr/>
        </p:nvSpPr>
        <p:spPr>
          <a:xfrm>
            <a:off x="667512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4" name="Shape 12"/>
          <p:cNvSpPr/>
          <p:nvPr/>
        </p:nvSpPr>
        <p:spPr>
          <a:xfrm>
            <a:off x="8321040" y="1417320"/>
            <a:ext cx="1691640" cy="663854"/>
          </a:xfrm>
          <a:prstGeom prst="rect">
            <a:avLst/>
          </a:prstGeom>
          <a:solidFill>
            <a:srgbClr val="0B1F3A"/>
          </a:solidFill>
          <a:ln w="12700">
            <a:solidFill>
              <a:srgbClr val="D7E1EC"/>
            </a:solidFill>
            <a:prstDash val="solid"/>
          </a:ln>
        </p:spPr>
      </p:sp>
      <p:sp>
        <p:nvSpPr>
          <p:cNvPr id="15" name="Text 13"/>
          <p:cNvSpPr/>
          <p:nvPr/>
        </p:nvSpPr>
        <p:spPr>
          <a:xfrm>
            <a:off x="836676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6" name="Shape 14"/>
          <p:cNvSpPr/>
          <p:nvPr/>
        </p:nvSpPr>
        <p:spPr>
          <a:xfrm>
            <a:off x="10012680" y="1417320"/>
            <a:ext cx="1417320" cy="663854"/>
          </a:xfrm>
          <a:prstGeom prst="rect">
            <a:avLst/>
          </a:prstGeom>
          <a:solidFill>
            <a:srgbClr val="0B1F3A"/>
          </a:solidFill>
          <a:ln w="12700">
            <a:solidFill>
              <a:srgbClr val="D7E1EC"/>
            </a:solidFill>
            <a:prstDash val="solid"/>
          </a:ln>
        </p:spPr>
      </p:sp>
      <p:sp>
        <p:nvSpPr>
          <p:cNvPr id="17" name="Text 15"/>
          <p:cNvSpPr/>
          <p:nvPr/>
        </p:nvSpPr>
        <p:spPr>
          <a:xfrm>
            <a:off x="10058400" y="1417320"/>
            <a:ext cx="132588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Δ BTP</a:t>
            </a:r>
            <a:endParaRPr lang="en-US" sz="1200" dirty="0"/>
          </a:p>
        </p:txBody>
      </p:sp>
      <p:sp>
        <p:nvSpPr>
          <p:cNvPr id="18" name="Shape 16"/>
          <p:cNvSpPr/>
          <p:nvPr/>
        </p:nvSpPr>
        <p:spPr>
          <a:xfrm>
            <a:off x="502920" y="2081174"/>
            <a:ext cx="2743200" cy="603504"/>
          </a:xfrm>
          <a:prstGeom prst="rect">
            <a:avLst/>
          </a:prstGeom>
          <a:solidFill>
            <a:srgbClr val="EFF4F9"/>
          </a:solidFill>
          <a:ln w="12700">
            <a:solidFill>
              <a:srgbClr val="D7E1EC"/>
            </a:solidFill>
            <a:prstDash val="solid"/>
          </a:ln>
        </p:spPr>
      </p:sp>
      <p:sp>
        <p:nvSpPr>
          <p:cNvPr id="19" name="Text 17"/>
          <p:cNvSpPr/>
          <p:nvPr/>
        </p:nvSpPr>
        <p:spPr>
          <a:xfrm>
            <a:off x="548640" y="2081174"/>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20" name="Shape 18"/>
          <p:cNvSpPr/>
          <p:nvPr/>
        </p:nvSpPr>
        <p:spPr>
          <a:xfrm>
            <a:off x="3246120" y="2081174"/>
            <a:ext cx="1691640" cy="603504"/>
          </a:xfrm>
          <a:prstGeom prst="rect">
            <a:avLst/>
          </a:prstGeom>
          <a:solidFill>
            <a:srgbClr val="EFF4F9"/>
          </a:solidFill>
          <a:ln w="12700">
            <a:solidFill>
              <a:srgbClr val="D7E1EC"/>
            </a:solidFill>
            <a:prstDash val="solid"/>
          </a:ln>
        </p:spPr>
      </p:sp>
      <p:sp>
        <p:nvSpPr>
          <p:cNvPr id="21" name="Text 19"/>
          <p:cNvSpPr/>
          <p:nvPr/>
        </p:nvSpPr>
        <p:spPr>
          <a:xfrm>
            <a:off x="329184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85.8</a:t>
            </a:r>
            <a:endParaRPr lang="en-US" sz="1250" dirty="0"/>
          </a:p>
        </p:txBody>
      </p:sp>
      <p:sp>
        <p:nvSpPr>
          <p:cNvPr id="22" name="Shape 20"/>
          <p:cNvSpPr/>
          <p:nvPr/>
        </p:nvSpPr>
        <p:spPr>
          <a:xfrm>
            <a:off x="4937760" y="2081174"/>
            <a:ext cx="1691640" cy="603504"/>
          </a:xfrm>
          <a:prstGeom prst="rect">
            <a:avLst/>
          </a:prstGeom>
          <a:solidFill>
            <a:srgbClr val="EFF4F9"/>
          </a:solidFill>
          <a:ln w="12700">
            <a:solidFill>
              <a:srgbClr val="D7E1EC"/>
            </a:solidFill>
            <a:prstDash val="solid"/>
          </a:ln>
        </p:spPr>
      </p:sp>
      <p:sp>
        <p:nvSpPr>
          <p:cNvPr id="23" name="Text 21"/>
          <p:cNvSpPr/>
          <p:nvPr/>
        </p:nvSpPr>
        <p:spPr>
          <a:xfrm>
            <a:off x="498348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86.98</a:t>
            </a:r>
            <a:endParaRPr lang="en-US" sz="1250" dirty="0"/>
          </a:p>
        </p:txBody>
      </p:sp>
      <p:sp>
        <p:nvSpPr>
          <p:cNvPr id="24" name="Shape 22"/>
          <p:cNvSpPr/>
          <p:nvPr/>
        </p:nvSpPr>
        <p:spPr>
          <a:xfrm>
            <a:off x="6629400" y="2081174"/>
            <a:ext cx="1691640" cy="603504"/>
          </a:xfrm>
          <a:prstGeom prst="rect">
            <a:avLst/>
          </a:prstGeom>
          <a:solidFill>
            <a:srgbClr val="EFF4F9"/>
          </a:solidFill>
          <a:ln w="12700">
            <a:solidFill>
              <a:srgbClr val="D7E1EC"/>
            </a:solidFill>
            <a:prstDash val="solid"/>
          </a:ln>
        </p:spPr>
      </p:sp>
      <p:sp>
        <p:nvSpPr>
          <p:cNvPr id="25" name="Text 23"/>
          <p:cNvSpPr/>
          <p:nvPr/>
        </p:nvSpPr>
        <p:spPr>
          <a:xfrm>
            <a:off x="667512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85.6</a:t>
            </a:r>
            <a:endParaRPr lang="en-US" sz="1250" dirty="0"/>
          </a:p>
        </p:txBody>
      </p:sp>
      <p:sp>
        <p:nvSpPr>
          <p:cNvPr id="26" name="Shape 24"/>
          <p:cNvSpPr/>
          <p:nvPr/>
        </p:nvSpPr>
        <p:spPr>
          <a:xfrm>
            <a:off x="8321040" y="2081174"/>
            <a:ext cx="1691640" cy="603504"/>
          </a:xfrm>
          <a:prstGeom prst="rect">
            <a:avLst/>
          </a:prstGeom>
          <a:solidFill>
            <a:srgbClr val="EFF4F9"/>
          </a:solidFill>
          <a:ln w="12700">
            <a:solidFill>
              <a:srgbClr val="D7E1EC"/>
            </a:solidFill>
            <a:prstDash val="solid"/>
          </a:ln>
        </p:spPr>
      </p:sp>
      <p:sp>
        <p:nvSpPr>
          <p:cNvPr id="27" name="Text 25"/>
          <p:cNvSpPr/>
          <p:nvPr/>
        </p:nvSpPr>
        <p:spPr>
          <a:xfrm>
            <a:off x="836676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85.36</a:t>
            </a:r>
            <a:endParaRPr lang="en-US" sz="1250" dirty="0"/>
          </a:p>
        </p:txBody>
      </p:sp>
      <p:sp>
        <p:nvSpPr>
          <p:cNvPr id="28" name="Shape 26"/>
          <p:cNvSpPr/>
          <p:nvPr/>
        </p:nvSpPr>
        <p:spPr>
          <a:xfrm>
            <a:off x="10012680" y="2081174"/>
            <a:ext cx="1417320" cy="603504"/>
          </a:xfrm>
          <a:prstGeom prst="rect">
            <a:avLst/>
          </a:prstGeom>
          <a:solidFill>
            <a:srgbClr val="E7F4EC"/>
          </a:solidFill>
          <a:ln w="12700">
            <a:solidFill>
              <a:srgbClr val="D7E1EC"/>
            </a:solidFill>
            <a:prstDash val="solid"/>
          </a:ln>
        </p:spPr>
      </p:sp>
      <p:sp>
        <p:nvSpPr>
          <p:cNvPr id="29" name="Text 27"/>
          <p:cNvSpPr/>
          <p:nvPr/>
        </p:nvSpPr>
        <p:spPr>
          <a:xfrm>
            <a:off x="10058400" y="2081174"/>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-0.24</a:t>
            </a:r>
            <a:endParaRPr lang="en-US" sz="1250" dirty="0"/>
          </a:p>
        </p:txBody>
      </p:sp>
      <p:sp>
        <p:nvSpPr>
          <p:cNvPr id="30" name="Shape 28"/>
          <p:cNvSpPr/>
          <p:nvPr/>
        </p:nvSpPr>
        <p:spPr>
          <a:xfrm>
            <a:off x="502920" y="2684678"/>
            <a:ext cx="2743200" cy="603504"/>
          </a:xfrm>
          <a:prstGeom prst="rect">
            <a:avLst/>
          </a:prstGeom>
          <a:solidFill>
            <a:srgbClr val="FFFFFF"/>
          </a:solidFill>
          <a:ln w="12700">
            <a:solidFill>
              <a:srgbClr val="D7E1EC"/>
            </a:solidFill>
            <a:prstDash val="solid"/>
          </a:ln>
        </p:spPr>
      </p:sp>
      <p:sp>
        <p:nvSpPr>
          <p:cNvPr id="31" name="Text 29"/>
          <p:cNvSpPr/>
          <p:nvPr/>
        </p:nvSpPr>
        <p:spPr>
          <a:xfrm>
            <a:off x="548640" y="2684678"/>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MME (Perc.)</a:t>
            </a:r>
            <a:endParaRPr lang="en-US" sz="1250" dirty="0"/>
          </a:p>
        </p:txBody>
      </p:sp>
      <p:sp>
        <p:nvSpPr>
          <p:cNvPr id="32" name="Shape 30"/>
          <p:cNvSpPr/>
          <p:nvPr/>
        </p:nvSpPr>
        <p:spPr>
          <a:xfrm>
            <a:off x="3246120" y="2684678"/>
            <a:ext cx="1691640" cy="603504"/>
          </a:xfrm>
          <a:prstGeom prst="rect">
            <a:avLst/>
          </a:prstGeom>
          <a:solidFill>
            <a:srgbClr val="FFFFFF"/>
          </a:solidFill>
          <a:ln w="12700">
            <a:solidFill>
              <a:srgbClr val="D7E1EC"/>
            </a:solidFill>
            <a:prstDash val="solid"/>
          </a:ln>
        </p:spPr>
      </p:sp>
      <p:sp>
        <p:nvSpPr>
          <p:cNvPr id="33" name="Text 31"/>
          <p:cNvSpPr/>
          <p:nvPr/>
        </p:nvSpPr>
        <p:spPr>
          <a:xfrm>
            <a:off x="329184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1510.7</a:t>
            </a:r>
            <a:endParaRPr lang="en-US" sz="1250" dirty="0"/>
          </a:p>
        </p:txBody>
      </p:sp>
      <p:sp>
        <p:nvSpPr>
          <p:cNvPr id="34" name="Shape 32"/>
          <p:cNvSpPr/>
          <p:nvPr/>
        </p:nvSpPr>
        <p:spPr>
          <a:xfrm>
            <a:off x="4937760" y="2684678"/>
            <a:ext cx="1691640" cy="603504"/>
          </a:xfrm>
          <a:prstGeom prst="rect">
            <a:avLst/>
          </a:prstGeom>
          <a:solidFill>
            <a:srgbClr val="FFFFFF"/>
          </a:solidFill>
          <a:ln w="12700">
            <a:solidFill>
              <a:srgbClr val="D7E1EC"/>
            </a:solidFill>
            <a:prstDash val="solid"/>
          </a:ln>
        </p:spPr>
      </p:sp>
      <p:sp>
        <p:nvSpPr>
          <p:cNvPr id="35" name="Text 33"/>
          <p:cNvSpPr/>
          <p:nvPr/>
        </p:nvSpPr>
        <p:spPr>
          <a:xfrm>
            <a:off x="498348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1507.5</a:t>
            </a:r>
            <a:endParaRPr lang="en-US" sz="1250" dirty="0"/>
          </a:p>
        </p:txBody>
      </p:sp>
      <p:sp>
        <p:nvSpPr>
          <p:cNvPr id="36" name="Shape 34"/>
          <p:cNvSpPr/>
          <p:nvPr/>
        </p:nvSpPr>
        <p:spPr>
          <a:xfrm>
            <a:off x="6629400" y="2684678"/>
            <a:ext cx="1691640" cy="603504"/>
          </a:xfrm>
          <a:prstGeom prst="rect">
            <a:avLst/>
          </a:prstGeom>
          <a:solidFill>
            <a:srgbClr val="FFFFFF"/>
          </a:solidFill>
          <a:ln w="12700">
            <a:solidFill>
              <a:srgbClr val="D7E1EC"/>
            </a:solidFill>
            <a:prstDash val="solid"/>
          </a:ln>
        </p:spPr>
      </p:sp>
      <p:sp>
        <p:nvSpPr>
          <p:cNvPr id="37" name="Text 35"/>
          <p:cNvSpPr/>
          <p:nvPr/>
        </p:nvSpPr>
        <p:spPr>
          <a:xfrm>
            <a:off x="667512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1487</a:t>
            </a:r>
            <a:endParaRPr lang="en-US" sz="1250" dirty="0"/>
          </a:p>
        </p:txBody>
      </p:sp>
      <p:sp>
        <p:nvSpPr>
          <p:cNvPr id="38" name="Shape 36"/>
          <p:cNvSpPr/>
          <p:nvPr/>
        </p:nvSpPr>
        <p:spPr>
          <a:xfrm>
            <a:off x="8321040" y="2684678"/>
            <a:ext cx="1691640" cy="603504"/>
          </a:xfrm>
          <a:prstGeom prst="rect">
            <a:avLst/>
          </a:prstGeom>
          <a:solidFill>
            <a:srgbClr val="FFFFFF"/>
          </a:solidFill>
          <a:ln w="12700">
            <a:solidFill>
              <a:srgbClr val="D7E1EC"/>
            </a:solidFill>
            <a:prstDash val="solid"/>
          </a:ln>
        </p:spPr>
      </p:sp>
      <p:sp>
        <p:nvSpPr>
          <p:cNvPr id="39" name="Text 37"/>
          <p:cNvSpPr/>
          <p:nvPr/>
        </p:nvSpPr>
        <p:spPr>
          <a:xfrm>
            <a:off x="836676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1497.2</a:t>
            </a:r>
            <a:endParaRPr lang="en-US" sz="1250" dirty="0"/>
          </a:p>
        </p:txBody>
      </p:sp>
      <p:sp>
        <p:nvSpPr>
          <p:cNvPr id="40" name="Shape 38"/>
          <p:cNvSpPr/>
          <p:nvPr/>
        </p:nvSpPr>
        <p:spPr>
          <a:xfrm>
            <a:off x="10012680" y="2684678"/>
            <a:ext cx="1417320" cy="603504"/>
          </a:xfrm>
          <a:prstGeom prst="rect">
            <a:avLst/>
          </a:prstGeom>
          <a:solidFill>
            <a:srgbClr val="FAE7E4"/>
          </a:solidFill>
          <a:ln w="12700">
            <a:solidFill>
              <a:srgbClr val="D7E1EC"/>
            </a:solidFill>
            <a:prstDash val="solid"/>
          </a:ln>
        </p:spPr>
      </p:sp>
      <p:sp>
        <p:nvSpPr>
          <p:cNvPr id="41" name="Text 39"/>
          <p:cNvSpPr/>
          <p:nvPr/>
        </p:nvSpPr>
        <p:spPr>
          <a:xfrm>
            <a:off x="10058400" y="2684678"/>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+10.20</a:t>
            </a:r>
            <a:endParaRPr lang="en-US" sz="1250" dirty="0"/>
          </a:p>
        </p:txBody>
      </p:sp>
      <p:sp>
        <p:nvSpPr>
          <p:cNvPr id="42" name="Shape 40"/>
          <p:cNvSpPr/>
          <p:nvPr/>
        </p:nvSpPr>
        <p:spPr>
          <a:xfrm>
            <a:off x="502920" y="3288182"/>
            <a:ext cx="2743200" cy="603504"/>
          </a:xfrm>
          <a:prstGeom prst="rect">
            <a:avLst/>
          </a:prstGeom>
          <a:solidFill>
            <a:srgbClr val="EFF4F9"/>
          </a:solidFill>
          <a:ln w="12700">
            <a:solidFill>
              <a:srgbClr val="D7E1EC"/>
            </a:solidFill>
            <a:prstDash val="solid"/>
          </a:ln>
        </p:spPr>
      </p:sp>
      <p:sp>
        <p:nvSpPr>
          <p:cNvPr id="43" name="Text 41"/>
          <p:cNvSpPr/>
          <p:nvPr/>
        </p:nvSpPr>
        <p:spPr>
          <a:xfrm>
            <a:off x="548640" y="3288182"/>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44" name="Shape 42"/>
          <p:cNvSpPr/>
          <p:nvPr/>
        </p:nvSpPr>
        <p:spPr>
          <a:xfrm>
            <a:off x="3246120" y="3288182"/>
            <a:ext cx="1691640" cy="603504"/>
          </a:xfrm>
          <a:prstGeom prst="rect">
            <a:avLst/>
          </a:prstGeom>
          <a:solidFill>
            <a:srgbClr val="EFF4F9"/>
          </a:solidFill>
          <a:ln w="12700">
            <a:solidFill>
              <a:srgbClr val="D7E1EC"/>
            </a:solidFill>
            <a:prstDash val="solid"/>
          </a:ln>
        </p:spPr>
      </p:sp>
      <p:sp>
        <p:nvSpPr>
          <p:cNvPr id="45" name="Text 43"/>
          <p:cNvSpPr/>
          <p:nvPr/>
        </p:nvSpPr>
        <p:spPr>
          <a:xfrm>
            <a:off x="329184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64.3</a:t>
            </a:r>
            <a:endParaRPr lang="en-US" sz="1250" dirty="0"/>
          </a:p>
        </p:txBody>
      </p:sp>
      <p:sp>
        <p:nvSpPr>
          <p:cNvPr id="46" name="Shape 44"/>
          <p:cNvSpPr/>
          <p:nvPr/>
        </p:nvSpPr>
        <p:spPr>
          <a:xfrm>
            <a:off x="4937760" y="3288182"/>
            <a:ext cx="1691640" cy="603504"/>
          </a:xfrm>
          <a:prstGeom prst="rect">
            <a:avLst/>
          </a:prstGeom>
          <a:solidFill>
            <a:srgbClr val="EFF4F9"/>
          </a:solidFill>
          <a:ln w="12700">
            <a:solidFill>
              <a:srgbClr val="D7E1EC"/>
            </a:solidFill>
            <a:prstDash val="solid"/>
          </a:ln>
        </p:spPr>
      </p:sp>
      <p:sp>
        <p:nvSpPr>
          <p:cNvPr id="47" name="Text 45"/>
          <p:cNvSpPr/>
          <p:nvPr/>
        </p:nvSpPr>
        <p:spPr>
          <a:xfrm>
            <a:off x="498348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64</a:t>
            </a:r>
            <a:endParaRPr lang="en-US" sz="1250" dirty="0"/>
          </a:p>
        </p:txBody>
      </p:sp>
      <p:sp>
        <p:nvSpPr>
          <p:cNvPr id="48" name="Shape 46"/>
          <p:cNvSpPr/>
          <p:nvPr/>
        </p:nvSpPr>
        <p:spPr>
          <a:xfrm>
            <a:off x="6629400" y="3288182"/>
            <a:ext cx="1691640" cy="603504"/>
          </a:xfrm>
          <a:prstGeom prst="rect">
            <a:avLst/>
          </a:prstGeom>
          <a:solidFill>
            <a:srgbClr val="EFF4F9"/>
          </a:solidFill>
          <a:ln w="12700">
            <a:solidFill>
              <a:srgbClr val="D7E1EC"/>
            </a:solidFill>
            <a:prstDash val="solid"/>
          </a:ln>
        </p:spPr>
      </p:sp>
      <p:sp>
        <p:nvSpPr>
          <p:cNvPr id="49" name="Text 47"/>
          <p:cNvSpPr/>
          <p:nvPr/>
        </p:nvSpPr>
        <p:spPr>
          <a:xfrm>
            <a:off x="667512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62.7</a:t>
            </a:r>
            <a:endParaRPr lang="en-US" sz="1250" dirty="0"/>
          </a:p>
        </p:txBody>
      </p:sp>
      <p:sp>
        <p:nvSpPr>
          <p:cNvPr id="50" name="Shape 48"/>
          <p:cNvSpPr/>
          <p:nvPr/>
        </p:nvSpPr>
        <p:spPr>
          <a:xfrm>
            <a:off x="8321040" y="3288182"/>
            <a:ext cx="1691640" cy="603504"/>
          </a:xfrm>
          <a:prstGeom prst="rect">
            <a:avLst/>
          </a:prstGeom>
          <a:solidFill>
            <a:srgbClr val="EFF4F9"/>
          </a:solidFill>
          <a:ln w="12700">
            <a:solidFill>
              <a:srgbClr val="D7E1EC"/>
            </a:solidFill>
            <a:prstDash val="solid"/>
          </a:ln>
        </p:spPr>
      </p:sp>
      <p:sp>
        <p:nvSpPr>
          <p:cNvPr id="51" name="Text 49"/>
          <p:cNvSpPr/>
          <p:nvPr/>
        </p:nvSpPr>
        <p:spPr>
          <a:xfrm>
            <a:off x="836676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63.49</a:t>
            </a:r>
            <a:endParaRPr lang="en-US" sz="1250" dirty="0"/>
          </a:p>
        </p:txBody>
      </p:sp>
      <p:sp>
        <p:nvSpPr>
          <p:cNvPr id="52" name="Shape 50"/>
          <p:cNvSpPr/>
          <p:nvPr/>
        </p:nvSpPr>
        <p:spPr>
          <a:xfrm>
            <a:off x="10012680" y="3288182"/>
            <a:ext cx="1417320" cy="603504"/>
          </a:xfrm>
          <a:prstGeom prst="rect">
            <a:avLst/>
          </a:prstGeom>
          <a:solidFill>
            <a:srgbClr val="E7F4EC"/>
          </a:solidFill>
          <a:ln w="12700">
            <a:solidFill>
              <a:srgbClr val="D7E1EC"/>
            </a:solidFill>
            <a:prstDash val="solid"/>
          </a:ln>
        </p:spPr>
      </p:sp>
      <p:sp>
        <p:nvSpPr>
          <p:cNvPr id="53" name="Text 51"/>
          <p:cNvSpPr/>
          <p:nvPr/>
        </p:nvSpPr>
        <p:spPr>
          <a:xfrm>
            <a:off x="10058400" y="3288182"/>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+0.79</a:t>
            </a:r>
            <a:endParaRPr lang="en-US" sz="1250" dirty="0"/>
          </a:p>
        </p:txBody>
      </p:sp>
      <p:sp>
        <p:nvSpPr>
          <p:cNvPr id="54" name="Shape 52"/>
          <p:cNvSpPr/>
          <p:nvPr/>
        </p:nvSpPr>
        <p:spPr>
          <a:xfrm>
            <a:off x="502920" y="3891686"/>
            <a:ext cx="2743200" cy="603504"/>
          </a:xfrm>
          <a:prstGeom prst="rect">
            <a:avLst/>
          </a:prstGeom>
          <a:solidFill>
            <a:srgbClr val="FFFFFF"/>
          </a:solidFill>
          <a:ln w="12700">
            <a:solidFill>
              <a:srgbClr val="D7E1EC"/>
            </a:solidFill>
            <a:prstDash val="solid"/>
          </a:ln>
        </p:spPr>
      </p:sp>
      <p:sp>
        <p:nvSpPr>
          <p:cNvPr id="55" name="Text 53"/>
          <p:cNvSpPr/>
          <p:nvPr/>
        </p:nvSpPr>
        <p:spPr>
          <a:xfrm>
            <a:off x="548640" y="3891686"/>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56" name="Shape 54"/>
          <p:cNvSpPr/>
          <p:nvPr/>
        </p:nvSpPr>
        <p:spPr>
          <a:xfrm>
            <a:off x="3246120" y="3891686"/>
            <a:ext cx="1691640" cy="603504"/>
          </a:xfrm>
          <a:prstGeom prst="rect">
            <a:avLst/>
          </a:prstGeom>
          <a:solidFill>
            <a:srgbClr val="FFFFFF"/>
          </a:solidFill>
          <a:ln w="12700">
            <a:solidFill>
              <a:srgbClr val="D7E1EC"/>
            </a:solidFill>
            <a:prstDash val="solid"/>
          </a:ln>
        </p:spPr>
      </p:sp>
      <p:sp>
        <p:nvSpPr>
          <p:cNvPr id="57" name="Text 55"/>
          <p:cNvSpPr/>
          <p:nvPr/>
        </p:nvSpPr>
        <p:spPr>
          <a:xfrm>
            <a:off x="329184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62</a:t>
            </a:r>
            <a:endParaRPr lang="en-US" sz="1250" dirty="0"/>
          </a:p>
        </p:txBody>
      </p:sp>
      <p:sp>
        <p:nvSpPr>
          <p:cNvPr id="58" name="Shape 56"/>
          <p:cNvSpPr/>
          <p:nvPr/>
        </p:nvSpPr>
        <p:spPr>
          <a:xfrm>
            <a:off x="4937760" y="3891686"/>
            <a:ext cx="1691640" cy="603504"/>
          </a:xfrm>
          <a:prstGeom prst="rect">
            <a:avLst/>
          </a:prstGeom>
          <a:solidFill>
            <a:srgbClr val="FFFFFF"/>
          </a:solidFill>
          <a:ln w="12700">
            <a:solidFill>
              <a:srgbClr val="D7E1EC"/>
            </a:solidFill>
            <a:prstDash val="solid"/>
          </a:ln>
        </p:spPr>
      </p:sp>
      <p:sp>
        <p:nvSpPr>
          <p:cNvPr id="59" name="Text 57"/>
          <p:cNvSpPr/>
          <p:nvPr/>
        </p:nvSpPr>
        <p:spPr>
          <a:xfrm>
            <a:off x="498348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61.98</a:t>
            </a:r>
            <a:endParaRPr lang="en-US" sz="1250" dirty="0"/>
          </a:p>
        </p:txBody>
      </p:sp>
      <p:sp>
        <p:nvSpPr>
          <p:cNvPr id="60" name="Shape 58"/>
          <p:cNvSpPr/>
          <p:nvPr/>
        </p:nvSpPr>
        <p:spPr>
          <a:xfrm>
            <a:off x="6629400" y="3891686"/>
            <a:ext cx="1691640" cy="603504"/>
          </a:xfrm>
          <a:prstGeom prst="rect">
            <a:avLst/>
          </a:prstGeom>
          <a:solidFill>
            <a:srgbClr val="FFFFFF"/>
          </a:solidFill>
          <a:ln w="12700">
            <a:solidFill>
              <a:srgbClr val="D7E1EC"/>
            </a:solidFill>
            <a:prstDash val="solid"/>
          </a:ln>
        </p:spPr>
      </p:sp>
      <p:sp>
        <p:nvSpPr>
          <p:cNvPr id="61" name="Text 59"/>
          <p:cNvSpPr/>
          <p:nvPr/>
        </p:nvSpPr>
        <p:spPr>
          <a:xfrm>
            <a:off x="667512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59</a:t>
            </a:r>
            <a:endParaRPr lang="en-US" sz="1250" dirty="0"/>
          </a:p>
        </p:txBody>
      </p:sp>
      <p:sp>
        <p:nvSpPr>
          <p:cNvPr id="62" name="Shape 60"/>
          <p:cNvSpPr/>
          <p:nvPr/>
        </p:nvSpPr>
        <p:spPr>
          <a:xfrm>
            <a:off x="8321040" y="3891686"/>
            <a:ext cx="1691640" cy="603504"/>
          </a:xfrm>
          <a:prstGeom prst="rect">
            <a:avLst/>
          </a:prstGeom>
          <a:solidFill>
            <a:srgbClr val="FFFFFF"/>
          </a:solidFill>
          <a:ln w="12700">
            <a:solidFill>
              <a:srgbClr val="D7E1EC"/>
            </a:solidFill>
            <a:prstDash val="solid"/>
          </a:ln>
        </p:spPr>
      </p:sp>
      <p:sp>
        <p:nvSpPr>
          <p:cNvPr id="63" name="Text 61"/>
          <p:cNvSpPr/>
          <p:nvPr/>
        </p:nvSpPr>
        <p:spPr>
          <a:xfrm>
            <a:off x="836676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58.98</a:t>
            </a:r>
            <a:endParaRPr lang="en-US" sz="1250" dirty="0"/>
          </a:p>
        </p:txBody>
      </p:sp>
      <p:sp>
        <p:nvSpPr>
          <p:cNvPr id="64" name="Shape 62"/>
          <p:cNvSpPr/>
          <p:nvPr/>
        </p:nvSpPr>
        <p:spPr>
          <a:xfrm>
            <a:off x="10012680" y="3891686"/>
            <a:ext cx="1417320" cy="603504"/>
          </a:xfrm>
          <a:prstGeom prst="rect">
            <a:avLst/>
          </a:prstGeom>
          <a:solidFill>
            <a:srgbClr val="E7F4EC"/>
          </a:solidFill>
          <a:ln w="12700">
            <a:solidFill>
              <a:srgbClr val="D7E1EC"/>
            </a:solidFill>
            <a:prstDash val="solid"/>
          </a:ln>
        </p:spPr>
      </p:sp>
      <p:sp>
        <p:nvSpPr>
          <p:cNvPr id="65" name="Text 63"/>
          <p:cNvSpPr/>
          <p:nvPr/>
        </p:nvSpPr>
        <p:spPr>
          <a:xfrm>
            <a:off x="10058400" y="3891686"/>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-0.02</a:t>
            </a:r>
            <a:endParaRPr lang="en-US" sz="1250" dirty="0"/>
          </a:p>
        </p:txBody>
      </p:sp>
      <p:sp>
        <p:nvSpPr>
          <p:cNvPr id="66" name="Shape 64"/>
          <p:cNvSpPr/>
          <p:nvPr/>
        </p:nvSpPr>
        <p:spPr>
          <a:xfrm>
            <a:off x="502920" y="4495190"/>
            <a:ext cx="2743200" cy="603504"/>
          </a:xfrm>
          <a:prstGeom prst="rect">
            <a:avLst/>
          </a:prstGeom>
          <a:solidFill>
            <a:srgbClr val="EFF4F9"/>
          </a:solidFill>
          <a:ln w="12700">
            <a:solidFill>
              <a:srgbClr val="D7E1EC"/>
            </a:solidFill>
            <a:prstDash val="solid"/>
          </a:ln>
        </p:spPr>
      </p:sp>
      <p:sp>
        <p:nvSpPr>
          <p:cNvPr id="67" name="Text 65"/>
          <p:cNvSpPr/>
          <p:nvPr/>
        </p:nvSpPr>
        <p:spPr>
          <a:xfrm>
            <a:off x="548640" y="4495190"/>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68" name="Shape 66"/>
          <p:cNvSpPr/>
          <p:nvPr/>
        </p:nvSpPr>
        <p:spPr>
          <a:xfrm>
            <a:off x="3246120" y="4495190"/>
            <a:ext cx="1691640" cy="603504"/>
          </a:xfrm>
          <a:prstGeom prst="rect">
            <a:avLst/>
          </a:prstGeom>
          <a:solidFill>
            <a:srgbClr val="EFF4F9"/>
          </a:solidFill>
          <a:ln w="12700">
            <a:solidFill>
              <a:srgbClr val="D7E1EC"/>
            </a:solidFill>
            <a:prstDash val="solid"/>
          </a:ln>
        </p:spPr>
      </p:sp>
      <p:sp>
        <p:nvSpPr>
          <p:cNvPr id="69" name="Text 67"/>
          <p:cNvSpPr/>
          <p:nvPr/>
        </p:nvSpPr>
        <p:spPr>
          <a:xfrm>
            <a:off x="329184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69.4</a:t>
            </a:r>
            <a:endParaRPr lang="en-US" sz="1250" dirty="0"/>
          </a:p>
        </p:txBody>
      </p:sp>
      <p:sp>
        <p:nvSpPr>
          <p:cNvPr id="70" name="Shape 68"/>
          <p:cNvSpPr/>
          <p:nvPr/>
        </p:nvSpPr>
        <p:spPr>
          <a:xfrm>
            <a:off x="4937760" y="4495190"/>
            <a:ext cx="1691640" cy="603504"/>
          </a:xfrm>
          <a:prstGeom prst="rect">
            <a:avLst/>
          </a:prstGeom>
          <a:solidFill>
            <a:srgbClr val="EFF4F9"/>
          </a:solidFill>
          <a:ln w="12700">
            <a:solidFill>
              <a:srgbClr val="D7E1EC"/>
            </a:solidFill>
            <a:prstDash val="solid"/>
          </a:ln>
        </p:spPr>
      </p:sp>
      <p:sp>
        <p:nvSpPr>
          <p:cNvPr id="71" name="Text 69"/>
          <p:cNvSpPr/>
          <p:nvPr/>
        </p:nvSpPr>
        <p:spPr>
          <a:xfrm>
            <a:off x="498348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69.41</a:t>
            </a:r>
            <a:endParaRPr lang="en-US" sz="1250" dirty="0"/>
          </a:p>
        </p:txBody>
      </p:sp>
      <p:sp>
        <p:nvSpPr>
          <p:cNvPr id="72" name="Shape 70"/>
          <p:cNvSpPr/>
          <p:nvPr/>
        </p:nvSpPr>
        <p:spPr>
          <a:xfrm>
            <a:off x="6629400" y="4495190"/>
            <a:ext cx="1691640" cy="603504"/>
          </a:xfrm>
          <a:prstGeom prst="rect">
            <a:avLst/>
          </a:prstGeom>
          <a:solidFill>
            <a:srgbClr val="EFF4F9"/>
          </a:solidFill>
          <a:ln w="12700">
            <a:solidFill>
              <a:srgbClr val="D7E1EC"/>
            </a:solidFill>
            <a:prstDash val="solid"/>
          </a:ln>
        </p:spPr>
      </p:sp>
      <p:sp>
        <p:nvSpPr>
          <p:cNvPr id="73" name="Text 71"/>
          <p:cNvSpPr/>
          <p:nvPr/>
        </p:nvSpPr>
        <p:spPr>
          <a:xfrm>
            <a:off x="667512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69.1</a:t>
            </a:r>
            <a:endParaRPr lang="en-US" sz="1250" dirty="0"/>
          </a:p>
        </p:txBody>
      </p:sp>
      <p:sp>
        <p:nvSpPr>
          <p:cNvPr id="74" name="Shape 72"/>
          <p:cNvSpPr/>
          <p:nvPr/>
        </p:nvSpPr>
        <p:spPr>
          <a:xfrm>
            <a:off x="8321040" y="4495190"/>
            <a:ext cx="1691640" cy="603504"/>
          </a:xfrm>
          <a:prstGeom prst="rect">
            <a:avLst/>
          </a:prstGeom>
          <a:solidFill>
            <a:srgbClr val="EFF4F9"/>
          </a:solidFill>
          <a:ln w="12700">
            <a:solidFill>
              <a:srgbClr val="D7E1EC"/>
            </a:solidFill>
            <a:prstDash val="solid"/>
          </a:ln>
        </p:spPr>
      </p:sp>
      <p:sp>
        <p:nvSpPr>
          <p:cNvPr id="75" name="Text 73"/>
          <p:cNvSpPr/>
          <p:nvPr/>
        </p:nvSpPr>
        <p:spPr>
          <a:xfrm>
            <a:off x="836676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69.21</a:t>
            </a:r>
            <a:endParaRPr lang="en-US" sz="1250" dirty="0"/>
          </a:p>
        </p:txBody>
      </p:sp>
      <p:sp>
        <p:nvSpPr>
          <p:cNvPr id="76" name="Shape 74"/>
          <p:cNvSpPr/>
          <p:nvPr/>
        </p:nvSpPr>
        <p:spPr>
          <a:xfrm>
            <a:off x="10012680" y="4495190"/>
            <a:ext cx="1417320" cy="603504"/>
          </a:xfrm>
          <a:prstGeom prst="rect">
            <a:avLst/>
          </a:prstGeom>
          <a:solidFill>
            <a:srgbClr val="E7F4EC"/>
          </a:solidFill>
          <a:ln w="12700">
            <a:solidFill>
              <a:srgbClr val="D7E1EC"/>
            </a:solidFill>
            <a:prstDash val="solid"/>
          </a:ln>
        </p:spPr>
      </p:sp>
      <p:sp>
        <p:nvSpPr>
          <p:cNvPr id="77" name="Text 75"/>
          <p:cNvSpPr/>
          <p:nvPr/>
        </p:nvSpPr>
        <p:spPr>
          <a:xfrm>
            <a:off x="10058400" y="4495190"/>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+0.11</a:t>
            </a:r>
            <a:endParaRPr lang="en-US" sz="1250" dirty="0"/>
          </a:p>
        </p:txBody>
      </p:sp>
      <p:sp>
        <p:nvSpPr>
          <p:cNvPr id="78" name="Shape 76"/>
          <p:cNvSpPr/>
          <p:nvPr/>
        </p:nvSpPr>
        <p:spPr>
          <a:xfrm>
            <a:off x="548640" y="5299862"/>
            <a:ext cx="320040" cy="256032"/>
          </a:xfrm>
          <a:prstGeom prst="rect">
            <a:avLst/>
          </a:prstGeom>
          <a:solidFill>
            <a:srgbClr val="E7F4EC"/>
          </a:solidFill>
          <a:ln w="12700">
            <a:solidFill>
              <a:srgbClr val="D7E1EC"/>
            </a:solidFill>
            <a:prstDash val="solid"/>
          </a:ln>
        </p:spPr>
      </p:sp>
      <p:sp>
        <p:nvSpPr>
          <p:cNvPr id="79" name="Text 77"/>
          <p:cNvSpPr/>
          <p:nvPr/>
        </p:nvSpPr>
        <p:spPr>
          <a:xfrm>
            <a:off x="914400" y="5272430"/>
            <a:ext cx="1737360" cy="310896"/>
          </a:xfrm>
          <a:prstGeom prst="rect">
            <a:avLst/>
          </a:prstGeom>
          <a:noFill/>
          <a:ln/>
        </p:spPr>
        <p:txBody>
          <a:bodyPr wrap="square"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 1 pt</a:t>
            </a:r>
            <a:endParaRPr lang="en-US" sz="1100" dirty="0"/>
          </a:p>
        </p:txBody>
      </p:sp>
      <p:sp>
        <p:nvSpPr>
          <p:cNvPr id="80" name="Shape 78"/>
          <p:cNvSpPr/>
          <p:nvPr/>
        </p:nvSpPr>
        <p:spPr>
          <a:xfrm>
            <a:off x="2651760" y="5299862"/>
            <a:ext cx="320040" cy="256032"/>
          </a:xfrm>
          <a:prstGeom prst="rect">
            <a:avLst/>
          </a:prstGeom>
          <a:solidFill>
            <a:srgbClr val="FBF3D9"/>
          </a:solidFill>
          <a:ln w="12700">
            <a:solidFill>
              <a:srgbClr val="D7E1EC"/>
            </a:solidFill>
            <a:prstDash val="solid"/>
          </a:ln>
        </p:spPr>
      </p:sp>
      <p:sp>
        <p:nvSpPr>
          <p:cNvPr id="81" name="Text 79"/>
          <p:cNvSpPr/>
          <p:nvPr/>
        </p:nvSpPr>
        <p:spPr>
          <a:xfrm>
            <a:off x="3017520" y="5272430"/>
            <a:ext cx="1737360" cy="310896"/>
          </a:xfrm>
          <a:prstGeom prst="rect">
            <a:avLst/>
          </a:prstGeom>
          <a:noFill/>
          <a:ln/>
        </p:spPr>
        <p:txBody>
          <a:bodyPr wrap="square" rtlCol="0" anchor="ctr"/>
          <a:lstStyle/>
          <a:p>
            <a:pPr indent="0" marL="0">
              <a:buNone/>
            </a:pPr>
            <a:r>
              <a:rPr lang="en-US" sz="1100" b="1" dirty="0">
                <a:solidFill>
                  <a:srgbClr val="977C0E"/>
                </a:solidFill>
                <a:latin typeface="Calibri" pitchFamily="34" charset="0"/>
                <a:ea typeface="Calibri" pitchFamily="34" charset="-122"/>
                <a:cs typeface="Calibri" pitchFamily="34" charset="-120"/>
              </a:rPr>
              <a:t>≤ 3 pt</a:t>
            </a:r>
            <a:endParaRPr lang="en-US" sz="1100" dirty="0"/>
          </a:p>
        </p:txBody>
      </p:sp>
      <p:sp>
        <p:nvSpPr>
          <p:cNvPr id="82" name="Shape 80"/>
          <p:cNvSpPr/>
          <p:nvPr/>
        </p:nvSpPr>
        <p:spPr>
          <a:xfrm>
            <a:off x="4754880" y="5299862"/>
            <a:ext cx="320040" cy="256032"/>
          </a:xfrm>
          <a:prstGeom prst="rect">
            <a:avLst/>
          </a:prstGeom>
          <a:solidFill>
            <a:srgbClr val="FAE7E4"/>
          </a:solidFill>
          <a:ln w="12700">
            <a:solidFill>
              <a:srgbClr val="D7E1EC"/>
            </a:solidFill>
            <a:prstDash val="solid"/>
          </a:ln>
        </p:spPr>
      </p:sp>
      <p:sp>
        <p:nvSpPr>
          <p:cNvPr id="83" name="Text 81"/>
          <p:cNvSpPr/>
          <p:nvPr/>
        </p:nvSpPr>
        <p:spPr>
          <a:xfrm>
            <a:off x="5120640" y="5272430"/>
            <a:ext cx="1737360" cy="310896"/>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&gt; 3 pt</a:t>
            </a:r>
            <a:endParaRPr lang="en-US" sz="1100" dirty="0"/>
          </a:p>
        </p:txBody>
      </p:sp>
      <p:sp>
        <p:nvSpPr>
          <p:cNvPr id="84" name="Text 8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LLaVA-1.5-13B — Paper vs Ours</a:t>
            </a:r>
            <a:endParaRPr lang="en-US" sz="2600" dirty="0"/>
          </a:p>
        </p:txBody>
      </p:sp>
      <p:sp>
        <p:nvSpPr>
          <p:cNvPr id="6" name="Shape 4"/>
          <p:cNvSpPr/>
          <p:nvPr/>
        </p:nvSpPr>
        <p:spPr>
          <a:xfrm>
            <a:off x="502920" y="1417320"/>
            <a:ext cx="2743200" cy="663854"/>
          </a:xfrm>
          <a:prstGeom prst="rect">
            <a:avLst/>
          </a:prstGeom>
          <a:solidFill>
            <a:srgbClr val="0B1F3A"/>
          </a:solidFill>
          <a:ln w="12700">
            <a:solidFill>
              <a:srgbClr val="D7E1EC"/>
            </a:solidFill>
            <a:prstDash val="solid"/>
          </a:ln>
        </p:spPr>
      </p:sp>
      <p:sp>
        <p:nvSpPr>
          <p:cNvPr id="7" name="Text 5"/>
          <p:cNvSpPr/>
          <p:nvPr/>
        </p:nvSpPr>
        <p:spPr>
          <a:xfrm>
            <a:off x="548640" y="1417320"/>
            <a:ext cx="265176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p>
        </p:txBody>
      </p:sp>
      <p:sp>
        <p:nvSpPr>
          <p:cNvPr id="8" name="Shape 6"/>
          <p:cNvSpPr/>
          <p:nvPr/>
        </p:nvSpPr>
        <p:spPr>
          <a:xfrm>
            <a:off x="3246120" y="1417320"/>
            <a:ext cx="1691640" cy="663854"/>
          </a:xfrm>
          <a:prstGeom prst="rect">
            <a:avLst/>
          </a:prstGeom>
          <a:solidFill>
            <a:srgbClr val="0B1F3A"/>
          </a:solidFill>
          <a:ln w="12700">
            <a:solidFill>
              <a:srgbClr val="D7E1EC"/>
            </a:solidFill>
            <a:prstDash val="solid"/>
          </a:ln>
        </p:spPr>
      </p:sp>
      <p:sp>
        <p:nvSpPr>
          <p:cNvPr id="9" name="Text 7"/>
          <p:cNvSpPr/>
          <p:nvPr/>
        </p:nvSpPr>
        <p:spPr>
          <a:xfrm>
            <a:off x="329184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0" name="Shape 8"/>
          <p:cNvSpPr/>
          <p:nvPr/>
        </p:nvSpPr>
        <p:spPr>
          <a:xfrm>
            <a:off x="4937760" y="1417320"/>
            <a:ext cx="1691640" cy="663854"/>
          </a:xfrm>
          <a:prstGeom prst="rect">
            <a:avLst/>
          </a:prstGeom>
          <a:solidFill>
            <a:srgbClr val="0B1F3A"/>
          </a:solidFill>
          <a:ln w="12700">
            <a:solidFill>
              <a:srgbClr val="D7E1EC"/>
            </a:solidFill>
            <a:prstDash val="solid"/>
          </a:ln>
        </p:spPr>
      </p:sp>
      <p:sp>
        <p:nvSpPr>
          <p:cNvPr id="11" name="Text 9"/>
          <p:cNvSpPr/>
          <p:nvPr/>
        </p:nvSpPr>
        <p:spPr>
          <a:xfrm>
            <a:off x="498348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2" name="Shape 10"/>
          <p:cNvSpPr/>
          <p:nvPr/>
        </p:nvSpPr>
        <p:spPr>
          <a:xfrm>
            <a:off x="6629400" y="1417320"/>
            <a:ext cx="1691640" cy="663854"/>
          </a:xfrm>
          <a:prstGeom prst="rect">
            <a:avLst/>
          </a:prstGeom>
          <a:solidFill>
            <a:srgbClr val="0B1F3A"/>
          </a:solidFill>
          <a:ln w="12700">
            <a:solidFill>
              <a:srgbClr val="D7E1EC"/>
            </a:solidFill>
            <a:prstDash val="solid"/>
          </a:ln>
        </p:spPr>
      </p:sp>
      <p:sp>
        <p:nvSpPr>
          <p:cNvPr id="13" name="Text 11"/>
          <p:cNvSpPr/>
          <p:nvPr/>
        </p:nvSpPr>
        <p:spPr>
          <a:xfrm>
            <a:off x="667512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4" name="Shape 12"/>
          <p:cNvSpPr/>
          <p:nvPr/>
        </p:nvSpPr>
        <p:spPr>
          <a:xfrm>
            <a:off x="8321040" y="1417320"/>
            <a:ext cx="1691640" cy="663854"/>
          </a:xfrm>
          <a:prstGeom prst="rect">
            <a:avLst/>
          </a:prstGeom>
          <a:solidFill>
            <a:srgbClr val="0B1F3A"/>
          </a:solidFill>
          <a:ln w="12700">
            <a:solidFill>
              <a:srgbClr val="D7E1EC"/>
            </a:solidFill>
            <a:prstDash val="solid"/>
          </a:ln>
        </p:spPr>
      </p:sp>
      <p:sp>
        <p:nvSpPr>
          <p:cNvPr id="15" name="Text 13"/>
          <p:cNvSpPr/>
          <p:nvPr/>
        </p:nvSpPr>
        <p:spPr>
          <a:xfrm>
            <a:off x="836676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6" name="Shape 14"/>
          <p:cNvSpPr/>
          <p:nvPr/>
        </p:nvSpPr>
        <p:spPr>
          <a:xfrm>
            <a:off x="10012680" y="1417320"/>
            <a:ext cx="1417320" cy="663854"/>
          </a:xfrm>
          <a:prstGeom prst="rect">
            <a:avLst/>
          </a:prstGeom>
          <a:solidFill>
            <a:srgbClr val="0B1F3A"/>
          </a:solidFill>
          <a:ln w="12700">
            <a:solidFill>
              <a:srgbClr val="D7E1EC"/>
            </a:solidFill>
            <a:prstDash val="solid"/>
          </a:ln>
        </p:spPr>
      </p:sp>
      <p:sp>
        <p:nvSpPr>
          <p:cNvPr id="17" name="Text 15"/>
          <p:cNvSpPr/>
          <p:nvPr/>
        </p:nvSpPr>
        <p:spPr>
          <a:xfrm>
            <a:off x="10058400" y="1417320"/>
            <a:ext cx="132588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Δ BTP</a:t>
            </a:r>
            <a:endParaRPr lang="en-US" sz="1200" dirty="0"/>
          </a:p>
        </p:txBody>
      </p:sp>
      <p:sp>
        <p:nvSpPr>
          <p:cNvPr id="18" name="Shape 16"/>
          <p:cNvSpPr/>
          <p:nvPr/>
        </p:nvSpPr>
        <p:spPr>
          <a:xfrm>
            <a:off x="502920" y="2081174"/>
            <a:ext cx="2743200" cy="603504"/>
          </a:xfrm>
          <a:prstGeom prst="rect">
            <a:avLst/>
          </a:prstGeom>
          <a:solidFill>
            <a:srgbClr val="EFF4F9"/>
          </a:solidFill>
          <a:ln w="12700">
            <a:solidFill>
              <a:srgbClr val="D7E1EC"/>
            </a:solidFill>
            <a:prstDash val="solid"/>
          </a:ln>
        </p:spPr>
      </p:sp>
      <p:sp>
        <p:nvSpPr>
          <p:cNvPr id="19" name="Text 17"/>
          <p:cNvSpPr/>
          <p:nvPr/>
        </p:nvSpPr>
        <p:spPr>
          <a:xfrm>
            <a:off x="548640" y="2081174"/>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20" name="Shape 18"/>
          <p:cNvSpPr/>
          <p:nvPr/>
        </p:nvSpPr>
        <p:spPr>
          <a:xfrm>
            <a:off x="3246120" y="2081174"/>
            <a:ext cx="1691640" cy="603504"/>
          </a:xfrm>
          <a:prstGeom prst="rect">
            <a:avLst/>
          </a:prstGeom>
          <a:solidFill>
            <a:srgbClr val="EFF4F9"/>
          </a:solidFill>
          <a:ln w="12700">
            <a:solidFill>
              <a:srgbClr val="D7E1EC"/>
            </a:solidFill>
            <a:prstDash val="solid"/>
          </a:ln>
        </p:spPr>
      </p:sp>
      <p:sp>
        <p:nvSpPr>
          <p:cNvPr id="21" name="Text 19"/>
          <p:cNvSpPr/>
          <p:nvPr/>
        </p:nvSpPr>
        <p:spPr>
          <a:xfrm>
            <a:off x="329184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a:t>
            </a:r>
            <a:endParaRPr lang="en-US" sz="1250" dirty="0"/>
          </a:p>
        </p:txBody>
      </p:sp>
      <p:sp>
        <p:nvSpPr>
          <p:cNvPr id="22" name="Shape 20"/>
          <p:cNvSpPr/>
          <p:nvPr/>
        </p:nvSpPr>
        <p:spPr>
          <a:xfrm>
            <a:off x="4937760" y="2081174"/>
            <a:ext cx="1691640" cy="603504"/>
          </a:xfrm>
          <a:prstGeom prst="rect">
            <a:avLst/>
          </a:prstGeom>
          <a:solidFill>
            <a:srgbClr val="EFF4F9"/>
          </a:solidFill>
          <a:ln w="12700">
            <a:solidFill>
              <a:srgbClr val="D7E1EC"/>
            </a:solidFill>
            <a:prstDash val="solid"/>
          </a:ln>
        </p:spPr>
      </p:sp>
      <p:sp>
        <p:nvSpPr>
          <p:cNvPr id="23" name="Text 21"/>
          <p:cNvSpPr/>
          <p:nvPr/>
        </p:nvSpPr>
        <p:spPr>
          <a:xfrm>
            <a:off x="498348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87.1</a:t>
            </a:r>
            <a:endParaRPr lang="en-US" sz="1250" dirty="0"/>
          </a:p>
        </p:txBody>
      </p:sp>
      <p:sp>
        <p:nvSpPr>
          <p:cNvPr id="24" name="Shape 22"/>
          <p:cNvSpPr/>
          <p:nvPr/>
        </p:nvSpPr>
        <p:spPr>
          <a:xfrm>
            <a:off x="6629400" y="2081174"/>
            <a:ext cx="1691640" cy="603504"/>
          </a:xfrm>
          <a:prstGeom prst="rect">
            <a:avLst/>
          </a:prstGeom>
          <a:solidFill>
            <a:srgbClr val="EFF4F9"/>
          </a:solidFill>
          <a:ln w="12700">
            <a:solidFill>
              <a:srgbClr val="D7E1EC"/>
            </a:solidFill>
            <a:prstDash val="solid"/>
          </a:ln>
        </p:spPr>
      </p:sp>
      <p:sp>
        <p:nvSpPr>
          <p:cNvPr id="25" name="Text 23"/>
          <p:cNvSpPr/>
          <p:nvPr/>
        </p:nvSpPr>
        <p:spPr>
          <a:xfrm>
            <a:off x="667512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86.9</a:t>
            </a:r>
            <a:endParaRPr lang="en-US" sz="1250" dirty="0"/>
          </a:p>
        </p:txBody>
      </p:sp>
      <p:sp>
        <p:nvSpPr>
          <p:cNvPr id="26" name="Shape 24"/>
          <p:cNvSpPr/>
          <p:nvPr/>
        </p:nvSpPr>
        <p:spPr>
          <a:xfrm>
            <a:off x="8321040" y="2081174"/>
            <a:ext cx="1691640" cy="603504"/>
          </a:xfrm>
          <a:prstGeom prst="rect">
            <a:avLst/>
          </a:prstGeom>
          <a:solidFill>
            <a:srgbClr val="EFF4F9"/>
          </a:solidFill>
          <a:ln w="12700">
            <a:solidFill>
              <a:srgbClr val="D7E1EC"/>
            </a:solidFill>
            <a:prstDash val="solid"/>
          </a:ln>
        </p:spPr>
      </p:sp>
      <p:sp>
        <p:nvSpPr>
          <p:cNvPr id="27" name="Text 25"/>
          <p:cNvSpPr/>
          <p:nvPr/>
        </p:nvSpPr>
        <p:spPr>
          <a:xfrm>
            <a:off x="836676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86.3</a:t>
            </a:r>
            <a:endParaRPr lang="en-US" sz="1250" dirty="0"/>
          </a:p>
        </p:txBody>
      </p:sp>
      <p:sp>
        <p:nvSpPr>
          <p:cNvPr id="28" name="Shape 26"/>
          <p:cNvSpPr/>
          <p:nvPr/>
        </p:nvSpPr>
        <p:spPr>
          <a:xfrm>
            <a:off x="10012680" y="2081174"/>
            <a:ext cx="1417320" cy="603504"/>
          </a:xfrm>
          <a:prstGeom prst="rect">
            <a:avLst/>
          </a:prstGeom>
          <a:solidFill>
            <a:srgbClr val="E7F4EC"/>
          </a:solidFill>
          <a:ln w="12700">
            <a:solidFill>
              <a:srgbClr val="D7E1EC"/>
            </a:solidFill>
            <a:prstDash val="solid"/>
          </a:ln>
        </p:spPr>
      </p:sp>
      <p:sp>
        <p:nvSpPr>
          <p:cNvPr id="29" name="Text 27"/>
          <p:cNvSpPr/>
          <p:nvPr/>
        </p:nvSpPr>
        <p:spPr>
          <a:xfrm>
            <a:off x="10058400" y="2081174"/>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-0.60</a:t>
            </a:r>
            <a:endParaRPr lang="en-US" sz="1250" dirty="0"/>
          </a:p>
        </p:txBody>
      </p:sp>
      <p:sp>
        <p:nvSpPr>
          <p:cNvPr id="30" name="Shape 28"/>
          <p:cNvSpPr/>
          <p:nvPr/>
        </p:nvSpPr>
        <p:spPr>
          <a:xfrm>
            <a:off x="502920" y="2684678"/>
            <a:ext cx="2743200" cy="603504"/>
          </a:xfrm>
          <a:prstGeom prst="rect">
            <a:avLst/>
          </a:prstGeom>
          <a:solidFill>
            <a:srgbClr val="FFFFFF"/>
          </a:solidFill>
          <a:ln w="12700">
            <a:solidFill>
              <a:srgbClr val="D7E1EC"/>
            </a:solidFill>
            <a:prstDash val="solid"/>
          </a:ln>
        </p:spPr>
      </p:sp>
      <p:sp>
        <p:nvSpPr>
          <p:cNvPr id="31" name="Text 29"/>
          <p:cNvSpPr/>
          <p:nvPr/>
        </p:nvSpPr>
        <p:spPr>
          <a:xfrm>
            <a:off x="548640" y="2684678"/>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MME (Perc.)</a:t>
            </a:r>
            <a:endParaRPr lang="en-US" sz="1250" dirty="0"/>
          </a:p>
        </p:txBody>
      </p:sp>
      <p:sp>
        <p:nvSpPr>
          <p:cNvPr id="32" name="Shape 30"/>
          <p:cNvSpPr/>
          <p:nvPr/>
        </p:nvSpPr>
        <p:spPr>
          <a:xfrm>
            <a:off x="3246120" y="2684678"/>
            <a:ext cx="1691640" cy="603504"/>
          </a:xfrm>
          <a:prstGeom prst="rect">
            <a:avLst/>
          </a:prstGeom>
          <a:solidFill>
            <a:srgbClr val="FFFFFF"/>
          </a:solidFill>
          <a:ln w="12700">
            <a:solidFill>
              <a:srgbClr val="D7E1EC"/>
            </a:solidFill>
            <a:prstDash val="solid"/>
          </a:ln>
        </p:spPr>
      </p:sp>
      <p:sp>
        <p:nvSpPr>
          <p:cNvPr id="33" name="Text 31"/>
          <p:cNvSpPr/>
          <p:nvPr/>
        </p:nvSpPr>
        <p:spPr>
          <a:xfrm>
            <a:off x="329184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1521.7</a:t>
            </a:r>
            <a:endParaRPr lang="en-US" sz="1250" dirty="0"/>
          </a:p>
        </p:txBody>
      </p:sp>
      <p:sp>
        <p:nvSpPr>
          <p:cNvPr id="34" name="Shape 32"/>
          <p:cNvSpPr/>
          <p:nvPr/>
        </p:nvSpPr>
        <p:spPr>
          <a:xfrm>
            <a:off x="4937760" y="2684678"/>
            <a:ext cx="1691640" cy="603504"/>
          </a:xfrm>
          <a:prstGeom prst="rect">
            <a:avLst/>
          </a:prstGeom>
          <a:solidFill>
            <a:srgbClr val="FFFFFF"/>
          </a:solidFill>
          <a:ln w="12700">
            <a:solidFill>
              <a:srgbClr val="D7E1EC"/>
            </a:solidFill>
            <a:prstDash val="solid"/>
          </a:ln>
        </p:spPr>
      </p:sp>
      <p:sp>
        <p:nvSpPr>
          <p:cNvPr id="35" name="Text 33"/>
          <p:cNvSpPr/>
          <p:nvPr/>
        </p:nvSpPr>
        <p:spPr>
          <a:xfrm>
            <a:off x="498348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1521.7</a:t>
            </a:r>
            <a:endParaRPr lang="en-US" sz="1250" dirty="0"/>
          </a:p>
        </p:txBody>
      </p:sp>
      <p:sp>
        <p:nvSpPr>
          <p:cNvPr id="36" name="Shape 34"/>
          <p:cNvSpPr/>
          <p:nvPr/>
        </p:nvSpPr>
        <p:spPr>
          <a:xfrm>
            <a:off x="6629400" y="2684678"/>
            <a:ext cx="1691640" cy="603504"/>
          </a:xfrm>
          <a:prstGeom prst="rect">
            <a:avLst/>
          </a:prstGeom>
          <a:solidFill>
            <a:srgbClr val="FFFFFF"/>
          </a:solidFill>
          <a:ln w="12700">
            <a:solidFill>
              <a:srgbClr val="D7E1EC"/>
            </a:solidFill>
            <a:prstDash val="solid"/>
          </a:ln>
        </p:spPr>
      </p:sp>
      <p:sp>
        <p:nvSpPr>
          <p:cNvPr id="37" name="Text 35"/>
          <p:cNvSpPr/>
          <p:nvPr/>
        </p:nvSpPr>
        <p:spPr>
          <a:xfrm>
            <a:off x="667512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1519.7</a:t>
            </a:r>
            <a:endParaRPr lang="en-US" sz="1250" dirty="0"/>
          </a:p>
        </p:txBody>
      </p:sp>
      <p:sp>
        <p:nvSpPr>
          <p:cNvPr id="38" name="Shape 36"/>
          <p:cNvSpPr/>
          <p:nvPr/>
        </p:nvSpPr>
        <p:spPr>
          <a:xfrm>
            <a:off x="8321040" y="2684678"/>
            <a:ext cx="1691640" cy="603504"/>
          </a:xfrm>
          <a:prstGeom prst="rect">
            <a:avLst/>
          </a:prstGeom>
          <a:solidFill>
            <a:srgbClr val="FFFFFF"/>
          </a:solidFill>
          <a:ln w="12700">
            <a:solidFill>
              <a:srgbClr val="D7E1EC"/>
            </a:solidFill>
            <a:prstDash val="solid"/>
          </a:ln>
        </p:spPr>
      </p:sp>
      <p:sp>
        <p:nvSpPr>
          <p:cNvPr id="39" name="Text 37"/>
          <p:cNvSpPr/>
          <p:nvPr/>
        </p:nvSpPr>
        <p:spPr>
          <a:xfrm>
            <a:off x="836676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1536.3</a:t>
            </a:r>
            <a:endParaRPr lang="en-US" sz="1250" dirty="0"/>
          </a:p>
        </p:txBody>
      </p:sp>
      <p:sp>
        <p:nvSpPr>
          <p:cNvPr id="40" name="Shape 38"/>
          <p:cNvSpPr/>
          <p:nvPr/>
        </p:nvSpPr>
        <p:spPr>
          <a:xfrm>
            <a:off x="10012680" y="2684678"/>
            <a:ext cx="1417320" cy="603504"/>
          </a:xfrm>
          <a:prstGeom prst="rect">
            <a:avLst/>
          </a:prstGeom>
          <a:solidFill>
            <a:srgbClr val="FAE7E4"/>
          </a:solidFill>
          <a:ln w="12700">
            <a:solidFill>
              <a:srgbClr val="D7E1EC"/>
            </a:solidFill>
            <a:prstDash val="solid"/>
          </a:ln>
        </p:spPr>
      </p:sp>
      <p:sp>
        <p:nvSpPr>
          <p:cNvPr id="41" name="Text 39"/>
          <p:cNvSpPr/>
          <p:nvPr/>
        </p:nvSpPr>
        <p:spPr>
          <a:xfrm>
            <a:off x="10058400" y="2684678"/>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+16.60</a:t>
            </a:r>
            <a:endParaRPr lang="en-US" sz="1250" dirty="0"/>
          </a:p>
        </p:txBody>
      </p:sp>
      <p:sp>
        <p:nvSpPr>
          <p:cNvPr id="42" name="Shape 40"/>
          <p:cNvSpPr/>
          <p:nvPr/>
        </p:nvSpPr>
        <p:spPr>
          <a:xfrm>
            <a:off x="502920" y="3288182"/>
            <a:ext cx="2743200" cy="603504"/>
          </a:xfrm>
          <a:prstGeom prst="rect">
            <a:avLst/>
          </a:prstGeom>
          <a:solidFill>
            <a:srgbClr val="EFF4F9"/>
          </a:solidFill>
          <a:ln w="12700">
            <a:solidFill>
              <a:srgbClr val="D7E1EC"/>
            </a:solidFill>
            <a:prstDash val="solid"/>
          </a:ln>
        </p:spPr>
      </p:sp>
      <p:sp>
        <p:nvSpPr>
          <p:cNvPr id="43" name="Text 41"/>
          <p:cNvSpPr/>
          <p:nvPr/>
        </p:nvSpPr>
        <p:spPr>
          <a:xfrm>
            <a:off x="548640" y="3288182"/>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44" name="Shape 42"/>
          <p:cNvSpPr/>
          <p:nvPr/>
        </p:nvSpPr>
        <p:spPr>
          <a:xfrm>
            <a:off x="3246120" y="3288182"/>
            <a:ext cx="1691640" cy="603504"/>
          </a:xfrm>
          <a:prstGeom prst="rect">
            <a:avLst/>
          </a:prstGeom>
          <a:solidFill>
            <a:srgbClr val="EFF4F9"/>
          </a:solidFill>
          <a:ln w="12700">
            <a:solidFill>
              <a:srgbClr val="D7E1EC"/>
            </a:solidFill>
            <a:prstDash val="solid"/>
          </a:ln>
        </p:spPr>
      </p:sp>
      <p:sp>
        <p:nvSpPr>
          <p:cNvPr id="45" name="Text 43"/>
          <p:cNvSpPr/>
          <p:nvPr/>
        </p:nvSpPr>
        <p:spPr>
          <a:xfrm>
            <a:off x="329184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68.8</a:t>
            </a:r>
            <a:endParaRPr lang="en-US" sz="1250" dirty="0"/>
          </a:p>
        </p:txBody>
      </p:sp>
      <p:sp>
        <p:nvSpPr>
          <p:cNvPr id="46" name="Shape 44"/>
          <p:cNvSpPr/>
          <p:nvPr/>
        </p:nvSpPr>
        <p:spPr>
          <a:xfrm>
            <a:off x="4937760" y="3288182"/>
            <a:ext cx="1691640" cy="603504"/>
          </a:xfrm>
          <a:prstGeom prst="rect">
            <a:avLst/>
          </a:prstGeom>
          <a:solidFill>
            <a:srgbClr val="EFF4F9"/>
          </a:solidFill>
          <a:ln w="12700">
            <a:solidFill>
              <a:srgbClr val="D7E1EC"/>
            </a:solidFill>
            <a:prstDash val="solid"/>
          </a:ln>
        </p:spPr>
      </p:sp>
      <p:sp>
        <p:nvSpPr>
          <p:cNvPr id="47" name="Text 45"/>
          <p:cNvSpPr/>
          <p:nvPr/>
        </p:nvSpPr>
        <p:spPr>
          <a:xfrm>
            <a:off x="498348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68.81</a:t>
            </a:r>
            <a:endParaRPr lang="en-US" sz="1250" dirty="0"/>
          </a:p>
        </p:txBody>
      </p:sp>
      <p:sp>
        <p:nvSpPr>
          <p:cNvPr id="48" name="Shape 46"/>
          <p:cNvSpPr/>
          <p:nvPr/>
        </p:nvSpPr>
        <p:spPr>
          <a:xfrm>
            <a:off x="6629400" y="3288182"/>
            <a:ext cx="1691640" cy="603504"/>
          </a:xfrm>
          <a:prstGeom prst="rect">
            <a:avLst/>
          </a:prstGeom>
          <a:solidFill>
            <a:srgbClr val="EFF4F9"/>
          </a:solidFill>
          <a:ln w="12700">
            <a:solidFill>
              <a:srgbClr val="D7E1EC"/>
            </a:solidFill>
            <a:prstDash val="solid"/>
          </a:ln>
        </p:spPr>
      </p:sp>
      <p:sp>
        <p:nvSpPr>
          <p:cNvPr id="49" name="Text 47"/>
          <p:cNvSpPr/>
          <p:nvPr/>
        </p:nvSpPr>
        <p:spPr>
          <a:xfrm>
            <a:off x="667512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68</a:t>
            </a:r>
            <a:endParaRPr lang="en-US" sz="1250" dirty="0"/>
          </a:p>
        </p:txBody>
      </p:sp>
      <p:sp>
        <p:nvSpPr>
          <p:cNvPr id="50" name="Shape 48"/>
          <p:cNvSpPr/>
          <p:nvPr/>
        </p:nvSpPr>
        <p:spPr>
          <a:xfrm>
            <a:off x="8321040" y="3288182"/>
            <a:ext cx="1691640" cy="603504"/>
          </a:xfrm>
          <a:prstGeom prst="rect">
            <a:avLst/>
          </a:prstGeom>
          <a:solidFill>
            <a:srgbClr val="EFF4F9"/>
          </a:solidFill>
          <a:ln w="12700">
            <a:solidFill>
              <a:srgbClr val="D7E1EC"/>
            </a:solidFill>
            <a:prstDash val="solid"/>
          </a:ln>
        </p:spPr>
      </p:sp>
      <p:sp>
        <p:nvSpPr>
          <p:cNvPr id="51" name="Text 49"/>
          <p:cNvSpPr/>
          <p:nvPr/>
        </p:nvSpPr>
        <p:spPr>
          <a:xfrm>
            <a:off x="836676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67.27</a:t>
            </a:r>
            <a:endParaRPr lang="en-US" sz="1250" dirty="0"/>
          </a:p>
        </p:txBody>
      </p:sp>
      <p:sp>
        <p:nvSpPr>
          <p:cNvPr id="52" name="Shape 50"/>
          <p:cNvSpPr/>
          <p:nvPr/>
        </p:nvSpPr>
        <p:spPr>
          <a:xfrm>
            <a:off x="10012680" y="3288182"/>
            <a:ext cx="1417320" cy="603504"/>
          </a:xfrm>
          <a:prstGeom prst="rect">
            <a:avLst/>
          </a:prstGeom>
          <a:solidFill>
            <a:srgbClr val="E7F4EC"/>
          </a:solidFill>
          <a:ln w="12700">
            <a:solidFill>
              <a:srgbClr val="D7E1EC"/>
            </a:solidFill>
            <a:prstDash val="solid"/>
          </a:ln>
        </p:spPr>
      </p:sp>
      <p:sp>
        <p:nvSpPr>
          <p:cNvPr id="53" name="Text 51"/>
          <p:cNvSpPr/>
          <p:nvPr/>
        </p:nvSpPr>
        <p:spPr>
          <a:xfrm>
            <a:off x="10058400" y="3288182"/>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-0.73</a:t>
            </a:r>
            <a:endParaRPr lang="en-US" sz="1250" dirty="0"/>
          </a:p>
        </p:txBody>
      </p:sp>
      <p:sp>
        <p:nvSpPr>
          <p:cNvPr id="54" name="Shape 52"/>
          <p:cNvSpPr/>
          <p:nvPr/>
        </p:nvSpPr>
        <p:spPr>
          <a:xfrm>
            <a:off x="502920" y="3891686"/>
            <a:ext cx="2743200" cy="603504"/>
          </a:xfrm>
          <a:prstGeom prst="rect">
            <a:avLst/>
          </a:prstGeom>
          <a:solidFill>
            <a:srgbClr val="FFFFFF"/>
          </a:solidFill>
          <a:ln w="12700">
            <a:solidFill>
              <a:srgbClr val="D7E1EC"/>
            </a:solidFill>
            <a:prstDash val="solid"/>
          </a:ln>
        </p:spPr>
      </p:sp>
      <p:sp>
        <p:nvSpPr>
          <p:cNvPr id="55" name="Text 53"/>
          <p:cNvSpPr/>
          <p:nvPr/>
        </p:nvSpPr>
        <p:spPr>
          <a:xfrm>
            <a:off x="548640" y="3891686"/>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56" name="Shape 54"/>
          <p:cNvSpPr/>
          <p:nvPr/>
        </p:nvSpPr>
        <p:spPr>
          <a:xfrm>
            <a:off x="3246120" y="3891686"/>
            <a:ext cx="1691640" cy="603504"/>
          </a:xfrm>
          <a:prstGeom prst="rect">
            <a:avLst/>
          </a:prstGeom>
          <a:solidFill>
            <a:srgbClr val="FFFFFF"/>
          </a:solidFill>
          <a:ln w="12700">
            <a:solidFill>
              <a:srgbClr val="D7E1EC"/>
            </a:solidFill>
            <a:prstDash val="solid"/>
          </a:ln>
        </p:spPr>
      </p:sp>
      <p:sp>
        <p:nvSpPr>
          <p:cNvPr id="57" name="Text 55"/>
          <p:cNvSpPr/>
          <p:nvPr/>
        </p:nvSpPr>
        <p:spPr>
          <a:xfrm>
            <a:off x="329184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63.2</a:t>
            </a:r>
            <a:endParaRPr lang="en-US" sz="1250" dirty="0"/>
          </a:p>
        </p:txBody>
      </p:sp>
      <p:sp>
        <p:nvSpPr>
          <p:cNvPr id="58" name="Shape 56"/>
          <p:cNvSpPr/>
          <p:nvPr/>
        </p:nvSpPr>
        <p:spPr>
          <a:xfrm>
            <a:off x="4937760" y="3891686"/>
            <a:ext cx="1691640" cy="603504"/>
          </a:xfrm>
          <a:prstGeom prst="rect">
            <a:avLst/>
          </a:prstGeom>
          <a:solidFill>
            <a:srgbClr val="FFFFFF"/>
          </a:solidFill>
          <a:ln w="12700">
            <a:solidFill>
              <a:srgbClr val="D7E1EC"/>
            </a:solidFill>
            <a:prstDash val="solid"/>
          </a:ln>
        </p:spPr>
      </p:sp>
      <p:sp>
        <p:nvSpPr>
          <p:cNvPr id="59" name="Text 57"/>
          <p:cNvSpPr/>
          <p:nvPr/>
        </p:nvSpPr>
        <p:spPr>
          <a:xfrm>
            <a:off x="498348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63.3</a:t>
            </a:r>
            <a:endParaRPr lang="en-US" sz="1250" dirty="0"/>
          </a:p>
        </p:txBody>
      </p:sp>
      <p:sp>
        <p:nvSpPr>
          <p:cNvPr id="60" name="Shape 58"/>
          <p:cNvSpPr/>
          <p:nvPr/>
        </p:nvSpPr>
        <p:spPr>
          <a:xfrm>
            <a:off x="6629400" y="3891686"/>
            <a:ext cx="1691640" cy="603504"/>
          </a:xfrm>
          <a:prstGeom prst="rect">
            <a:avLst/>
          </a:prstGeom>
          <a:solidFill>
            <a:srgbClr val="FFFFFF"/>
          </a:solidFill>
          <a:ln w="12700">
            <a:solidFill>
              <a:srgbClr val="D7E1EC"/>
            </a:solidFill>
            <a:prstDash val="solid"/>
          </a:ln>
        </p:spPr>
      </p:sp>
      <p:sp>
        <p:nvSpPr>
          <p:cNvPr id="61" name="Text 59"/>
          <p:cNvSpPr/>
          <p:nvPr/>
        </p:nvSpPr>
        <p:spPr>
          <a:xfrm>
            <a:off x="667512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62.2</a:t>
            </a:r>
            <a:endParaRPr lang="en-US" sz="1250" dirty="0"/>
          </a:p>
        </p:txBody>
      </p:sp>
      <p:sp>
        <p:nvSpPr>
          <p:cNvPr id="62" name="Shape 60"/>
          <p:cNvSpPr/>
          <p:nvPr/>
        </p:nvSpPr>
        <p:spPr>
          <a:xfrm>
            <a:off x="8321040" y="3891686"/>
            <a:ext cx="1691640" cy="603504"/>
          </a:xfrm>
          <a:prstGeom prst="rect">
            <a:avLst/>
          </a:prstGeom>
          <a:solidFill>
            <a:srgbClr val="FFFFFF"/>
          </a:solidFill>
          <a:ln w="12700">
            <a:solidFill>
              <a:srgbClr val="D7E1EC"/>
            </a:solidFill>
            <a:prstDash val="solid"/>
          </a:ln>
        </p:spPr>
      </p:sp>
      <p:sp>
        <p:nvSpPr>
          <p:cNvPr id="63" name="Text 61"/>
          <p:cNvSpPr/>
          <p:nvPr/>
        </p:nvSpPr>
        <p:spPr>
          <a:xfrm>
            <a:off x="836676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60.7</a:t>
            </a:r>
            <a:endParaRPr lang="en-US" sz="1250" dirty="0"/>
          </a:p>
        </p:txBody>
      </p:sp>
      <p:sp>
        <p:nvSpPr>
          <p:cNvPr id="64" name="Shape 62"/>
          <p:cNvSpPr/>
          <p:nvPr/>
        </p:nvSpPr>
        <p:spPr>
          <a:xfrm>
            <a:off x="10012680" y="3891686"/>
            <a:ext cx="1417320" cy="603504"/>
          </a:xfrm>
          <a:prstGeom prst="rect">
            <a:avLst/>
          </a:prstGeom>
          <a:solidFill>
            <a:srgbClr val="FBF3D9"/>
          </a:solidFill>
          <a:ln w="12700">
            <a:solidFill>
              <a:srgbClr val="D7E1EC"/>
            </a:solidFill>
            <a:prstDash val="solid"/>
          </a:ln>
        </p:spPr>
      </p:sp>
      <p:sp>
        <p:nvSpPr>
          <p:cNvPr id="65" name="Text 63"/>
          <p:cNvSpPr/>
          <p:nvPr/>
        </p:nvSpPr>
        <p:spPr>
          <a:xfrm>
            <a:off x="10058400" y="3891686"/>
            <a:ext cx="1325880" cy="603504"/>
          </a:xfrm>
          <a:prstGeom prst="rect">
            <a:avLst/>
          </a:prstGeom>
          <a:noFill/>
          <a:ln/>
        </p:spPr>
        <p:txBody>
          <a:bodyPr wrap="square" rtlCol="0" anchor="ctr"/>
          <a:lstStyle/>
          <a:p>
            <a:pPr algn="ctr" indent="0" marL="0">
              <a:buNone/>
            </a:pPr>
            <a:r>
              <a:rPr lang="en-US" sz="1250" b="1" dirty="0">
                <a:solidFill>
                  <a:srgbClr val="977C0E"/>
                </a:solidFill>
                <a:latin typeface="Calibri" pitchFamily="34" charset="0"/>
                <a:ea typeface="Calibri" pitchFamily="34" charset="-122"/>
                <a:cs typeface="Calibri" pitchFamily="34" charset="-120"/>
              </a:rPr>
              <a:t>-1.50</a:t>
            </a:r>
            <a:endParaRPr lang="en-US" sz="1250" dirty="0"/>
          </a:p>
        </p:txBody>
      </p:sp>
      <p:sp>
        <p:nvSpPr>
          <p:cNvPr id="66" name="Shape 64"/>
          <p:cNvSpPr/>
          <p:nvPr/>
        </p:nvSpPr>
        <p:spPr>
          <a:xfrm>
            <a:off x="502920" y="4495190"/>
            <a:ext cx="2743200" cy="603504"/>
          </a:xfrm>
          <a:prstGeom prst="rect">
            <a:avLst/>
          </a:prstGeom>
          <a:solidFill>
            <a:srgbClr val="EFF4F9"/>
          </a:solidFill>
          <a:ln w="12700">
            <a:solidFill>
              <a:srgbClr val="D7E1EC"/>
            </a:solidFill>
            <a:prstDash val="solid"/>
          </a:ln>
        </p:spPr>
      </p:sp>
      <p:sp>
        <p:nvSpPr>
          <p:cNvPr id="67" name="Text 65"/>
          <p:cNvSpPr/>
          <p:nvPr/>
        </p:nvSpPr>
        <p:spPr>
          <a:xfrm>
            <a:off x="548640" y="4495190"/>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68" name="Shape 66"/>
          <p:cNvSpPr/>
          <p:nvPr/>
        </p:nvSpPr>
        <p:spPr>
          <a:xfrm>
            <a:off x="3246120" y="4495190"/>
            <a:ext cx="1691640" cy="603504"/>
          </a:xfrm>
          <a:prstGeom prst="rect">
            <a:avLst/>
          </a:prstGeom>
          <a:solidFill>
            <a:srgbClr val="EFF4F9"/>
          </a:solidFill>
          <a:ln w="12700">
            <a:solidFill>
              <a:srgbClr val="D7E1EC"/>
            </a:solidFill>
            <a:prstDash val="solid"/>
          </a:ln>
        </p:spPr>
      </p:sp>
      <p:sp>
        <p:nvSpPr>
          <p:cNvPr id="69" name="Text 67"/>
          <p:cNvSpPr/>
          <p:nvPr/>
        </p:nvSpPr>
        <p:spPr>
          <a:xfrm>
            <a:off x="329184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72.7</a:t>
            </a:r>
            <a:endParaRPr lang="en-US" sz="1250" dirty="0"/>
          </a:p>
        </p:txBody>
      </p:sp>
      <p:sp>
        <p:nvSpPr>
          <p:cNvPr id="70" name="Shape 68"/>
          <p:cNvSpPr/>
          <p:nvPr/>
        </p:nvSpPr>
        <p:spPr>
          <a:xfrm>
            <a:off x="4937760" y="4495190"/>
            <a:ext cx="1691640" cy="603504"/>
          </a:xfrm>
          <a:prstGeom prst="rect">
            <a:avLst/>
          </a:prstGeom>
          <a:solidFill>
            <a:srgbClr val="EFF4F9"/>
          </a:solidFill>
          <a:ln w="12700">
            <a:solidFill>
              <a:srgbClr val="D7E1EC"/>
            </a:solidFill>
            <a:prstDash val="solid"/>
          </a:ln>
        </p:spPr>
      </p:sp>
      <p:sp>
        <p:nvSpPr>
          <p:cNvPr id="71" name="Text 69"/>
          <p:cNvSpPr/>
          <p:nvPr/>
        </p:nvSpPr>
        <p:spPr>
          <a:xfrm>
            <a:off x="498348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72.8</a:t>
            </a:r>
            <a:endParaRPr lang="en-US" sz="1250" dirty="0"/>
          </a:p>
        </p:txBody>
      </p:sp>
      <p:sp>
        <p:nvSpPr>
          <p:cNvPr id="72" name="Shape 70"/>
          <p:cNvSpPr/>
          <p:nvPr/>
        </p:nvSpPr>
        <p:spPr>
          <a:xfrm>
            <a:off x="6629400" y="4495190"/>
            <a:ext cx="1691640" cy="603504"/>
          </a:xfrm>
          <a:prstGeom prst="rect">
            <a:avLst/>
          </a:prstGeom>
          <a:solidFill>
            <a:srgbClr val="EFF4F9"/>
          </a:solidFill>
          <a:ln w="12700">
            <a:solidFill>
              <a:srgbClr val="D7E1EC"/>
            </a:solidFill>
            <a:prstDash val="solid"/>
          </a:ln>
        </p:spPr>
      </p:sp>
      <p:sp>
        <p:nvSpPr>
          <p:cNvPr id="73" name="Text 71"/>
          <p:cNvSpPr/>
          <p:nvPr/>
        </p:nvSpPr>
        <p:spPr>
          <a:xfrm>
            <a:off x="667512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72.7</a:t>
            </a:r>
            <a:endParaRPr lang="en-US" sz="1250" dirty="0"/>
          </a:p>
        </p:txBody>
      </p:sp>
      <p:sp>
        <p:nvSpPr>
          <p:cNvPr id="74" name="Shape 72"/>
          <p:cNvSpPr/>
          <p:nvPr/>
        </p:nvSpPr>
        <p:spPr>
          <a:xfrm>
            <a:off x="8321040" y="4495190"/>
            <a:ext cx="1691640" cy="603504"/>
          </a:xfrm>
          <a:prstGeom prst="rect">
            <a:avLst/>
          </a:prstGeom>
          <a:solidFill>
            <a:srgbClr val="EFF4F9"/>
          </a:solidFill>
          <a:ln w="12700">
            <a:solidFill>
              <a:srgbClr val="D7E1EC"/>
            </a:solidFill>
            <a:prstDash val="solid"/>
          </a:ln>
        </p:spPr>
      </p:sp>
      <p:sp>
        <p:nvSpPr>
          <p:cNvPr id="75" name="Text 73"/>
          <p:cNvSpPr/>
          <p:nvPr/>
        </p:nvSpPr>
        <p:spPr>
          <a:xfrm>
            <a:off x="836676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72.9</a:t>
            </a:r>
            <a:endParaRPr lang="en-US" sz="1250" dirty="0"/>
          </a:p>
        </p:txBody>
      </p:sp>
      <p:sp>
        <p:nvSpPr>
          <p:cNvPr id="76" name="Shape 74"/>
          <p:cNvSpPr/>
          <p:nvPr/>
        </p:nvSpPr>
        <p:spPr>
          <a:xfrm>
            <a:off x="10012680" y="4495190"/>
            <a:ext cx="1417320" cy="603504"/>
          </a:xfrm>
          <a:prstGeom prst="rect">
            <a:avLst/>
          </a:prstGeom>
          <a:solidFill>
            <a:srgbClr val="E7F4EC"/>
          </a:solidFill>
          <a:ln w="12700">
            <a:solidFill>
              <a:srgbClr val="D7E1EC"/>
            </a:solidFill>
            <a:prstDash val="solid"/>
          </a:ln>
        </p:spPr>
      </p:sp>
      <p:sp>
        <p:nvSpPr>
          <p:cNvPr id="77" name="Text 75"/>
          <p:cNvSpPr/>
          <p:nvPr/>
        </p:nvSpPr>
        <p:spPr>
          <a:xfrm>
            <a:off x="10058400" y="4495190"/>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+0.20</a:t>
            </a:r>
            <a:endParaRPr lang="en-US" sz="1250" dirty="0"/>
          </a:p>
        </p:txBody>
      </p:sp>
      <p:sp>
        <p:nvSpPr>
          <p:cNvPr id="78" name="Shape 76"/>
          <p:cNvSpPr/>
          <p:nvPr/>
        </p:nvSpPr>
        <p:spPr>
          <a:xfrm>
            <a:off x="548640" y="5299862"/>
            <a:ext cx="320040" cy="256032"/>
          </a:xfrm>
          <a:prstGeom prst="rect">
            <a:avLst/>
          </a:prstGeom>
          <a:solidFill>
            <a:srgbClr val="E7F4EC"/>
          </a:solidFill>
          <a:ln w="12700">
            <a:solidFill>
              <a:srgbClr val="D7E1EC"/>
            </a:solidFill>
            <a:prstDash val="solid"/>
          </a:ln>
        </p:spPr>
      </p:sp>
      <p:sp>
        <p:nvSpPr>
          <p:cNvPr id="79" name="Text 77"/>
          <p:cNvSpPr/>
          <p:nvPr/>
        </p:nvSpPr>
        <p:spPr>
          <a:xfrm>
            <a:off x="914400" y="5272430"/>
            <a:ext cx="1737360" cy="310896"/>
          </a:xfrm>
          <a:prstGeom prst="rect">
            <a:avLst/>
          </a:prstGeom>
          <a:noFill/>
          <a:ln/>
        </p:spPr>
        <p:txBody>
          <a:bodyPr wrap="square"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 1 pt</a:t>
            </a:r>
            <a:endParaRPr lang="en-US" sz="1100" dirty="0"/>
          </a:p>
        </p:txBody>
      </p:sp>
      <p:sp>
        <p:nvSpPr>
          <p:cNvPr id="80" name="Shape 78"/>
          <p:cNvSpPr/>
          <p:nvPr/>
        </p:nvSpPr>
        <p:spPr>
          <a:xfrm>
            <a:off x="2651760" y="5299862"/>
            <a:ext cx="320040" cy="256032"/>
          </a:xfrm>
          <a:prstGeom prst="rect">
            <a:avLst/>
          </a:prstGeom>
          <a:solidFill>
            <a:srgbClr val="FBF3D9"/>
          </a:solidFill>
          <a:ln w="12700">
            <a:solidFill>
              <a:srgbClr val="D7E1EC"/>
            </a:solidFill>
            <a:prstDash val="solid"/>
          </a:ln>
        </p:spPr>
      </p:sp>
      <p:sp>
        <p:nvSpPr>
          <p:cNvPr id="81" name="Text 79"/>
          <p:cNvSpPr/>
          <p:nvPr/>
        </p:nvSpPr>
        <p:spPr>
          <a:xfrm>
            <a:off x="3017520" y="5272430"/>
            <a:ext cx="1737360" cy="310896"/>
          </a:xfrm>
          <a:prstGeom prst="rect">
            <a:avLst/>
          </a:prstGeom>
          <a:noFill/>
          <a:ln/>
        </p:spPr>
        <p:txBody>
          <a:bodyPr wrap="square" rtlCol="0" anchor="ctr"/>
          <a:lstStyle/>
          <a:p>
            <a:pPr indent="0" marL="0">
              <a:buNone/>
            </a:pPr>
            <a:r>
              <a:rPr lang="en-US" sz="1100" b="1" dirty="0">
                <a:solidFill>
                  <a:srgbClr val="977C0E"/>
                </a:solidFill>
                <a:latin typeface="Calibri" pitchFamily="34" charset="0"/>
                <a:ea typeface="Calibri" pitchFamily="34" charset="-122"/>
                <a:cs typeface="Calibri" pitchFamily="34" charset="-120"/>
              </a:rPr>
              <a:t>≤ 3 pt</a:t>
            </a:r>
            <a:endParaRPr lang="en-US" sz="1100" dirty="0"/>
          </a:p>
        </p:txBody>
      </p:sp>
      <p:sp>
        <p:nvSpPr>
          <p:cNvPr id="82" name="Shape 80"/>
          <p:cNvSpPr/>
          <p:nvPr/>
        </p:nvSpPr>
        <p:spPr>
          <a:xfrm>
            <a:off x="4754880" y="5299862"/>
            <a:ext cx="320040" cy="256032"/>
          </a:xfrm>
          <a:prstGeom prst="rect">
            <a:avLst/>
          </a:prstGeom>
          <a:solidFill>
            <a:srgbClr val="FAE7E4"/>
          </a:solidFill>
          <a:ln w="12700">
            <a:solidFill>
              <a:srgbClr val="D7E1EC"/>
            </a:solidFill>
            <a:prstDash val="solid"/>
          </a:ln>
        </p:spPr>
      </p:sp>
      <p:sp>
        <p:nvSpPr>
          <p:cNvPr id="83" name="Text 81"/>
          <p:cNvSpPr/>
          <p:nvPr/>
        </p:nvSpPr>
        <p:spPr>
          <a:xfrm>
            <a:off x="5120640" y="5272430"/>
            <a:ext cx="1737360" cy="310896"/>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&gt; 3 pt</a:t>
            </a:r>
            <a:endParaRPr lang="en-US" sz="1100" dirty="0"/>
          </a:p>
        </p:txBody>
      </p:sp>
      <p:sp>
        <p:nvSpPr>
          <p:cNvPr id="84" name="Text 8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Qwen2.5-VL-7B — Paper vs Ours</a:t>
            </a:r>
            <a:endParaRPr lang="en-US" sz="2600" dirty="0"/>
          </a:p>
        </p:txBody>
      </p:sp>
      <p:sp>
        <p:nvSpPr>
          <p:cNvPr id="6" name="Shape 4"/>
          <p:cNvSpPr/>
          <p:nvPr/>
        </p:nvSpPr>
        <p:spPr>
          <a:xfrm>
            <a:off x="502920" y="1417320"/>
            <a:ext cx="2743200" cy="663854"/>
          </a:xfrm>
          <a:prstGeom prst="rect">
            <a:avLst/>
          </a:prstGeom>
          <a:solidFill>
            <a:srgbClr val="0B1F3A"/>
          </a:solidFill>
          <a:ln w="12700">
            <a:solidFill>
              <a:srgbClr val="D7E1EC"/>
            </a:solidFill>
            <a:prstDash val="solid"/>
          </a:ln>
        </p:spPr>
      </p:sp>
      <p:sp>
        <p:nvSpPr>
          <p:cNvPr id="7" name="Text 5"/>
          <p:cNvSpPr/>
          <p:nvPr/>
        </p:nvSpPr>
        <p:spPr>
          <a:xfrm>
            <a:off x="548640" y="1417320"/>
            <a:ext cx="265176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p>
        </p:txBody>
      </p:sp>
      <p:sp>
        <p:nvSpPr>
          <p:cNvPr id="8" name="Shape 6"/>
          <p:cNvSpPr/>
          <p:nvPr/>
        </p:nvSpPr>
        <p:spPr>
          <a:xfrm>
            <a:off x="3246120" y="1417320"/>
            <a:ext cx="1691640" cy="663854"/>
          </a:xfrm>
          <a:prstGeom prst="rect">
            <a:avLst/>
          </a:prstGeom>
          <a:solidFill>
            <a:srgbClr val="0B1F3A"/>
          </a:solidFill>
          <a:ln w="12700">
            <a:solidFill>
              <a:srgbClr val="D7E1EC"/>
            </a:solidFill>
            <a:prstDash val="solid"/>
          </a:ln>
        </p:spPr>
      </p:sp>
      <p:sp>
        <p:nvSpPr>
          <p:cNvPr id="9" name="Text 7"/>
          <p:cNvSpPr/>
          <p:nvPr/>
        </p:nvSpPr>
        <p:spPr>
          <a:xfrm>
            <a:off x="329184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0" name="Shape 8"/>
          <p:cNvSpPr/>
          <p:nvPr/>
        </p:nvSpPr>
        <p:spPr>
          <a:xfrm>
            <a:off x="4937760" y="1417320"/>
            <a:ext cx="1691640" cy="663854"/>
          </a:xfrm>
          <a:prstGeom prst="rect">
            <a:avLst/>
          </a:prstGeom>
          <a:solidFill>
            <a:srgbClr val="0B1F3A"/>
          </a:solidFill>
          <a:ln w="12700">
            <a:solidFill>
              <a:srgbClr val="D7E1EC"/>
            </a:solidFill>
            <a:prstDash val="solid"/>
          </a:ln>
        </p:spPr>
      </p:sp>
      <p:sp>
        <p:nvSpPr>
          <p:cNvPr id="11" name="Text 9"/>
          <p:cNvSpPr/>
          <p:nvPr/>
        </p:nvSpPr>
        <p:spPr>
          <a:xfrm>
            <a:off x="498348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2" name="Shape 10"/>
          <p:cNvSpPr/>
          <p:nvPr/>
        </p:nvSpPr>
        <p:spPr>
          <a:xfrm>
            <a:off x="6629400" y="1417320"/>
            <a:ext cx="1691640" cy="663854"/>
          </a:xfrm>
          <a:prstGeom prst="rect">
            <a:avLst/>
          </a:prstGeom>
          <a:solidFill>
            <a:srgbClr val="0B1F3A"/>
          </a:solidFill>
          <a:ln w="12700">
            <a:solidFill>
              <a:srgbClr val="D7E1EC"/>
            </a:solidFill>
            <a:prstDash val="solid"/>
          </a:ln>
        </p:spPr>
      </p:sp>
      <p:sp>
        <p:nvSpPr>
          <p:cNvPr id="13" name="Text 11"/>
          <p:cNvSpPr/>
          <p:nvPr/>
        </p:nvSpPr>
        <p:spPr>
          <a:xfrm>
            <a:off x="667512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4" name="Shape 12"/>
          <p:cNvSpPr/>
          <p:nvPr/>
        </p:nvSpPr>
        <p:spPr>
          <a:xfrm>
            <a:off x="8321040" y="1417320"/>
            <a:ext cx="1691640" cy="663854"/>
          </a:xfrm>
          <a:prstGeom prst="rect">
            <a:avLst/>
          </a:prstGeom>
          <a:solidFill>
            <a:srgbClr val="0B1F3A"/>
          </a:solidFill>
          <a:ln w="12700">
            <a:solidFill>
              <a:srgbClr val="D7E1EC"/>
            </a:solidFill>
            <a:prstDash val="solid"/>
          </a:ln>
        </p:spPr>
      </p:sp>
      <p:sp>
        <p:nvSpPr>
          <p:cNvPr id="15" name="Text 13"/>
          <p:cNvSpPr/>
          <p:nvPr/>
        </p:nvSpPr>
        <p:spPr>
          <a:xfrm>
            <a:off x="836676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6" name="Shape 14"/>
          <p:cNvSpPr/>
          <p:nvPr/>
        </p:nvSpPr>
        <p:spPr>
          <a:xfrm>
            <a:off x="10012680" y="1417320"/>
            <a:ext cx="1417320" cy="663854"/>
          </a:xfrm>
          <a:prstGeom prst="rect">
            <a:avLst/>
          </a:prstGeom>
          <a:solidFill>
            <a:srgbClr val="0B1F3A"/>
          </a:solidFill>
          <a:ln w="12700">
            <a:solidFill>
              <a:srgbClr val="D7E1EC"/>
            </a:solidFill>
            <a:prstDash val="solid"/>
          </a:ln>
        </p:spPr>
      </p:sp>
      <p:sp>
        <p:nvSpPr>
          <p:cNvPr id="17" name="Text 15"/>
          <p:cNvSpPr/>
          <p:nvPr/>
        </p:nvSpPr>
        <p:spPr>
          <a:xfrm>
            <a:off x="10058400" y="1417320"/>
            <a:ext cx="132588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Δ BTP</a:t>
            </a:r>
            <a:endParaRPr lang="en-US" sz="1200" dirty="0"/>
          </a:p>
        </p:txBody>
      </p:sp>
      <p:sp>
        <p:nvSpPr>
          <p:cNvPr id="18" name="Shape 16"/>
          <p:cNvSpPr/>
          <p:nvPr/>
        </p:nvSpPr>
        <p:spPr>
          <a:xfrm>
            <a:off x="502920" y="2081174"/>
            <a:ext cx="2743200" cy="603504"/>
          </a:xfrm>
          <a:prstGeom prst="rect">
            <a:avLst/>
          </a:prstGeom>
          <a:solidFill>
            <a:srgbClr val="EFF4F9"/>
          </a:solidFill>
          <a:ln w="12700">
            <a:solidFill>
              <a:srgbClr val="D7E1EC"/>
            </a:solidFill>
            <a:prstDash val="solid"/>
          </a:ln>
        </p:spPr>
      </p:sp>
      <p:sp>
        <p:nvSpPr>
          <p:cNvPr id="19" name="Text 17"/>
          <p:cNvSpPr/>
          <p:nvPr/>
        </p:nvSpPr>
        <p:spPr>
          <a:xfrm>
            <a:off x="548640" y="2081174"/>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20" name="Shape 18"/>
          <p:cNvSpPr/>
          <p:nvPr/>
        </p:nvSpPr>
        <p:spPr>
          <a:xfrm>
            <a:off x="3246120" y="2081174"/>
            <a:ext cx="1691640" cy="603504"/>
          </a:xfrm>
          <a:prstGeom prst="rect">
            <a:avLst/>
          </a:prstGeom>
          <a:solidFill>
            <a:srgbClr val="EFF4F9"/>
          </a:solidFill>
          <a:ln w="12700">
            <a:solidFill>
              <a:srgbClr val="D7E1EC"/>
            </a:solidFill>
            <a:prstDash val="solid"/>
          </a:ln>
        </p:spPr>
      </p:sp>
      <p:sp>
        <p:nvSpPr>
          <p:cNvPr id="21" name="Text 19"/>
          <p:cNvSpPr/>
          <p:nvPr/>
        </p:nvSpPr>
        <p:spPr>
          <a:xfrm>
            <a:off x="329184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87.4</a:t>
            </a:r>
            <a:endParaRPr lang="en-US" sz="1250" dirty="0"/>
          </a:p>
        </p:txBody>
      </p:sp>
      <p:sp>
        <p:nvSpPr>
          <p:cNvPr id="22" name="Shape 20"/>
          <p:cNvSpPr/>
          <p:nvPr/>
        </p:nvSpPr>
        <p:spPr>
          <a:xfrm>
            <a:off x="4937760" y="2081174"/>
            <a:ext cx="1691640" cy="603504"/>
          </a:xfrm>
          <a:prstGeom prst="rect">
            <a:avLst/>
          </a:prstGeom>
          <a:solidFill>
            <a:srgbClr val="EFF4F9"/>
          </a:solidFill>
          <a:ln w="12700">
            <a:solidFill>
              <a:srgbClr val="D7E1EC"/>
            </a:solidFill>
            <a:prstDash val="solid"/>
          </a:ln>
        </p:spPr>
      </p:sp>
      <p:sp>
        <p:nvSpPr>
          <p:cNvPr id="23" name="Text 21"/>
          <p:cNvSpPr/>
          <p:nvPr/>
        </p:nvSpPr>
        <p:spPr>
          <a:xfrm>
            <a:off x="498348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87.6</a:t>
            </a:r>
            <a:endParaRPr lang="en-US" sz="1250" dirty="0"/>
          </a:p>
        </p:txBody>
      </p:sp>
      <p:sp>
        <p:nvSpPr>
          <p:cNvPr id="24" name="Shape 22"/>
          <p:cNvSpPr/>
          <p:nvPr/>
        </p:nvSpPr>
        <p:spPr>
          <a:xfrm>
            <a:off x="6629400" y="2081174"/>
            <a:ext cx="1691640" cy="603504"/>
          </a:xfrm>
          <a:prstGeom prst="rect">
            <a:avLst/>
          </a:prstGeom>
          <a:solidFill>
            <a:srgbClr val="EFF4F9"/>
          </a:solidFill>
          <a:ln w="12700">
            <a:solidFill>
              <a:srgbClr val="D7E1EC"/>
            </a:solidFill>
            <a:prstDash val="solid"/>
          </a:ln>
        </p:spPr>
      </p:sp>
      <p:sp>
        <p:nvSpPr>
          <p:cNvPr id="25" name="Text 23"/>
          <p:cNvSpPr/>
          <p:nvPr/>
        </p:nvSpPr>
        <p:spPr>
          <a:xfrm>
            <a:off x="667512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86.2</a:t>
            </a:r>
            <a:endParaRPr lang="en-US" sz="1250" dirty="0"/>
          </a:p>
        </p:txBody>
      </p:sp>
      <p:sp>
        <p:nvSpPr>
          <p:cNvPr id="26" name="Shape 24"/>
          <p:cNvSpPr/>
          <p:nvPr/>
        </p:nvSpPr>
        <p:spPr>
          <a:xfrm>
            <a:off x="8321040" y="2081174"/>
            <a:ext cx="1691640" cy="603504"/>
          </a:xfrm>
          <a:prstGeom prst="rect">
            <a:avLst/>
          </a:prstGeom>
          <a:solidFill>
            <a:srgbClr val="EFF4F9"/>
          </a:solidFill>
          <a:ln w="12700">
            <a:solidFill>
              <a:srgbClr val="D7E1EC"/>
            </a:solidFill>
            <a:prstDash val="solid"/>
          </a:ln>
        </p:spPr>
      </p:sp>
      <p:sp>
        <p:nvSpPr>
          <p:cNvPr id="27" name="Text 25"/>
          <p:cNvSpPr/>
          <p:nvPr/>
        </p:nvSpPr>
        <p:spPr>
          <a:xfrm>
            <a:off x="836676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86.2</a:t>
            </a:r>
            <a:endParaRPr lang="en-US" sz="1250" dirty="0"/>
          </a:p>
        </p:txBody>
      </p:sp>
      <p:sp>
        <p:nvSpPr>
          <p:cNvPr id="28" name="Shape 26"/>
          <p:cNvSpPr/>
          <p:nvPr/>
        </p:nvSpPr>
        <p:spPr>
          <a:xfrm>
            <a:off x="10012680" y="2081174"/>
            <a:ext cx="1417320" cy="603504"/>
          </a:xfrm>
          <a:prstGeom prst="rect">
            <a:avLst/>
          </a:prstGeom>
          <a:solidFill>
            <a:srgbClr val="E7F4EC"/>
          </a:solidFill>
          <a:ln w="12700">
            <a:solidFill>
              <a:srgbClr val="D7E1EC"/>
            </a:solidFill>
            <a:prstDash val="solid"/>
          </a:ln>
        </p:spPr>
      </p:sp>
      <p:sp>
        <p:nvSpPr>
          <p:cNvPr id="29" name="Text 27"/>
          <p:cNvSpPr/>
          <p:nvPr/>
        </p:nvSpPr>
        <p:spPr>
          <a:xfrm>
            <a:off x="10058400" y="2081174"/>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0.00</a:t>
            </a:r>
            <a:endParaRPr lang="en-US" sz="1250" dirty="0"/>
          </a:p>
        </p:txBody>
      </p:sp>
      <p:sp>
        <p:nvSpPr>
          <p:cNvPr id="30" name="Shape 28"/>
          <p:cNvSpPr/>
          <p:nvPr/>
        </p:nvSpPr>
        <p:spPr>
          <a:xfrm>
            <a:off x="502920" y="2684678"/>
            <a:ext cx="2743200" cy="603504"/>
          </a:xfrm>
          <a:prstGeom prst="rect">
            <a:avLst/>
          </a:prstGeom>
          <a:solidFill>
            <a:srgbClr val="FFFFFF"/>
          </a:solidFill>
          <a:ln w="12700">
            <a:solidFill>
              <a:srgbClr val="D7E1EC"/>
            </a:solidFill>
            <a:prstDash val="solid"/>
          </a:ln>
        </p:spPr>
      </p:sp>
      <p:sp>
        <p:nvSpPr>
          <p:cNvPr id="31" name="Text 29"/>
          <p:cNvSpPr/>
          <p:nvPr/>
        </p:nvSpPr>
        <p:spPr>
          <a:xfrm>
            <a:off x="548640" y="2684678"/>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MME (Perc.)</a:t>
            </a:r>
            <a:endParaRPr lang="en-US" sz="1250" dirty="0"/>
          </a:p>
        </p:txBody>
      </p:sp>
      <p:sp>
        <p:nvSpPr>
          <p:cNvPr id="32" name="Shape 30"/>
          <p:cNvSpPr/>
          <p:nvPr/>
        </p:nvSpPr>
        <p:spPr>
          <a:xfrm>
            <a:off x="3246120" y="2684678"/>
            <a:ext cx="1691640" cy="603504"/>
          </a:xfrm>
          <a:prstGeom prst="rect">
            <a:avLst/>
          </a:prstGeom>
          <a:solidFill>
            <a:srgbClr val="FFFFFF"/>
          </a:solidFill>
          <a:ln w="12700">
            <a:solidFill>
              <a:srgbClr val="D7E1EC"/>
            </a:solidFill>
            <a:prstDash val="solid"/>
          </a:ln>
        </p:spPr>
      </p:sp>
      <p:sp>
        <p:nvSpPr>
          <p:cNvPr id="33" name="Text 31"/>
          <p:cNvSpPr/>
          <p:nvPr/>
        </p:nvSpPr>
        <p:spPr>
          <a:xfrm>
            <a:off x="329184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1690.8</a:t>
            </a:r>
            <a:endParaRPr lang="en-US" sz="1250" dirty="0"/>
          </a:p>
        </p:txBody>
      </p:sp>
      <p:sp>
        <p:nvSpPr>
          <p:cNvPr id="34" name="Shape 32"/>
          <p:cNvSpPr/>
          <p:nvPr/>
        </p:nvSpPr>
        <p:spPr>
          <a:xfrm>
            <a:off x="4937760" y="2684678"/>
            <a:ext cx="1691640" cy="603504"/>
          </a:xfrm>
          <a:prstGeom prst="rect">
            <a:avLst/>
          </a:prstGeom>
          <a:solidFill>
            <a:srgbClr val="FFFFFF"/>
          </a:solidFill>
          <a:ln w="12700">
            <a:solidFill>
              <a:srgbClr val="D7E1EC"/>
            </a:solidFill>
            <a:prstDash val="solid"/>
          </a:ln>
        </p:spPr>
      </p:sp>
      <p:sp>
        <p:nvSpPr>
          <p:cNvPr id="35" name="Text 33"/>
          <p:cNvSpPr/>
          <p:nvPr/>
        </p:nvSpPr>
        <p:spPr>
          <a:xfrm>
            <a:off x="498348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1674.5</a:t>
            </a:r>
            <a:endParaRPr lang="en-US" sz="1250" dirty="0"/>
          </a:p>
        </p:txBody>
      </p:sp>
      <p:sp>
        <p:nvSpPr>
          <p:cNvPr id="36" name="Shape 34"/>
          <p:cNvSpPr/>
          <p:nvPr/>
        </p:nvSpPr>
        <p:spPr>
          <a:xfrm>
            <a:off x="6629400" y="2684678"/>
            <a:ext cx="1691640" cy="603504"/>
          </a:xfrm>
          <a:prstGeom prst="rect">
            <a:avLst/>
          </a:prstGeom>
          <a:solidFill>
            <a:srgbClr val="FFFFFF"/>
          </a:solidFill>
          <a:ln w="12700">
            <a:solidFill>
              <a:srgbClr val="D7E1EC"/>
            </a:solidFill>
            <a:prstDash val="solid"/>
          </a:ln>
        </p:spPr>
      </p:sp>
      <p:sp>
        <p:nvSpPr>
          <p:cNvPr id="37" name="Text 35"/>
          <p:cNvSpPr/>
          <p:nvPr/>
        </p:nvSpPr>
        <p:spPr>
          <a:xfrm>
            <a:off x="667512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1651.5</a:t>
            </a:r>
            <a:endParaRPr lang="en-US" sz="1250" dirty="0"/>
          </a:p>
        </p:txBody>
      </p:sp>
      <p:sp>
        <p:nvSpPr>
          <p:cNvPr id="38" name="Shape 36"/>
          <p:cNvSpPr/>
          <p:nvPr/>
        </p:nvSpPr>
        <p:spPr>
          <a:xfrm>
            <a:off x="8321040" y="2684678"/>
            <a:ext cx="1691640" cy="603504"/>
          </a:xfrm>
          <a:prstGeom prst="rect">
            <a:avLst/>
          </a:prstGeom>
          <a:solidFill>
            <a:srgbClr val="FFFFFF"/>
          </a:solidFill>
          <a:ln w="12700">
            <a:solidFill>
              <a:srgbClr val="D7E1EC"/>
            </a:solidFill>
            <a:prstDash val="solid"/>
          </a:ln>
        </p:spPr>
      </p:sp>
      <p:sp>
        <p:nvSpPr>
          <p:cNvPr id="39" name="Text 37"/>
          <p:cNvSpPr/>
          <p:nvPr/>
        </p:nvSpPr>
        <p:spPr>
          <a:xfrm>
            <a:off x="836676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1658.7</a:t>
            </a:r>
            <a:endParaRPr lang="en-US" sz="1250" dirty="0"/>
          </a:p>
        </p:txBody>
      </p:sp>
      <p:sp>
        <p:nvSpPr>
          <p:cNvPr id="40" name="Shape 38"/>
          <p:cNvSpPr/>
          <p:nvPr/>
        </p:nvSpPr>
        <p:spPr>
          <a:xfrm>
            <a:off x="10012680" y="2684678"/>
            <a:ext cx="1417320" cy="603504"/>
          </a:xfrm>
          <a:prstGeom prst="rect">
            <a:avLst/>
          </a:prstGeom>
          <a:solidFill>
            <a:srgbClr val="FAE7E4"/>
          </a:solidFill>
          <a:ln w="12700">
            <a:solidFill>
              <a:srgbClr val="D7E1EC"/>
            </a:solidFill>
            <a:prstDash val="solid"/>
          </a:ln>
        </p:spPr>
      </p:sp>
      <p:sp>
        <p:nvSpPr>
          <p:cNvPr id="41" name="Text 39"/>
          <p:cNvSpPr/>
          <p:nvPr/>
        </p:nvSpPr>
        <p:spPr>
          <a:xfrm>
            <a:off x="10058400" y="2684678"/>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+7.20</a:t>
            </a:r>
            <a:endParaRPr lang="en-US" sz="1250" dirty="0"/>
          </a:p>
        </p:txBody>
      </p:sp>
      <p:sp>
        <p:nvSpPr>
          <p:cNvPr id="42" name="Shape 40"/>
          <p:cNvSpPr/>
          <p:nvPr/>
        </p:nvSpPr>
        <p:spPr>
          <a:xfrm>
            <a:off x="502920" y="3288182"/>
            <a:ext cx="2743200" cy="603504"/>
          </a:xfrm>
          <a:prstGeom prst="rect">
            <a:avLst/>
          </a:prstGeom>
          <a:solidFill>
            <a:srgbClr val="EFF4F9"/>
          </a:solidFill>
          <a:ln w="12700">
            <a:solidFill>
              <a:srgbClr val="D7E1EC"/>
            </a:solidFill>
            <a:prstDash val="solid"/>
          </a:ln>
        </p:spPr>
      </p:sp>
      <p:sp>
        <p:nvSpPr>
          <p:cNvPr id="43" name="Text 41"/>
          <p:cNvSpPr/>
          <p:nvPr/>
        </p:nvSpPr>
        <p:spPr>
          <a:xfrm>
            <a:off x="548640" y="3288182"/>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44" name="Shape 42"/>
          <p:cNvSpPr/>
          <p:nvPr/>
        </p:nvSpPr>
        <p:spPr>
          <a:xfrm>
            <a:off x="3246120" y="3288182"/>
            <a:ext cx="1691640" cy="603504"/>
          </a:xfrm>
          <a:prstGeom prst="rect">
            <a:avLst/>
          </a:prstGeom>
          <a:solidFill>
            <a:srgbClr val="EFF4F9"/>
          </a:solidFill>
          <a:ln w="12700">
            <a:solidFill>
              <a:srgbClr val="D7E1EC"/>
            </a:solidFill>
            <a:prstDash val="solid"/>
          </a:ln>
        </p:spPr>
      </p:sp>
      <p:sp>
        <p:nvSpPr>
          <p:cNvPr id="45" name="Text 43"/>
          <p:cNvSpPr/>
          <p:nvPr/>
        </p:nvSpPr>
        <p:spPr>
          <a:xfrm>
            <a:off x="329184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82.5</a:t>
            </a:r>
            <a:endParaRPr lang="en-US" sz="1250" dirty="0"/>
          </a:p>
        </p:txBody>
      </p:sp>
      <p:sp>
        <p:nvSpPr>
          <p:cNvPr id="46" name="Shape 44"/>
          <p:cNvSpPr/>
          <p:nvPr/>
        </p:nvSpPr>
        <p:spPr>
          <a:xfrm>
            <a:off x="4937760" y="3288182"/>
            <a:ext cx="1691640" cy="603504"/>
          </a:xfrm>
          <a:prstGeom prst="rect">
            <a:avLst/>
          </a:prstGeom>
          <a:solidFill>
            <a:srgbClr val="EFF4F9"/>
          </a:solidFill>
          <a:ln w="12700">
            <a:solidFill>
              <a:srgbClr val="D7E1EC"/>
            </a:solidFill>
            <a:prstDash val="solid"/>
          </a:ln>
        </p:spPr>
      </p:sp>
      <p:sp>
        <p:nvSpPr>
          <p:cNvPr id="47" name="Text 45"/>
          <p:cNvSpPr/>
          <p:nvPr/>
        </p:nvSpPr>
        <p:spPr>
          <a:xfrm>
            <a:off x="498348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83.68</a:t>
            </a:r>
            <a:endParaRPr lang="en-US" sz="1250" dirty="0"/>
          </a:p>
        </p:txBody>
      </p:sp>
      <p:sp>
        <p:nvSpPr>
          <p:cNvPr id="48" name="Shape 46"/>
          <p:cNvSpPr/>
          <p:nvPr/>
        </p:nvSpPr>
        <p:spPr>
          <a:xfrm>
            <a:off x="6629400" y="3288182"/>
            <a:ext cx="1691640" cy="603504"/>
          </a:xfrm>
          <a:prstGeom prst="rect">
            <a:avLst/>
          </a:prstGeom>
          <a:solidFill>
            <a:srgbClr val="EFF4F9"/>
          </a:solidFill>
          <a:ln w="12700">
            <a:solidFill>
              <a:srgbClr val="D7E1EC"/>
            </a:solidFill>
            <a:prstDash val="solid"/>
          </a:ln>
        </p:spPr>
      </p:sp>
      <p:sp>
        <p:nvSpPr>
          <p:cNvPr id="49" name="Text 47"/>
          <p:cNvSpPr/>
          <p:nvPr/>
        </p:nvSpPr>
        <p:spPr>
          <a:xfrm>
            <a:off x="667512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75.2</a:t>
            </a:r>
            <a:endParaRPr lang="en-US" sz="1250" dirty="0"/>
          </a:p>
        </p:txBody>
      </p:sp>
      <p:sp>
        <p:nvSpPr>
          <p:cNvPr id="50" name="Shape 48"/>
          <p:cNvSpPr/>
          <p:nvPr/>
        </p:nvSpPr>
        <p:spPr>
          <a:xfrm>
            <a:off x="8321040" y="3288182"/>
            <a:ext cx="1691640" cy="603504"/>
          </a:xfrm>
          <a:prstGeom prst="rect">
            <a:avLst/>
          </a:prstGeom>
          <a:solidFill>
            <a:srgbClr val="EFF4F9"/>
          </a:solidFill>
          <a:ln w="12700">
            <a:solidFill>
              <a:srgbClr val="D7E1EC"/>
            </a:solidFill>
            <a:prstDash val="solid"/>
          </a:ln>
        </p:spPr>
      </p:sp>
      <p:sp>
        <p:nvSpPr>
          <p:cNvPr id="51" name="Text 49"/>
          <p:cNvSpPr/>
          <p:nvPr/>
        </p:nvSpPr>
        <p:spPr>
          <a:xfrm>
            <a:off x="836676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79.3</a:t>
            </a:r>
            <a:endParaRPr lang="en-US" sz="1250" dirty="0"/>
          </a:p>
        </p:txBody>
      </p:sp>
      <p:sp>
        <p:nvSpPr>
          <p:cNvPr id="52" name="Shape 50"/>
          <p:cNvSpPr/>
          <p:nvPr/>
        </p:nvSpPr>
        <p:spPr>
          <a:xfrm>
            <a:off x="10012680" y="3288182"/>
            <a:ext cx="1417320" cy="603504"/>
          </a:xfrm>
          <a:prstGeom prst="rect">
            <a:avLst/>
          </a:prstGeom>
          <a:solidFill>
            <a:srgbClr val="FAE7E4"/>
          </a:solidFill>
          <a:ln w="12700">
            <a:solidFill>
              <a:srgbClr val="D7E1EC"/>
            </a:solidFill>
            <a:prstDash val="solid"/>
          </a:ln>
        </p:spPr>
      </p:sp>
      <p:sp>
        <p:nvSpPr>
          <p:cNvPr id="53" name="Text 51"/>
          <p:cNvSpPr/>
          <p:nvPr/>
        </p:nvSpPr>
        <p:spPr>
          <a:xfrm>
            <a:off x="10058400" y="3288182"/>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+4.10</a:t>
            </a:r>
            <a:endParaRPr lang="en-US" sz="1250" dirty="0"/>
          </a:p>
        </p:txBody>
      </p:sp>
      <p:sp>
        <p:nvSpPr>
          <p:cNvPr id="54" name="Shape 52"/>
          <p:cNvSpPr/>
          <p:nvPr/>
        </p:nvSpPr>
        <p:spPr>
          <a:xfrm>
            <a:off x="502920" y="3891686"/>
            <a:ext cx="2743200" cy="603504"/>
          </a:xfrm>
          <a:prstGeom prst="rect">
            <a:avLst/>
          </a:prstGeom>
          <a:solidFill>
            <a:srgbClr val="FFFFFF"/>
          </a:solidFill>
          <a:ln w="12700">
            <a:solidFill>
              <a:srgbClr val="D7E1EC"/>
            </a:solidFill>
            <a:prstDash val="solid"/>
          </a:ln>
        </p:spPr>
      </p:sp>
      <p:sp>
        <p:nvSpPr>
          <p:cNvPr id="55" name="Text 53"/>
          <p:cNvSpPr/>
          <p:nvPr/>
        </p:nvSpPr>
        <p:spPr>
          <a:xfrm>
            <a:off x="548640" y="3891686"/>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56" name="Shape 54"/>
          <p:cNvSpPr/>
          <p:nvPr/>
        </p:nvSpPr>
        <p:spPr>
          <a:xfrm>
            <a:off x="3246120" y="3891686"/>
            <a:ext cx="1691640" cy="603504"/>
          </a:xfrm>
          <a:prstGeom prst="rect">
            <a:avLst/>
          </a:prstGeom>
          <a:solidFill>
            <a:srgbClr val="FFFFFF"/>
          </a:solidFill>
          <a:ln w="12700">
            <a:solidFill>
              <a:srgbClr val="D7E1EC"/>
            </a:solidFill>
            <a:prstDash val="solid"/>
          </a:ln>
        </p:spPr>
      </p:sp>
      <p:sp>
        <p:nvSpPr>
          <p:cNvPr id="57" name="Text 55"/>
          <p:cNvSpPr/>
          <p:nvPr/>
        </p:nvSpPr>
        <p:spPr>
          <a:xfrm>
            <a:off x="329184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60.4</a:t>
            </a:r>
            <a:endParaRPr lang="en-US" sz="1250" dirty="0"/>
          </a:p>
        </p:txBody>
      </p:sp>
      <p:sp>
        <p:nvSpPr>
          <p:cNvPr id="58" name="Shape 56"/>
          <p:cNvSpPr/>
          <p:nvPr/>
        </p:nvSpPr>
        <p:spPr>
          <a:xfrm>
            <a:off x="4937760" y="3891686"/>
            <a:ext cx="1691640" cy="603504"/>
          </a:xfrm>
          <a:prstGeom prst="rect">
            <a:avLst/>
          </a:prstGeom>
          <a:solidFill>
            <a:srgbClr val="FFFFFF"/>
          </a:solidFill>
          <a:ln w="12700">
            <a:solidFill>
              <a:srgbClr val="D7E1EC"/>
            </a:solidFill>
            <a:prstDash val="solid"/>
          </a:ln>
        </p:spPr>
      </p:sp>
      <p:sp>
        <p:nvSpPr>
          <p:cNvPr id="59" name="Text 57"/>
          <p:cNvSpPr/>
          <p:nvPr/>
        </p:nvSpPr>
        <p:spPr>
          <a:xfrm>
            <a:off x="498348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60.9</a:t>
            </a:r>
            <a:endParaRPr lang="en-US" sz="1250" dirty="0"/>
          </a:p>
        </p:txBody>
      </p:sp>
      <p:sp>
        <p:nvSpPr>
          <p:cNvPr id="60" name="Shape 58"/>
          <p:cNvSpPr/>
          <p:nvPr/>
        </p:nvSpPr>
        <p:spPr>
          <a:xfrm>
            <a:off x="6629400" y="3891686"/>
            <a:ext cx="1691640" cy="603504"/>
          </a:xfrm>
          <a:prstGeom prst="rect">
            <a:avLst/>
          </a:prstGeom>
          <a:solidFill>
            <a:srgbClr val="FFFFFF"/>
          </a:solidFill>
          <a:ln w="12700">
            <a:solidFill>
              <a:srgbClr val="D7E1EC"/>
            </a:solidFill>
            <a:prstDash val="solid"/>
          </a:ln>
        </p:spPr>
      </p:sp>
      <p:sp>
        <p:nvSpPr>
          <p:cNvPr id="61" name="Text 59"/>
          <p:cNvSpPr/>
          <p:nvPr/>
        </p:nvSpPr>
        <p:spPr>
          <a:xfrm>
            <a:off x="667512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57.2</a:t>
            </a:r>
            <a:endParaRPr lang="en-US" sz="1250" dirty="0"/>
          </a:p>
        </p:txBody>
      </p:sp>
      <p:sp>
        <p:nvSpPr>
          <p:cNvPr id="62" name="Shape 60"/>
          <p:cNvSpPr/>
          <p:nvPr/>
        </p:nvSpPr>
        <p:spPr>
          <a:xfrm>
            <a:off x="8321040" y="3891686"/>
            <a:ext cx="1691640" cy="603504"/>
          </a:xfrm>
          <a:prstGeom prst="rect">
            <a:avLst/>
          </a:prstGeom>
          <a:solidFill>
            <a:srgbClr val="FFFFFF"/>
          </a:solidFill>
          <a:ln w="12700">
            <a:solidFill>
              <a:srgbClr val="D7E1EC"/>
            </a:solidFill>
            <a:prstDash val="solid"/>
          </a:ln>
        </p:spPr>
      </p:sp>
      <p:sp>
        <p:nvSpPr>
          <p:cNvPr id="63" name="Text 61"/>
          <p:cNvSpPr/>
          <p:nvPr/>
        </p:nvSpPr>
        <p:spPr>
          <a:xfrm>
            <a:off x="836676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55.9</a:t>
            </a:r>
            <a:endParaRPr lang="en-US" sz="1250" dirty="0"/>
          </a:p>
        </p:txBody>
      </p:sp>
      <p:sp>
        <p:nvSpPr>
          <p:cNvPr id="64" name="Shape 62"/>
          <p:cNvSpPr/>
          <p:nvPr/>
        </p:nvSpPr>
        <p:spPr>
          <a:xfrm>
            <a:off x="10012680" y="3891686"/>
            <a:ext cx="1417320" cy="603504"/>
          </a:xfrm>
          <a:prstGeom prst="rect">
            <a:avLst/>
          </a:prstGeom>
          <a:solidFill>
            <a:srgbClr val="FBF3D9"/>
          </a:solidFill>
          <a:ln w="12700">
            <a:solidFill>
              <a:srgbClr val="D7E1EC"/>
            </a:solidFill>
            <a:prstDash val="solid"/>
          </a:ln>
        </p:spPr>
      </p:sp>
      <p:sp>
        <p:nvSpPr>
          <p:cNvPr id="65" name="Text 63"/>
          <p:cNvSpPr/>
          <p:nvPr/>
        </p:nvSpPr>
        <p:spPr>
          <a:xfrm>
            <a:off x="10058400" y="3891686"/>
            <a:ext cx="1325880" cy="603504"/>
          </a:xfrm>
          <a:prstGeom prst="rect">
            <a:avLst/>
          </a:prstGeom>
          <a:noFill/>
          <a:ln/>
        </p:spPr>
        <p:txBody>
          <a:bodyPr wrap="square" rtlCol="0" anchor="ctr"/>
          <a:lstStyle/>
          <a:p>
            <a:pPr algn="ctr" indent="0" marL="0">
              <a:buNone/>
            </a:pPr>
            <a:r>
              <a:rPr lang="en-US" sz="1250" b="1" dirty="0">
                <a:solidFill>
                  <a:srgbClr val="977C0E"/>
                </a:solidFill>
                <a:latin typeface="Calibri" pitchFamily="34" charset="0"/>
                <a:ea typeface="Calibri" pitchFamily="34" charset="-122"/>
                <a:cs typeface="Calibri" pitchFamily="34" charset="-120"/>
              </a:rPr>
              <a:t>-1.30</a:t>
            </a:r>
            <a:endParaRPr lang="en-US" sz="1250" dirty="0"/>
          </a:p>
        </p:txBody>
      </p:sp>
      <p:sp>
        <p:nvSpPr>
          <p:cNvPr id="66" name="Shape 64"/>
          <p:cNvSpPr/>
          <p:nvPr/>
        </p:nvSpPr>
        <p:spPr>
          <a:xfrm>
            <a:off x="502920" y="4495190"/>
            <a:ext cx="2743200" cy="603504"/>
          </a:xfrm>
          <a:prstGeom prst="rect">
            <a:avLst/>
          </a:prstGeom>
          <a:solidFill>
            <a:srgbClr val="EFF4F9"/>
          </a:solidFill>
          <a:ln w="12700">
            <a:solidFill>
              <a:srgbClr val="D7E1EC"/>
            </a:solidFill>
            <a:prstDash val="solid"/>
          </a:ln>
        </p:spPr>
      </p:sp>
      <p:sp>
        <p:nvSpPr>
          <p:cNvPr id="67" name="Text 65"/>
          <p:cNvSpPr/>
          <p:nvPr/>
        </p:nvSpPr>
        <p:spPr>
          <a:xfrm>
            <a:off x="548640" y="4495190"/>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68" name="Shape 66"/>
          <p:cNvSpPr/>
          <p:nvPr/>
        </p:nvSpPr>
        <p:spPr>
          <a:xfrm>
            <a:off x="3246120" y="4495190"/>
            <a:ext cx="1691640" cy="603504"/>
          </a:xfrm>
          <a:prstGeom prst="rect">
            <a:avLst/>
          </a:prstGeom>
          <a:solidFill>
            <a:srgbClr val="EFF4F9"/>
          </a:solidFill>
          <a:ln w="12700">
            <a:solidFill>
              <a:srgbClr val="D7E1EC"/>
            </a:solidFill>
            <a:prstDash val="solid"/>
          </a:ln>
        </p:spPr>
      </p:sp>
      <p:sp>
        <p:nvSpPr>
          <p:cNvPr id="69" name="Text 67"/>
          <p:cNvSpPr/>
          <p:nvPr/>
        </p:nvSpPr>
        <p:spPr>
          <a:xfrm>
            <a:off x="329184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76.7</a:t>
            </a:r>
            <a:endParaRPr lang="en-US" sz="1250" dirty="0"/>
          </a:p>
        </p:txBody>
      </p:sp>
      <p:sp>
        <p:nvSpPr>
          <p:cNvPr id="70" name="Shape 68"/>
          <p:cNvSpPr/>
          <p:nvPr/>
        </p:nvSpPr>
        <p:spPr>
          <a:xfrm>
            <a:off x="4937760" y="4495190"/>
            <a:ext cx="1691640" cy="603504"/>
          </a:xfrm>
          <a:prstGeom prst="rect">
            <a:avLst/>
          </a:prstGeom>
          <a:solidFill>
            <a:srgbClr val="EFF4F9"/>
          </a:solidFill>
          <a:ln w="12700">
            <a:solidFill>
              <a:srgbClr val="D7E1EC"/>
            </a:solidFill>
            <a:prstDash val="solid"/>
          </a:ln>
        </p:spPr>
      </p:sp>
      <p:sp>
        <p:nvSpPr>
          <p:cNvPr id="71" name="Text 69"/>
          <p:cNvSpPr/>
          <p:nvPr/>
        </p:nvSpPr>
        <p:spPr>
          <a:xfrm>
            <a:off x="498348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88.1</a:t>
            </a:r>
            <a:endParaRPr lang="en-US" sz="1250" dirty="0"/>
          </a:p>
        </p:txBody>
      </p:sp>
      <p:sp>
        <p:nvSpPr>
          <p:cNvPr id="72" name="Shape 70"/>
          <p:cNvSpPr/>
          <p:nvPr/>
        </p:nvSpPr>
        <p:spPr>
          <a:xfrm>
            <a:off x="6629400" y="4495190"/>
            <a:ext cx="1691640" cy="603504"/>
          </a:xfrm>
          <a:prstGeom prst="rect">
            <a:avLst/>
          </a:prstGeom>
          <a:solidFill>
            <a:srgbClr val="EFF4F9"/>
          </a:solidFill>
          <a:ln w="12700">
            <a:solidFill>
              <a:srgbClr val="D7E1EC"/>
            </a:solidFill>
            <a:prstDash val="solid"/>
          </a:ln>
        </p:spPr>
      </p:sp>
      <p:sp>
        <p:nvSpPr>
          <p:cNvPr id="73" name="Text 71"/>
          <p:cNvSpPr/>
          <p:nvPr/>
        </p:nvSpPr>
        <p:spPr>
          <a:xfrm>
            <a:off x="667512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74.1</a:t>
            </a:r>
            <a:endParaRPr lang="en-US" sz="1250" dirty="0"/>
          </a:p>
        </p:txBody>
      </p:sp>
      <p:sp>
        <p:nvSpPr>
          <p:cNvPr id="74" name="Shape 72"/>
          <p:cNvSpPr/>
          <p:nvPr/>
        </p:nvSpPr>
        <p:spPr>
          <a:xfrm>
            <a:off x="8321040" y="4495190"/>
            <a:ext cx="1691640" cy="603504"/>
          </a:xfrm>
          <a:prstGeom prst="rect">
            <a:avLst/>
          </a:prstGeom>
          <a:solidFill>
            <a:srgbClr val="EFF4F9"/>
          </a:solidFill>
          <a:ln w="12700">
            <a:solidFill>
              <a:srgbClr val="D7E1EC"/>
            </a:solidFill>
            <a:prstDash val="solid"/>
          </a:ln>
        </p:spPr>
      </p:sp>
      <p:sp>
        <p:nvSpPr>
          <p:cNvPr id="75" name="Text 73"/>
          <p:cNvSpPr/>
          <p:nvPr/>
        </p:nvSpPr>
        <p:spPr>
          <a:xfrm>
            <a:off x="836676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85.1</a:t>
            </a:r>
            <a:endParaRPr lang="en-US" sz="1250" dirty="0"/>
          </a:p>
        </p:txBody>
      </p:sp>
      <p:sp>
        <p:nvSpPr>
          <p:cNvPr id="76" name="Shape 74"/>
          <p:cNvSpPr/>
          <p:nvPr/>
        </p:nvSpPr>
        <p:spPr>
          <a:xfrm>
            <a:off x="10012680" y="4495190"/>
            <a:ext cx="1417320" cy="603504"/>
          </a:xfrm>
          <a:prstGeom prst="rect">
            <a:avLst/>
          </a:prstGeom>
          <a:solidFill>
            <a:srgbClr val="FAE7E4"/>
          </a:solidFill>
          <a:ln w="12700">
            <a:solidFill>
              <a:srgbClr val="D7E1EC"/>
            </a:solidFill>
            <a:prstDash val="solid"/>
          </a:ln>
        </p:spPr>
      </p:sp>
      <p:sp>
        <p:nvSpPr>
          <p:cNvPr id="77" name="Text 75"/>
          <p:cNvSpPr/>
          <p:nvPr/>
        </p:nvSpPr>
        <p:spPr>
          <a:xfrm>
            <a:off x="10058400" y="4495190"/>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+11.00</a:t>
            </a:r>
            <a:endParaRPr lang="en-US" sz="1250" dirty="0"/>
          </a:p>
        </p:txBody>
      </p:sp>
      <p:sp>
        <p:nvSpPr>
          <p:cNvPr id="78" name="Shape 76"/>
          <p:cNvSpPr/>
          <p:nvPr/>
        </p:nvSpPr>
        <p:spPr>
          <a:xfrm>
            <a:off x="548640" y="5299862"/>
            <a:ext cx="320040" cy="256032"/>
          </a:xfrm>
          <a:prstGeom prst="rect">
            <a:avLst/>
          </a:prstGeom>
          <a:solidFill>
            <a:srgbClr val="E7F4EC"/>
          </a:solidFill>
          <a:ln w="12700">
            <a:solidFill>
              <a:srgbClr val="D7E1EC"/>
            </a:solidFill>
            <a:prstDash val="solid"/>
          </a:ln>
        </p:spPr>
      </p:sp>
      <p:sp>
        <p:nvSpPr>
          <p:cNvPr id="79" name="Text 77"/>
          <p:cNvSpPr/>
          <p:nvPr/>
        </p:nvSpPr>
        <p:spPr>
          <a:xfrm>
            <a:off x="914400" y="5272430"/>
            <a:ext cx="1737360" cy="310896"/>
          </a:xfrm>
          <a:prstGeom prst="rect">
            <a:avLst/>
          </a:prstGeom>
          <a:noFill/>
          <a:ln/>
        </p:spPr>
        <p:txBody>
          <a:bodyPr wrap="square"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 1 pt</a:t>
            </a:r>
            <a:endParaRPr lang="en-US" sz="1100" dirty="0"/>
          </a:p>
        </p:txBody>
      </p:sp>
      <p:sp>
        <p:nvSpPr>
          <p:cNvPr id="80" name="Shape 78"/>
          <p:cNvSpPr/>
          <p:nvPr/>
        </p:nvSpPr>
        <p:spPr>
          <a:xfrm>
            <a:off x="2651760" y="5299862"/>
            <a:ext cx="320040" cy="256032"/>
          </a:xfrm>
          <a:prstGeom prst="rect">
            <a:avLst/>
          </a:prstGeom>
          <a:solidFill>
            <a:srgbClr val="FBF3D9"/>
          </a:solidFill>
          <a:ln w="12700">
            <a:solidFill>
              <a:srgbClr val="D7E1EC"/>
            </a:solidFill>
            <a:prstDash val="solid"/>
          </a:ln>
        </p:spPr>
      </p:sp>
      <p:sp>
        <p:nvSpPr>
          <p:cNvPr id="81" name="Text 79"/>
          <p:cNvSpPr/>
          <p:nvPr/>
        </p:nvSpPr>
        <p:spPr>
          <a:xfrm>
            <a:off x="3017520" y="5272430"/>
            <a:ext cx="1737360" cy="310896"/>
          </a:xfrm>
          <a:prstGeom prst="rect">
            <a:avLst/>
          </a:prstGeom>
          <a:noFill/>
          <a:ln/>
        </p:spPr>
        <p:txBody>
          <a:bodyPr wrap="square" rtlCol="0" anchor="ctr"/>
          <a:lstStyle/>
          <a:p>
            <a:pPr indent="0" marL="0">
              <a:buNone/>
            </a:pPr>
            <a:r>
              <a:rPr lang="en-US" sz="1100" b="1" dirty="0">
                <a:solidFill>
                  <a:srgbClr val="977C0E"/>
                </a:solidFill>
                <a:latin typeface="Calibri" pitchFamily="34" charset="0"/>
                <a:ea typeface="Calibri" pitchFamily="34" charset="-122"/>
                <a:cs typeface="Calibri" pitchFamily="34" charset="-120"/>
              </a:rPr>
              <a:t>≤ 3 pt</a:t>
            </a:r>
            <a:endParaRPr lang="en-US" sz="1100" dirty="0"/>
          </a:p>
        </p:txBody>
      </p:sp>
      <p:sp>
        <p:nvSpPr>
          <p:cNvPr id="82" name="Shape 80"/>
          <p:cNvSpPr/>
          <p:nvPr/>
        </p:nvSpPr>
        <p:spPr>
          <a:xfrm>
            <a:off x="4754880" y="5299862"/>
            <a:ext cx="320040" cy="256032"/>
          </a:xfrm>
          <a:prstGeom prst="rect">
            <a:avLst/>
          </a:prstGeom>
          <a:solidFill>
            <a:srgbClr val="FAE7E4"/>
          </a:solidFill>
          <a:ln w="12700">
            <a:solidFill>
              <a:srgbClr val="D7E1EC"/>
            </a:solidFill>
            <a:prstDash val="solid"/>
          </a:ln>
        </p:spPr>
      </p:sp>
      <p:sp>
        <p:nvSpPr>
          <p:cNvPr id="83" name="Text 81"/>
          <p:cNvSpPr/>
          <p:nvPr/>
        </p:nvSpPr>
        <p:spPr>
          <a:xfrm>
            <a:off x="5120640" y="5272430"/>
            <a:ext cx="1737360" cy="310896"/>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&gt; 3 pt</a:t>
            </a:r>
            <a:endParaRPr lang="en-US" sz="1100" dirty="0"/>
          </a:p>
        </p:txBody>
      </p:sp>
      <p:sp>
        <p:nvSpPr>
          <p:cNvPr id="84" name="Text 8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Master Comparison — Inspired by Paper Table 1</a:t>
            </a:r>
            <a:endParaRPr lang="en-US" sz="2600" dirty="0"/>
          </a:p>
        </p:txBody>
      </p:sp>
      <p:sp>
        <p:nvSpPr>
          <p:cNvPr id="6" name="Shape 4"/>
          <p:cNvSpPr/>
          <p:nvPr/>
        </p:nvSpPr>
        <p:spPr>
          <a:xfrm>
            <a:off x="457200" y="1298448"/>
            <a:ext cx="2514600" cy="384048"/>
          </a:xfrm>
          <a:prstGeom prst="rect">
            <a:avLst/>
          </a:prstGeom>
          <a:solidFill>
            <a:srgbClr val="0B1F3A"/>
          </a:solidFill>
          <a:ln w="12700">
            <a:solidFill>
              <a:srgbClr val="CBD6E2"/>
            </a:solidFill>
            <a:prstDash val="solid"/>
          </a:ln>
        </p:spPr>
      </p:sp>
      <p:sp>
        <p:nvSpPr>
          <p:cNvPr id="7" name="Text 5"/>
          <p:cNvSpPr/>
          <p:nvPr/>
        </p:nvSpPr>
        <p:spPr>
          <a:xfrm>
            <a:off x="493776" y="1298448"/>
            <a:ext cx="24414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8" name="Shape 6"/>
          <p:cNvSpPr/>
          <p:nvPr/>
        </p:nvSpPr>
        <p:spPr>
          <a:xfrm>
            <a:off x="2971800" y="1298448"/>
            <a:ext cx="1371600" cy="384048"/>
          </a:xfrm>
          <a:prstGeom prst="rect">
            <a:avLst/>
          </a:prstGeom>
          <a:solidFill>
            <a:srgbClr val="0B1F3A"/>
          </a:solidFill>
          <a:ln w="12700">
            <a:solidFill>
              <a:srgbClr val="CBD6E2"/>
            </a:solidFill>
            <a:prstDash val="solid"/>
          </a:ln>
        </p:spPr>
      </p:sp>
      <p:sp>
        <p:nvSpPr>
          <p:cNvPr id="9" name="Text 7"/>
          <p:cNvSpPr/>
          <p:nvPr/>
        </p:nvSpPr>
        <p:spPr>
          <a:xfrm>
            <a:off x="3008376" y="1298448"/>
            <a:ext cx="12984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Set</a:t>
            </a:r>
            <a:endParaRPr lang="en-US" sz="1100" dirty="0"/>
          </a:p>
        </p:txBody>
      </p:sp>
      <p:sp>
        <p:nvSpPr>
          <p:cNvPr id="10" name="Shape 8"/>
          <p:cNvSpPr/>
          <p:nvPr/>
        </p:nvSpPr>
        <p:spPr>
          <a:xfrm>
            <a:off x="4343400" y="1298448"/>
            <a:ext cx="1325880" cy="384048"/>
          </a:xfrm>
          <a:prstGeom prst="rect">
            <a:avLst/>
          </a:prstGeom>
          <a:solidFill>
            <a:srgbClr val="0B1F3A"/>
          </a:solidFill>
          <a:ln w="12700">
            <a:solidFill>
              <a:srgbClr val="CBD6E2"/>
            </a:solidFill>
            <a:prstDash val="solid"/>
          </a:ln>
        </p:spPr>
      </p:sp>
      <p:sp>
        <p:nvSpPr>
          <p:cNvPr id="11" name="Text 9"/>
          <p:cNvSpPr/>
          <p:nvPr/>
        </p:nvSpPr>
        <p:spPr>
          <a:xfrm>
            <a:off x="4379976" y="1298448"/>
            <a:ext cx="125272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GQA</a:t>
            </a:r>
            <a:endParaRPr lang="en-US" sz="1100" dirty="0"/>
          </a:p>
        </p:txBody>
      </p:sp>
      <p:sp>
        <p:nvSpPr>
          <p:cNvPr id="12" name="Shape 10"/>
          <p:cNvSpPr/>
          <p:nvPr/>
        </p:nvSpPr>
        <p:spPr>
          <a:xfrm>
            <a:off x="5669280" y="1298448"/>
            <a:ext cx="1463040" cy="384048"/>
          </a:xfrm>
          <a:prstGeom prst="rect">
            <a:avLst/>
          </a:prstGeom>
          <a:solidFill>
            <a:srgbClr val="0B1F3A"/>
          </a:solidFill>
          <a:ln w="12700">
            <a:solidFill>
              <a:srgbClr val="CBD6E2"/>
            </a:solidFill>
            <a:prstDash val="solid"/>
          </a:ln>
        </p:spPr>
      </p:sp>
      <p:sp>
        <p:nvSpPr>
          <p:cNvPr id="13" name="Text 11"/>
          <p:cNvSpPr/>
          <p:nvPr/>
        </p:nvSpPr>
        <p:spPr>
          <a:xfrm>
            <a:off x="5705856" y="1298448"/>
            <a:ext cx="138988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MME-P</a:t>
            </a:r>
            <a:endParaRPr lang="en-US" sz="1100" dirty="0"/>
          </a:p>
        </p:txBody>
      </p:sp>
      <p:sp>
        <p:nvSpPr>
          <p:cNvPr id="14" name="Shape 12"/>
          <p:cNvSpPr/>
          <p:nvPr/>
        </p:nvSpPr>
        <p:spPr>
          <a:xfrm>
            <a:off x="7132320" y="1298448"/>
            <a:ext cx="1463040" cy="384048"/>
          </a:xfrm>
          <a:prstGeom prst="rect">
            <a:avLst/>
          </a:prstGeom>
          <a:solidFill>
            <a:srgbClr val="0B1F3A"/>
          </a:solidFill>
          <a:ln w="12700">
            <a:solidFill>
              <a:srgbClr val="CBD6E2"/>
            </a:solidFill>
            <a:prstDash val="solid"/>
          </a:ln>
        </p:spPr>
      </p:sp>
      <p:sp>
        <p:nvSpPr>
          <p:cNvPr id="15" name="Text 13"/>
          <p:cNvSpPr/>
          <p:nvPr/>
        </p:nvSpPr>
        <p:spPr>
          <a:xfrm>
            <a:off x="7168896" y="1298448"/>
            <a:ext cx="138988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MMBench</a:t>
            </a:r>
            <a:endParaRPr lang="en-US" sz="1100" dirty="0"/>
          </a:p>
        </p:txBody>
      </p:sp>
      <p:sp>
        <p:nvSpPr>
          <p:cNvPr id="16" name="Shape 14"/>
          <p:cNvSpPr/>
          <p:nvPr/>
        </p:nvSpPr>
        <p:spPr>
          <a:xfrm>
            <a:off x="8595360" y="1298448"/>
            <a:ext cx="1325880" cy="384048"/>
          </a:xfrm>
          <a:prstGeom prst="rect">
            <a:avLst/>
          </a:prstGeom>
          <a:solidFill>
            <a:srgbClr val="0B1F3A"/>
          </a:solidFill>
          <a:ln w="12700">
            <a:solidFill>
              <a:srgbClr val="CBD6E2"/>
            </a:solidFill>
            <a:prstDash val="solid"/>
          </a:ln>
        </p:spPr>
      </p:sp>
      <p:sp>
        <p:nvSpPr>
          <p:cNvPr id="17" name="Text 15"/>
          <p:cNvSpPr/>
          <p:nvPr/>
        </p:nvSpPr>
        <p:spPr>
          <a:xfrm>
            <a:off x="8631936" y="1298448"/>
            <a:ext cx="125272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POPE</a:t>
            </a:r>
            <a:endParaRPr lang="en-US" sz="1100" dirty="0"/>
          </a:p>
        </p:txBody>
      </p:sp>
      <p:sp>
        <p:nvSpPr>
          <p:cNvPr id="18" name="Shape 16"/>
          <p:cNvSpPr/>
          <p:nvPr/>
        </p:nvSpPr>
        <p:spPr>
          <a:xfrm>
            <a:off x="9921240" y="1298448"/>
            <a:ext cx="1325880" cy="384048"/>
          </a:xfrm>
          <a:prstGeom prst="rect">
            <a:avLst/>
          </a:prstGeom>
          <a:solidFill>
            <a:srgbClr val="0B1F3A"/>
          </a:solidFill>
          <a:ln w="12700">
            <a:solidFill>
              <a:srgbClr val="CBD6E2"/>
            </a:solidFill>
            <a:prstDash val="solid"/>
          </a:ln>
        </p:spPr>
      </p:sp>
      <p:sp>
        <p:nvSpPr>
          <p:cNvPr id="19" name="Text 17"/>
          <p:cNvSpPr/>
          <p:nvPr/>
        </p:nvSpPr>
        <p:spPr>
          <a:xfrm>
            <a:off x="9957816" y="1298448"/>
            <a:ext cx="125272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SQA</a:t>
            </a:r>
            <a:endParaRPr lang="en-US" sz="1100" dirty="0"/>
          </a:p>
        </p:txBody>
      </p:sp>
      <p:sp>
        <p:nvSpPr>
          <p:cNvPr id="20" name="Shape 18"/>
          <p:cNvSpPr/>
          <p:nvPr/>
        </p:nvSpPr>
        <p:spPr>
          <a:xfrm>
            <a:off x="457200" y="1682496"/>
            <a:ext cx="2514600" cy="384048"/>
          </a:xfrm>
          <a:prstGeom prst="rect">
            <a:avLst/>
          </a:prstGeom>
          <a:solidFill>
            <a:srgbClr val="FFFFFF"/>
          </a:solidFill>
          <a:ln w="9525">
            <a:solidFill>
              <a:srgbClr val="E1E8F0"/>
            </a:solidFill>
            <a:prstDash val="solid"/>
          </a:ln>
        </p:spPr>
      </p:sp>
      <p:sp>
        <p:nvSpPr>
          <p:cNvPr id="21" name="Text 19"/>
          <p:cNvSpPr/>
          <p:nvPr/>
        </p:nvSpPr>
        <p:spPr>
          <a:xfrm>
            <a:off x="493776" y="1682496"/>
            <a:ext cx="2441448" cy="384048"/>
          </a:xfrm>
          <a:prstGeom prst="rect">
            <a:avLst/>
          </a:prstGeom>
          <a:noFill/>
          <a:ln/>
        </p:spPr>
        <p:txBody>
          <a:bodyPr wrap="square" rtlCol="0" anchor="ctr"/>
          <a:lstStyle/>
          <a:p>
            <a:pPr algn="l" indent="0" marL="0">
              <a:buNone/>
            </a:pPr>
            <a:r>
              <a:rPr lang="en-US" sz="1050" b="1" dirty="0">
                <a:solidFill>
                  <a:srgbClr val="1C7293"/>
                </a:solidFill>
                <a:latin typeface="Calibri" pitchFamily="34" charset="0"/>
                <a:ea typeface="Calibri" pitchFamily="34" charset="-122"/>
                <a:cs typeface="Calibri" pitchFamily="34" charset="-120"/>
              </a:rPr>
              <a:t>LLaVA-1.5-7B</a:t>
            </a:r>
            <a:endParaRPr lang="en-US" sz="1050" dirty="0"/>
          </a:p>
        </p:txBody>
      </p:sp>
      <p:sp>
        <p:nvSpPr>
          <p:cNvPr id="22" name="Shape 20"/>
          <p:cNvSpPr/>
          <p:nvPr/>
        </p:nvSpPr>
        <p:spPr>
          <a:xfrm>
            <a:off x="2971800" y="1682496"/>
            <a:ext cx="1371600" cy="384048"/>
          </a:xfrm>
          <a:prstGeom prst="rect">
            <a:avLst/>
          </a:prstGeom>
          <a:solidFill>
            <a:srgbClr val="FFFFFF"/>
          </a:solidFill>
          <a:ln w="9525">
            <a:solidFill>
              <a:srgbClr val="E1E8F0"/>
            </a:solidFill>
            <a:prstDash val="solid"/>
          </a:ln>
        </p:spPr>
      </p:sp>
      <p:sp>
        <p:nvSpPr>
          <p:cNvPr id="23" name="Text 21"/>
          <p:cNvSpPr/>
          <p:nvPr/>
        </p:nvSpPr>
        <p:spPr>
          <a:xfrm>
            <a:off x="3008376" y="1682496"/>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a:t>
            </a:r>
            <a:endParaRPr lang="en-US" sz="1050" dirty="0"/>
          </a:p>
        </p:txBody>
      </p:sp>
      <p:sp>
        <p:nvSpPr>
          <p:cNvPr id="24" name="Shape 22"/>
          <p:cNvSpPr/>
          <p:nvPr/>
        </p:nvSpPr>
        <p:spPr>
          <a:xfrm>
            <a:off x="4343400" y="1682496"/>
            <a:ext cx="1325880" cy="384048"/>
          </a:xfrm>
          <a:prstGeom prst="rect">
            <a:avLst/>
          </a:prstGeom>
          <a:solidFill>
            <a:srgbClr val="FFFFFF"/>
          </a:solidFill>
          <a:ln w="9525">
            <a:solidFill>
              <a:srgbClr val="E1E8F0"/>
            </a:solidFill>
            <a:prstDash val="solid"/>
          </a:ln>
        </p:spPr>
      </p:sp>
      <p:sp>
        <p:nvSpPr>
          <p:cNvPr id="25" name="Text 23"/>
          <p:cNvSpPr/>
          <p:nvPr/>
        </p:nvSpPr>
        <p:spPr>
          <a:xfrm>
            <a:off x="4379976" y="168249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62</a:t>
            </a:r>
            <a:endParaRPr lang="en-US" sz="1050" dirty="0"/>
          </a:p>
        </p:txBody>
      </p:sp>
      <p:sp>
        <p:nvSpPr>
          <p:cNvPr id="26" name="Shape 24"/>
          <p:cNvSpPr/>
          <p:nvPr/>
        </p:nvSpPr>
        <p:spPr>
          <a:xfrm>
            <a:off x="5669280" y="1682496"/>
            <a:ext cx="1463040" cy="384048"/>
          </a:xfrm>
          <a:prstGeom prst="rect">
            <a:avLst/>
          </a:prstGeom>
          <a:solidFill>
            <a:srgbClr val="FFFFFF"/>
          </a:solidFill>
          <a:ln w="9525">
            <a:solidFill>
              <a:srgbClr val="E1E8F0"/>
            </a:solidFill>
            <a:prstDash val="solid"/>
          </a:ln>
        </p:spPr>
      </p:sp>
      <p:sp>
        <p:nvSpPr>
          <p:cNvPr id="27" name="Text 25"/>
          <p:cNvSpPr/>
          <p:nvPr/>
        </p:nvSpPr>
        <p:spPr>
          <a:xfrm>
            <a:off x="5705856" y="168249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1510.7</a:t>
            </a:r>
            <a:endParaRPr lang="en-US" sz="1050" dirty="0"/>
          </a:p>
        </p:txBody>
      </p:sp>
      <p:sp>
        <p:nvSpPr>
          <p:cNvPr id="28" name="Shape 26"/>
          <p:cNvSpPr/>
          <p:nvPr/>
        </p:nvSpPr>
        <p:spPr>
          <a:xfrm>
            <a:off x="7132320" y="1682496"/>
            <a:ext cx="1463040" cy="384048"/>
          </a:xfrm>
          <a:prstGeom prst="rect">
            <a:avLst/>
          </a:prstGeom>
          <a:solidFill>
            <a:srgbClr val="FFFFFF"/>
          </a:solidFill>
          <a:ln w="9525">
            <a:solidFill>
              <a:srgbClr val="E1E8F0"/>
            </a:solidFill>
            <a:prstDash val="solid"/>
          </a:ln>
        </p:spPr>
      </p:sp>
      <p:sp>
        <p:nvSpPr>
          <p:cNvPr id="29" name="Text 27"/>
          <p:cNvSpPr/>
          <p:nvPr/>
        </p:nvSpPr>
        <p:spPr>
          <a:xfrm>
            <a:off x="7168896" y="168249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64.3</a:t>
            </a:r>
            <a:endParaRPr lang="en-US" sz="1050" dirty="0"/>
          </a:p>
        </p:txBody>
      </p:sp>
      <p:sp>
        <p:nvSpPr>
          <p:cNvPr id="30" name="Shape 28"/>
          <p:cNvSpPr/>
          <p:nvPr/>
        </p:nvSpPr>
        <p:spPr>
          <a:xfrm>
            <a:off x="8595360" y="1682496"/>
            <a:ext cx="1325880" cy="384048"/>
          </a:xfrm>
          <a:prstGeom prst="rect">
            <a:avLst/>
          </a:prstGeom>
          <a:solidFill>
            <a:srgbClr val="FFFFFF"/>
          </a:solidFill>
          <a:ln w="9525">
            <a:solidFill>
              <a:srgbClr val="E1E8F0"/>
            </a:solidFill>
            <a:prstDash val="solid"/>
          </a:ln>
        </p:spPr>
      </p:sp>
      <p:sp>
        <p:nvSpPr>
          <p:cNvPr id="31" name="Text 29"/>
          <p:cNvSpPr/>
          <p:nvPr/>
        </p:nvSpPr>
        <p:spPr>
          <a:xfrm>
            <a:off x="8631936" y="168249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85.8</a:t>
            </a:r>
            <a:endParaRPr lang="en-US" sz="1050" dirty="0"/>
          </a:p>
        </p:txBody>
      </p:sp>
      <p:sp>
        <p:nvSpPr>
          <p:cNvPr id="32" name="Shape 30"/>
          <p:cNvSpPr/>
          <p:nvPr/>
        </p:nvSpPr>
        <p:spPr>
          <a:xfrm>
            <a:off x="9921240" y="1682496"/>
            <a:ext cx="1325880" cy="384048"/>
          </a:xfrm>
          <a:prstGeom prst="rect">
            <a:avLst/>
          </a:prstGeom>
          <a:solidFill>
            <a:srgbClr val="FFFFFF"/>
          </a:solidFill>
          <a:ln w="9525">
            <a:solidFill>
              <a:srgbClr val="E1E8F0"/>
            </a:solidFill>
            <a:prstDash val="solid"/>
          </a:ln>
        </p:spPr>
      </p:sp>
      <p:sp>
        <p:nvSpPr>
          <p:cNvPr id="33" name="Text 31"/>
          <p:cNvSpPr/>
          <p:nvPr/>
        </p:nvSpPr>
        <p:spPr>
          <a:xfrm>
            <a:off x="9957816" y="168249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69.4</a:t>
            </a:r>
            <a:endParaRPr lang="en-US" sz="1050" dirty="0"/>
          </a:p>
        </p:txBody>
      </p:sp>
      <p:sp>
        <p:nvSpPr>
          <p:cNvPr id="34" name="Shape 32"/>
          <p:cNvSpPr/>
          <p:nvPr/>
        </p:nvSpPr>
        <p:spPr>
          <a:xfrm>
            <a:off x="457200" y="2066544"/>
            <a:ext cx="2514600" cy="384048"/>
          </a:xfrm>
          <a:prstGeom prst="rect">
            <a:avLst/>
          </a:prstGeom>
          <a:solidFill>
            <a:srgbClr val="EAF1F8"/>
          </a:solidFill>
          <a:ln w="9525">
            <a:solidFill>
              <a:srgbClr val="E1E8F0"/>
            </a:solidFill>
            <a:prstDash val="solid"/>
          </a:ln>
        </p:spPr>
      </p:sp>
      <p:sp>
        <p:nvSpPr>
          <p:cNvPr id="35" name="Text 33"/>
          <p:cNvSpPr/>
          <p:nvPr/>
        </p:nvSpPr>
        <p:spPr>
          <a:xfrm>
            <a:off x="493776" y="2066544"/>
            <a:ext cx="2441448" cy="384048"/>
          </a:xfrm>
          <a:prstGeom prst="rect">
            <a:avLst/>
          </a:prstGeom>
          <a:noFill/>
          <a:ln/>
        </p:spPr>
        <p:txBody>
          <a:bodyPr wrap="square" rtlCol="0" anchor="ctr"/>
          <a:lstStyle/>
          <a:p>
            <a:pPr algn="l" indent="0" marL="0">
              <a:buNone/>
            </a:pPr>
            <a:endParaRPr lang="en-US" sz="1050" dirty="0"/>
          </a:p>
        </p:txBody>
      </p:sp>
      <p:sp>
        <p:nvSpPr>
          <p:cNvPr id="36" name="Shape 34"/>
          <p:cNvSpPr/>
          <p:nvPr/>
        </p:nvSpPr>
        <p:spPr>
          <a:xfrm>
            <a:off x="2971800" y="2066544"/>
            <a:ext cx="1371600" cy="384048"/>
          </a:xfrm>
          <a:prstGeom prst="rect">
            <a:avLst/>
          </a:prstGeom>
          <a:solidFill>
            <a:srgbClr val="EAF1F8"/>
          </a:solidFill>
          <a:ln w="9525">
            <a:solidFill>
              <a:srgbClr val="E1E8F0"/>
            </a:solidFill>
            <a:prstDash val="solid"/>
          </a:ln>
        </p:spPr>
      </p:sp>
      <p:sp>
        <p:nvSpPr>
          <p:cNvPr id="37" name="Text 35"/>
          <p:cNvSpPr/>
          <p:nvPr/>
        </p:nvSpPr>
        <p:spPr>
          <a:xfrm>
            <a:off x="3008376" y="2066544"/>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a:t>
            </a:r>
            <a:endParaRPr lang="en-US" sz="1050" dirty="0"/>
          </a:p>
        </p:txBody>
      </p:sp>
      <p:sp>
        <p:nvSpPr>
          <p:cNvPr id="38" name="Shape 36"/>
          <p:cNvSpPr/>
          <p:nvPr/>
        </p:nvSpPr>
        <p:spPr>
          <a:xfrm>
            <a:off x="4343400" y="2066544"/>
            <a:ext cx="1325880" cy="384048"/>
          </a:xfrm>
          <a:prstGeom prst="rect">
            <a:avLst/>
          </a:prstGeom>
          <a:solidFill>
            <a:srgbClr val="EAF1F8"/>
          </a:solidFill>
          <a:ln w="9525">
            <a:solidFill>
              <a:srgbClr val="E1E8F0"/>
            </a:solidFill>
            <a:prstDash val="solid"/>
          </a:ln>
        </p:spPr>
      </p:sp>
      <p:sp>
        <p:nvSpPr>
          <p:cNvPr id="39" name="Text 37"/>
          <p:cNvSpPr/>
          <p:nvPr/>
        </p:nvSpPr>
        <p:spPr>
          <a:xfrm>
            <a:off x="4379976" y="206654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61.98</a:t>
            </a:r>
            <a:endParaRPr lang="en-US" sz="1050" dirty="0"/>
          </a:p>
        </p:txBody>
      </p:sp>
      <p:sp>
        <p:nvSpPr>
          <p:cNvPr id="40" name="Shape 38"/>
          <p:cNvSpPr/>
          <p:nvPr/>
        </p:nvSpPr>
        <p:spPr>
          <a:xfrm>
            <a:off x="5669280" y="2066544"/>
            <a:ext cx="1463040" cy="384048"/>
          </a:xfrm>
          <a:prstGeom prst="rect">
            <a:avLst/>
          </a:prstGeom>
          <a:solidFill>
            <a:srgbClr val="EAF1F8"/>
          </a:solidFill>
          <a:ln w="9525">
            <a:solidFill>
              <a:srgbClr val="E1E8F0"/>
            </a:solidFill>
            <a:prstDash val="solid"/>
          </a:ln>
        </p:spPr>
      </p:sp>
      <p:sp>
        <p:nvSpPr>
          <p:cNvPr id="41" name="Text 39"/>
          <p:cNvSpPr/>
          <p:nvPr/>
        </p:nvSpPr>
        <p:spPr>
          <a:xfrm>
            <a:off x="5705856" y="206654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1507.5</a:t>
            </a:r>
            <a:endParaRPr lang="en-US" sz="1050" dirty="0"/>
          </a:p>
        </p:txBody>
      </p:sp>
      <p:sp>
        <p:nvSpPr>
          <p:cNvPr id="42" name="Shape 40"/>
          <p:cNvSpPr/>
          <p:nvPr/>
        </p:nvSpPr>
        <p:spPr>
          <a:xfrm>
            <a:off x="7132320" y="2066544"/>
            <a:ext cx="1463040" cy="384048"/>
          </a:xfrm>
          <a:prstGeom prst="rect">
            <a:avLst/>
          </a:prstGeom>
          <a:solidFill>
            <a:srgbClr val="EAF1F8"/>
          </a:solidFill>
          <a:ln w="9525">
            <a:solidFill>
              <a:srgbClr val="E1E8F0"/>
            </a:solidFill>
            <a:prstDash val="solid"/>
          </a:ln>
        </p:spPr>
      </p:sp>
      <p:sp>
        <p:nvSpPr>
          <p:cNvPr id="43" name="Text 41"/>
          <p:cNvSpPr/>
          <p:nvPr/>
        </p:nvSpPr>
        <p:spPr>
          <a:xfrm>
            <a:off x="7168896" y="206654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64</a:t>
            </a:r>
            <a:endParaRPr lang="en-US" sz="1050" dirty="0"/>
          </a:p>
        </p:txBody>
      </p:sp>
      <p:sp>
        <p:nvSpPr>
          <p:cNvPr id="44" name="Shape 42"/>
          <p:cNvSpPr/>
          <p:nvPr/>
        </p:nvSpPr>
        <p:spPr>
          <a:xfrm>
            <a:off x="8595360" y="2066544"/>
            <a:ext cx="1325880" cy="384048"/>
          </a:xfrm>
          <a:prstGeom prst="rect">
            <a:avLst/>
          </a:prstGeom>
          <a:solidFill>
            <a:srgbClr val="EAF1F8"/>
          </a:solidFill>
          <a:ln w="9525">
            <a:solidFill>
              <a:srgbClr val="E1E8F0"/>
            </a:solidFill>
            <a:prstDash val="solid"/>
          </a:ln>
        </p:spPr>
      </p:sp>
      <p:sp>
        <p:nvSpPr>
          <p:cNvPr id="45" name="Text 43"/>
          <p:cNvSpPr/>
          <p:nvPr/>
        </p:nvSpPr>
        <p:spPr>
          <a:xfrm>
            <a:off x="8631936" y="206654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86.98</a:t>
            </a:r>
            <a:endParaRPr lang="en-US" sz="1050" dirty="0"/>
          </a:p>
        </p:txBody>
      </p:sp>
      <p:sp>
        <p:nvSpPr>
          <p:cNvPr id="46" name="Shape 44"/>
          <p:cNvSpPr/>
          <p:nvPr/>
        </p:nvSpPr>
        <p:spPr>
          <a:xfrm>
            <a:off x="9921240" y="2066544"/>
            <a:ext cx="1325880" cy="384048"/>
          </a:xfrm>
          <a:prstGeom prst="rect">
            <a:avLst/>
          </a:prstGeom>
          <a:solidFill>
            <a:srgbClr val="EAF1F8"/>
          </a:solidFill>
          <a:ln w="9525">
            <a:solidFill>
              <a:srgbClr val="E1E8F0"/>
            </a:solidFill>
            <a:prstDash val="solid"/>
          </a:ln>
        </p:spPr>
      </p:sp>
      <p:sp>
        <p:nvSpPr>
          <p:cNvPr id="47" name="Text 45"/>
          <p:cNvSpPr/>
          <p:nvPr/>
        </p:nvSpPr>
        <p:spPr>
          <a:xfrm>
            <a:off x="9957816" y="206654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69.41</a:t>
            </a:r>
            <a:endParaRPr lang="en-US" sz="1050" dirty="0"/>
          </a:p>
        </p:txBody>
      </p:sp>
      <p:sp>
        <p:nvSpPr>
          <p:cNvPr id="48" name="Shape 46"/>
          <p:cNvSpPr/>
          <p:nvPr/>
        </p:nvSpPr>
        <p:spPr>
          <a:xfrm>
            <a:off x="457200" y="2450592"/>
            <a:ext cx="2514600" cy="384048"/>
          </a:xfrm>
          <a:prstGeom prst="rect">
            <a:avLst/>
          </a:prstGeom>
          <a:solidFill>
            <a:srgbClr val="FFFFFF"/>
          </a:solidFill>
          <a:ln w="9525">
            <a:solidFill>
              <a:srgbClr val="E1E8F0"/>
            </a:solidFill>
            <a:prstDash val="solid"/>
          </a:ln>
        </p:spPr>
      </p:sp>
      <p:sp>
        <p:nvSpPr>
          <p:cNvPr id="49" name="Text 47"/>
          <p:cNvSpPr/>
          <p:nvPr/>
        </p:nvSpPr>
        <p:spPr>
          <a:xfrm>
            <a:off x="493776" y="2450592"/>
            <a:ext cx="2441448" cy="384048"/>
          </a:xfrm>
          <a:prstGeom prst="rect">
            <a:avLst/>
          </a:prstGeom>
          <a:noFill/>
          <a:ln/>
        </p:spPr>
        <p:txBody>
          <a:bodyPr wrap="square" rtlCol="0" anchor="ctr"/>
          <a:lstStyle/>
          <a:p>
            <a:pPr algn="l" indent="0" marL="0">
              <a:buNone/>
            </a:pPr>
            <a:endParaRPr lang="en-US" sz="1050" dirty="0"/>
          </a:p>
        </p:txBody>
      </p:sp>
      <p:sp>
        <p:nvSpPr>
          <p:cNvPr id="50" name="Shape 48"/>
          <p:cNvSpPr/>
          <p:nvPr/>
        </p:nvSpPr>
        <p:spPr>
          <a:xfrm>
            <a:off x="2971800" y="2450592"/>
            <a:ext cx="1371600" cy="384048"/>
          </a:xfrm>
          <a:prstGeom prst="rect">
            <a:avLst/>
          </a:prstGeom>
          <a:solidFill>
            <a:srgbClr val="FFFFFF"/>
          </a:solidFill>
          <a:ln w="9525">
            <a:solidFill>
              <a:srgbClr val="E1E8F0"/>
            </a:solidFill>
            <a:prstDash val="solid"/>
          </a:ln>
        </p:spPr>
      </p:sp>
      <p:sp>
        <p:nvSpPr>
          <p:cNvPr id="51" name="Text 49"/>
          <p:cNvSpPr/>
          <p:nvPr/>
        </p:nvSpPr>
        <p:spPr>
          <a:xfrm>
            <a:off x="3008376" y="2450592"/>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 BTP</a:t>
            </a:r>
            <a:endParaRPr lang="en-US" sz="1050" dirty="0"/>
          </a:p>
        </p:txBody>
      </p:sp>
      <p:sp>
        <p:nvSpPr>
          <p:cNvPr id="52" name="Shape 50"/>
          <p:cNvSpPr/>
          <p:nvPr/>
        </p:nvSpPr>
        <p:spPr>
          <a:xfrm>
            <a:off x="4343400" y="2450592"/>
            <a:ext cx="1325880" cy="384048"/>
          </a:xfrm>
          <a:prstGeom prst="rect">
            <a:avLst/>
          </a:prstGeom>
          <a:solidFill>
            <a:srgbClr val="FFFFFF"/>
          </a:solidFill>
          <a:ln w="9525">
            <a:solidFill>
              <a:srgbClr val="E1E8F0"/>
            </a:solidFill>
            <a:prstDash val="solid"/>
          </a:ln>
        </p:spPr>
      </p:sp>
      <p:sp>
        <p:nvSpPr>
          <p:cNvPr id="53" name="Text 51"/>
          <p:cNvSpPr/>
          <p:nvPr/>
        </p:nvSpPr>
        <p:spPr>
          <a:xfrm>
            <a:off x="4379976" y="245059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59</a:t>
            </a:r>
            <a:endParaRPr lang="en-US" sz="1050" dirty="0"/>
          </a:p>
        </p:txBody>
      </p:sp>
      <p:sp>
        <p:nvSpPr>
          <p:cNvPr id="54" name="Shape 52"/>
          <p:cNvSpPr/>
          <p:nvPr/>
        </p:nvSpPr>
        <p:spPr>
          <a:xfrm>
            <a:off x="5669280" y="2450592"/>
            <a:ext cx="1463040" cy="384048"/>
          </a:xfrm>
          <a:prstGeom prst="rect">
            <a:avLst/>
          </a:prstGeom>
          <a:solidFill>
            <a:srgbClr val="FFFFFF"/>
          </a:solidFill>
          <a:ln w="9525">
            <a:solidFill>
              <a:srgbClr val="E1E8F0"/>
            </a:solidFill>
            <a:prstDash val="solid"/>
          </a:ln>
        </p:spPr>
      </p:sp>
      <p:sp>
        <p:nvSpPr>
          <p:cNvPr id="55" name="Text 53"/>
          <p:cNvSpPr/>
          <p:nvPr/>
        </p:nvSpPr>
        <p:spPr>
          <a:xfrm>
            <a:off x="5705856" y="245059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1487</a:t>
            </a:r>
            <a:endParaRPr lang="en-US" sz="1050" dirty="0"/>
          </a:p>
        </p:txBody>
      </p:sp>
      <p:sp>
        <p:nvSpPr>
          <p:cNvPr id="56" name="Shape 54"/>
          <p:cNvSpPr/>
          <p:nvPr/>
        </p:nvSpPr>
        <p:spPr>
          <a:xfrm>
            <a:off x="7132320" y="2450592"/>
            <a:ext cx="1463040" cy="384048"/>
          </a:xfrm>
          <a:prstGeom prst="rect">
            <a:avLst/>
          </a:prstGeom>
          <a:solidFill>
            <a:srgbClr val="FFFFFF"/>
          </a:solidFill>
          <a:ln w="9525">
            <a:solidFill>
              <a:srgbClr val="E1E8F0"/>
            </a:solidFill>
            <a:prstDash val="solid"/>
          </a:ln>
        </p:spPr>
      </p:sp>
      <p:sp>
        <p:nvSpPr>
          <p:cNvPr id="57" name="Text 55"/>
          <p:cNvSpPr/>
          <p:nvPr/>
        </p:nvSpPr>
        <p:spPr>
          <a:xfrm>
            <a:off x="7168896" y="245059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62.7</a:t>
            </a:r>
            <a:endParaRPr lang="en-US" sz="1050" dirty="0"/>
          </a:p>
        </p:txBody>
      </p:sp>
      <p:sp>
        <p:nvSpPr>
          <p:cNvPr id="58" name="Shape 56"/>
          <p:cNvSpPr/>
          <p:nvPr/>
        </p:nvSpPr>
        <p:spPr>
          <a:xfrm>
            <a:off x="8595360" y="2450592"/>
            <a:ext cx="1325880" cy="384048"/>
          </a:xfrm>
          <a:prstGeom prst="rect">
            <a:avLst/>
          </a:prstGeom>
          <a:solidFill>
            <a:srgbClr val="FFFFFF"/>
          </a:solidFill>
          <a:ln w="9525">
            <a:solidFill>
              <a:srgbClr val="E1E8F0"/>
            </a:solidFill>
            <a:prstDash val="solid"/>
          </a:ln>
        </p:spPr>
      </p:sp>
      <p:sp>
        <p:nvSpPr>
          <p:cNvPr id="59" name="Text 57"/>
          <p:cNvSpPr/>
          <p:nvPr/>
        </p:nvSpPr>
        <p:spPr>
          <a:xfrm>
            <a:off x="8631936" y="245059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85.6</a:t>
            </a:r>
            <a:endParaRPr lang="en-US" sz="1050" dirty="0"/>
          </a:p>
        </p:txBody>
      </p:sp>
      <p:sp>
        <p:nvSpPr>
          <p:cNvPr id="60" name="Shape 58"/>
          <p:cNvSpPr/>
          <p:nvPr/>
        </p:nvSpPr>
        <p:spPr>
          <a:xfrm>
            <a:off x="9921240" y="2450592"/>
            <a:ext cx="1325880" cy="384048"/>
          </a:xfrm>
          <a:prstGeom prst="rect">
            <a:avLst/>
          </a:prstGeom>
          <a:solidFill>
            <a:srgbClr val="FFFFFF"/>
          </a:solidFill>
          <a:ln w="9525">
            <a:solidFill>
              <a:srgbClr val="E1E8F0"/>
            </a:solidFill>
            <a:prstDash val="solid"/>
          </a:ln>
        </p:spPr>
      </p:sp>
      <p:sp>
        <p:nvSpPr>
          <p:cNvPr id="61" name="Text 59"/>
          <p:cNvSpPr/>
          <p:nvPr/>
        </p:nvSpPr>
        <p:spPr>
          <a:xfrm>
            <a:off x="9957816" y="245059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69.1</a:t>
            </a:r>
            <a:endParaRPr lang="en-US" sz="1050" dirty="0"/>
          </a:p>
        </p:txBody>
      </p:sp>
      <p:sp>
        <p:nvSpPr>
          <p:cNvPr id="62" name="Shape 60"/>
          <p:cNvSpPr/>
          <p:nvPr/>
        </p:nvSpPr>
        <p:spPr>
          <a:xfrm>
            <a:off x="457200" y="2834640"/>
            <a:ext cx="2514600" cy="384048"/>
          </a:xfrm>
          <a:prstGeom prst="rect">
            <a:avLst/>
          </a:prstGeom>
          <a:solidFill>
            <a:srgbClr val="EAF1F8"/>
          </a:solidFill>
          <a:ln w="9525">
            <a:solidFill>
              <a:srgbClr val="E1E8F0"/>
            </a:solidFill>
            <a:prstDash val="solid"/>
          </a:ln>
        </p:spPr>
      </p:sp>
      <p:sp>
        <p:nvSpPr>
          <p:cNvPr id="63" name="Text 61"/>
          <p:cNvSpPr/>
          <p:nvPr/>
        </p:nvSpPr>
        <p:spPr>
          <a:xfrm>
            <a:off x="493776" y="2834640"/>
            <a:ext cx="2441448" cy="384048"/>
          </a:xfrm>
          <a:prstGeom prst="rect">
            <a:avLst/>
          </a:prstGeom>
          <a:noFill/>
          <a:ln/>
        </p:spPr>
        <p:txBody>
          <a:bodyPr wrap="square" rtlCol="0" anchor="ctr"/>
          <a:lstStyle/>
          <a:p>
            <a:pPr algn="l" indent="0" marL="0">
              <a:buNone/>
            </a:pPr>
            <a:endParaRPr lang="en-US" sz="1050" dirty="0"/>
          </a:p>
        </p:txBody>
      </p:sp>
      <p:sp>
        <p:nvSpPr>
          <p:cNvPr id="64" name="Shape 62"/>
          <p:cNvSpPr/>
          <p:nvPr/>
        </p:nvSpPr>
        <p:spPr>
          <a:xfrm>
            <a:off x="2971800" y="2834640"/>
            <a:ext cx="1371600" cy="384048"/>
          </a:xfrm>
          <a:prstGeom prst="rect">
            <a:avLst/>
          </a:prstGeom>
          <a:solidFill>
            <a:srgbClr val="EAF1F8"/>
          </a:solidFill>
          <a:ln w="9525">
            <a:solidFill>
              <a:srgbClr val="E1E8F0"/>
            </a:solidFill>
            <a:prstDash val="solid"/>
          </a:ln>
        </p:spPr>
      </p:sp>
      <p:sp>
        <p:nvSpPr>
          <p:cNvPr id="65" name="Text 63"/>
          <p:cNvSpPr/>
          <p:nvPr/>
        </p:nvSpPr>
        <p:spPr>
          <a:xfrm>
            <a:off x="3008376" y="2834640"/>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 BTP</a:t>
            </a:r>
            <a:endParaRPr lang="en-US" sz="1050" dirty="0"/>
          </a:p>
        </p:txBody>
      </p:sp>
      <p:sp>
        <p:nvSpPr>
          <p:cNvPr id="66" name="Shape 64"/>
          <p:cNvSpPr/>
          <p:nvPr/>
        </p:nvSpPr>
        <p:spPr>
          <a:xfrm>
            <a:off x="4343400" y="2834640"/>
            <a:ext cx="1325880" cy="384048"/>
          </a:xfrm>
          <a:prstGeom prst="rect">
            <a:avLst/>
          </a:prstGeom>
          <a:solidFill>
            <a:srgbClr val="EAF1F8"/>
          </a:solidFill>
          <a:ln w="9525">
            <a:solidFill>
              <a:srgbClr val="E1E8F0"/>
            </a:solidFill>
            <a:prstDash val="solid"/>
          </a:ln>
        </p:spPr>
      </p:sp>
      <p:sp>
        <p:nvSpPr>
          <p:cNvPr id="67" name="Text 65"/>
          <p:cNvSpPr/>
          <p:nvPr/>
        </p:nvSpPr>
        <p:spPr>
          <a:xfrm>
            <a:off x="4379976" y="283464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58.98</a:t>
            </a:r>
            <a:endParaRPr lang="en-US" sz="1050" dirty="0"/>
          </a:p>
        </p:txBody>
      </p:sp>
      <p:sp>
        <p:nvSpPr>
          <p:cNvPr id="68" name="Shape 66"/>
          <p:cNvSpPr/>
          <p:nvPr/>
        </p:nvSpPr>
        <p:spPr>
          <a:xfrm>
            <a:off x="5669280" y="2834640"/>
            <a:ext cx="1463040" cy="384048"/>
          </a:xfrm>
          <a:prstGeom prst="rect">
            <a:avLst/>
          </a:prstGeom>
          <a:solidFill>
            <a:srgbClr val="EAF1F8"/>
          </a:solidFill>
          <a:ln w="9525">
            <a:solidFill>
              <a:srgbClr val="E1E8F0"/>
            </a:solidFill>
            <a:prstDash val="solid"/>
          </a:ln>
        </p:spPr>
      </p:sp>
      <p:sp>
        <p:nvSpPr>
          <p:cNvPr id="69" name="Text 67"/>
          <p:cNvSpPr/>
          <p:nvPr/>
        </p:nvSpPr>
        <p:spPr>
          <a:xfrm>
            <a:off x="5705856" y="283464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1497.2</a:t>
            </a:r>
            <a:endParaRPr lang="en-US" sz="1050" dirty="0"/>
          </a:p>
        </p:txBody>
      </p:sp>
      <p:sp>
        <p:nvSpPr>
          <p:cNvPr id="70" name="Shape 68"/>
          <p:cNvSpPr/>
          <p:nvPr/>
        </p:nvSpPr>
        <p:spPr>
          <a:xfrm>
            <a:off x="7132320" y="2834640"/>
            <a:ext cx="1463040" cy="384048"/>
          </a:xfrm>
          <a:prstGeom prst="rect">
            <a:avLst/>
          </a:prstGeom>
          <a:solidFill>
            <a:srgbClr val="EAF1F8"/>
          </a:solidFill>
          <a:ln w="9525">
            <a:solidFill>
              <a:srgbClr val="E1E8F0"/>
            </a:solidFill>
            <a:prstDash val="solid"/>
          </a:ln>
        </p:spPr>
      </p:sp>
      <p:sp>
        <p:nvSpPr>
          <p:cNvPr id="71" name="Text 69"/>
          <p:cNvSpPr/>
          <p:nvPr/>
        </p:nvSpPr>
        <p:spPr>
          <a:xfrm>
            <a:off x="7168896" y="283464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63.49</a:t>
            </a:r>
            <a:endParaRPr lang="en-US" sz="1050" dirty="0"/>
          </a:p>
        </p:txBody>
      </p:sp>
      <p:sp>
        <p:nvSpPr>
          <p:cNvPr id="72" name="Shape 70"/>
          <p:cNvSpPr/>
          <p:nvPr/>
        </p:nvSpPr>
        <p:spPr>
          <a:xfrm>
            <a:off x="8595360" y="2834640"/>
            <a:ext cx="1325880" cy="384048"/>
          </a:xfrm>
          <a:prstGeom prst="rect">
            <a:avLst/>
          </a:prstGeom>
          <a:solidFill>
            <a:srgbClr val="EAF1F8"/>
          </a:solidFill>
          <a:ln w="9525">
            <a:solidFill>
              <a:srgbClr val="E1E8F0"/>
            </a:solidFill>
            <a:prstDash val="solid"/>
          </a:ln>
        </p:spPr>
      </p:sp>
      <p:sp>
        <p:nvSpPr>
          <p:cNvPr id="73" name="Text 71"/>
          <p:cNvSpPr/>
          <p:nvPr/>
        </p:nvSpPr>
        <p:spPr>
          <a:xfrm>
            <a:off x="8631936" y="283464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85.36</a:t>
            </a:r>
            <a:endParaRPr lang="en-US" sz="1050" dirty="0"/>
          </a:p>
        </p:txBody>
      </p:sp>
      <p:sp>
        <p:nvSpPr>
          <p:cNvPr id="74" name="Shape 72"/>
          <p:cNvSpPr/>
          <p:nvPr/>
        </p:nvSpPr>
        <p:spPr>
          <a:xfrm>
            <a:off x="9921240" y="2834640"/>
            <a:ext cx="1325880" cy="384048"/>
          </a:xfrm>
          <a:prstGeom prst="rect">
            <a:avLst/>
          </a:prstGeom>
          <a:solidFill>
            <a:srgbClr val="EAF1F8"/>
          </a:solidFill>
          <a:ln w="9525">
            <a:solidFill>
              <a:srgbClr val="E1E8F0"/>
            </a:solidFill>
            <a:prstDash val="solid"/>
          </a:ln>
        </p:spPr>
      </p:sp>
      <p:sp>
        <p:nvSpPr>
          <p:cNvPr id="75" name="Text 73"/>
          <p:cNvSpPr/>
          <p:nvPr/>
        </p:nvSpPr>
        <p:spPr>
          <a:xfrm>
            <a:off x="9957816" y="283464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69.21</a:t>
            </a:r>
            <a:endParaRPr lang="en-US" sz="1050" dirty="0"/>
          </a:p>
        </p:txBody>
      </p:sp>
      <p:sp>
        <p:nvSpPr>
          <p:cNvPr id="76" name="Shape 74"/>
          <p:cNvSpPr/>
          <p:nvPr/>
        </p:nvSpPr>
        <p:spPr>
          <a:xfrm>
            <a:off x="457200" y="3218688"/>
            <a:ext cx="2514600" cy="384048"/>
          </a:xfrm>
          <a:prstGeom prst="rect">
            <a:avLst/>
          </a:prstGeom>
          <a:solidFill>
            <a:srgbClr val="F2F6FA"/>
          </a:solidFill>
          <a:ln w="9525">
            <a:solidFill>
              <a:srgbClr val="E1E8F0"/>
            </a:solidFill>
            <a:prstDash val="solid"/>
          </a:ln>
        </p:spPr>
      </p:sp>
      <p:sp>
        <p:nvSpPr>
          <p:cNvPr id="77" name="Text 75"/>
          <p:cNvSpPr/>
          <p:nvPr/>
        </p:nvSpPr>
        <p:spPr>
          <a:xfrm>
            <a:off x="493776" y="3218688"/>
            <a:ext cx="2441448" cy="384048"/>
          </a:xfrm>
          <a:prstGeom prst="rect">
            <a:avLst/>
          </a:prstGeom>
          <a:noFill/>
          <a:ln/>
        </p:spPr>
        <p:txBody>
          <a:bodyPr wrap="square" rtlCol="0" anchor="ctr"/>
          <a:lstStyle/>
          <a:p>
            <a:pPr algn="l" indent="0" marL="0">
              <a:buNone/>
            </a:pPr>
            <a:r>
              <a:rPr lang="en-US" sz="1050" b="1" dirty="0">
                <a:solidFill>
                  <a:srgbClr val="1C7293"/>
                </a:solidFill>
                <a:latin typeface="Calibri" pitchFamily="34" charset="0"/>
                <a:ea typeface="Calibri" pitchFamily="34" charset="-122"/>
                <a:cs typeface="Calibri" pitchFamily="34" charset="-120"/>
              </a:rPr>
              <a:t>LLaVA-1.5-13B</a:t>
            </a:r>
            <a:endParaRPr lang="en-US" sz="1050" dirty="0"/>
          </a:p>
        </p:txBody>
      </p:sp>
      <p:sp>
        <p:nvSpPr>
          <p:cNvPr id="78" name="Shape 76"/>
          <p:cNvSpPr/>
          <p:nvPr/>
        </p:nvSpPr>
        <p:spPr>
          <a:xfrm>
            <a:off x="2971800" y="3218688"/>
            <a:ext cx="1371600" cy="384048"/>
          </a:xfrm>
          <a:prstGeom prst="rect">
            <a:avLst/>
          </a:prstGeom>
          <a:solidFill>
            <a:srgbClr val="F2F6FA"/>
          </a:solidFill>
          <a:ln w="9525">
            <a:solidFill>
              <a:srgbClr val="E1E8F0"/>
            </a:solidFill>
            <a:prstDash val="solid"/>
          </a:ln>
        </p:spPr>
      </p:sp>
      <p:sp>
        <p:nvSpPr>
          <p:cNvPr id="79" name="Text 77"/>
          <p:cNvSpPr/>
          <p:nvPr/>
        </p:nvSpPr>
        <p:spPr>
          <a:xfrm>
            <a:off x="3008376" y="3218688"/>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a:t>
            </a:r>
            <a:endParaRPr lang="en-US" sz="1050" dirty="0"/>
          </a:p>
        </p:txBody>
      </p:sp>
      <p:sp>
        <p:nvSpPr>
          <p:cNvPr id="80" name="Shape 78"/>
          <p:cNvSpPr/>
          <p:nvPr/>
        </p:nvSpPr>
        <p:spPr>
          <a:xfrm>
            <a:off x="4343400" y="3218688"/>
            <a:ext cx="1325880" cy="384048"/>
          </a:xfrm>
          <a:prstGeom prst="rect">
            <a:avLst/>
          </a:prstGeom>
          <a:solidFill>
            <a:srgbClr val="F2F6FA"/>
          </a:solidFill>
          <a:ln w="9525">
            <a:solidFill>
              <a:srgbClr val="E1E8F0"/>
            </a:solidFill>
            <a:prstDash val="solid"/>
          </a:ln>
        </p:spPr>
      </p:sp>
      <p:sp>
        <p:nvSpPr>
          <p:cNvPr id="81" name="Text 79"/>
          <p:cNvSpPr/>
          <p:nvPr/>
        </p:nvSpPr>
        <p:spPr>
          <a:xfrm>
            <a:off x="4379976" y="321868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63.2</a:t>
            </a:r>
            <a:endParaRPr lang="en-US" sz="1050" dirty="0"/>
          </a:p>
        </p:txBody>
      </p:sp>
      <p:sp>
        <p:nvSpPr>
          <p:cNvPr id="82" name="Shape 80"/>
          <p:cNvSpPr/>
          <p:nvPr/>
        </p:nvSpPr>
        <p:spPr>
          <a:xfrm>
            <a:off x="5669280" y="3218688"/>
            <a:ext cx="1463040" cy="384048"/>
          </a:xfrm>
          <a:prstGeom prst="rect">
            <a:avLst/>
          </a:prstGeom>
          <a:solidFill>
            <a:srgbClr val="F2F6FA"/>
          </a:solidFill>
          <a:ln w="9525">
            <a:solidFill>
              <a:srgbClr val="E1E8F0"/>
            </a:solidFill>
            <a:prstDash val="solid"/>
          </a:ln>
        </p:spPr>
      </p:sp>
      <p:sp>
        <p:nvSpPr>
          <p:cNvPr id="83" name="Text 81"/>
          <p:cNvSpPr/>
          <p:nvPr/>
        </p:nvSpPr>
        <p:spPr>
          <a:xfrm>
            <a:off x="5705856" y="321868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1521.7</a:t>
            </a:r>
            <a:endParaRPr lang="en-US" sz="1050" dirty="0"/>
          </a:p>
        </p:txBody>
      </p:sp>
      <p:sp>
        <p:nvSpPr>
          <p:cNvPr id="84" name="Shape 82"/>
          <p:cNvSpPr/>
          <p:nvPr/>
        </p:nvSpPr>
        <p:spPr>
          <a:xfrm>
            <a:off x="7132320" y="3218688"/>
            <a:ext cx="1463040" cy="384048"/>
          </a:xfrm>
          <a:prstGeom prst="rect">
            <a:avLst/>
          </a:prstGeom>
          <a:solidFill>
            <a:srgbClr val="F2F6FA"/>
          </a:solidFill>
          <a:ln w="9525">
            <a:solidFill>
              <a:srgbClr val="E1E8F0"/>
            </a:solidFill>
            <a:prstDash val="solid"/>
          </a:ln>
        </p:spPr>
      </p:sp>
      <p:sp>
        <p:nvSpPr>
          <p:cNvPr id="85" name="Text 83"/>
          <p:cNvSpPr/>
          <p:nvPr/>
        </p:nvSpPr>
        <p:spPr>
          <a:xfrm>
            <a:off x="7168896" y="321868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68.8</a:t>
            </a:r>
            <a:endParaRPr lang="en-US" sz="1050" dirty="0"/>
          </a:p>
        </p:txBody>
      </p:sp>
      <p:sp>
        <p:nvSpPr>
          <p:cNvPr id="86" name="Shape 84"/>
          <p:cNvSpPr/>
          <p:nvPr/>
        </p:nvSpPr>
        <p:spPr>
          <a:xfrm>
            <a:off x="8595360" y="3218688"/>
            <a:ext cx="1325880" cy="384048"/>
          </a:xfrm>
          <a:prstGeom prst="rect">
            <a:avLst/>
          </a:prstGeom>
          <a:solidFill>
            <a:srgbClr val="F2F6FA"/>
          </a:solidFill>
          <a:ln w="9525">
            <a:solidFill>
              <a:srgbClr val="E1E8F0"/>
            </a:solidFill>
            <a:prstDash val="solid"/>
          </a:ln>
        </p:spPr>
      </p:sp>
      <p:sp>
        <p:nvSpPr>
          <p:cNvPr id="87" name="Text 85"/>
          <p:cNvSpPr/>
          <p:nvPr/>
        </p:nvSpPr>
        <p:spPr>
          <a:xfrm>
            <a:off x="8631936" y="321868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a:t>
            </a:r>
            <a:endParaRPr lang="en-US" sz="1050" dirty="0"/>
          </a:p>
        </p:txBody>
      </p:sp>
      <p:sp>
        <p:nvSpPr>
          <p:cNvPr id="88" name="Shape 86"/>
          <p:cNvSpPr/>
          <p:nvPr/>
        </p:nvSpPr>
        <p:spPr>
          <a:xfrm>
            <a:off x="9921240" y="3218688"/>
            <a:ext cx="1325880" cy="384048"/>
          </a:xfrm>
          <a:prstGeom prst="rect">
            <a:avLst/>
          </a:prstGeom>
          <a:solidFill>
            <a:srgbClr val="F2F6FA"/>
          </a:solidFill>
          <a:ln w="9525">
            <a:solidFill>
              <a:srgbClr val="E1E8F0"/>
            </a:solidFill>
            <a:prstDash val="solid"/>
          </a:ln>
        </p:spPr>
      </p:sp>
      <p:sp>
        <p:nvSpPr>
          <p:cNvPr id="89" name="Text 87"/>
          <p:cNvSpPr/>
          <p:nvPr/>
        </p:nvSpPr>
        <p:spPr>
          <a:xfrm>
            <a:off x="9957816" y="321868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72.7</a:t>
            </a:r>
            <a:endParaRPr lang="en-US" sz="1050" dirty="0"/>
          </a:p>
        </p:txBody>
      </p:sp>
      <p:sp>
        <p:nvSpPr>
          <p:cNvPr id="90" name="Shape 88"/>
          <p:cNvSpPr/>
          <p:nvPr/>
        </p:nvSpPr>
        <p:spPr>
          <a:xfrm>
            <a:off x="457200" y="3602736"/>
            <a:ext cx="2514600" cy="384048"/>
          </a:xfrm>
          <a:prstGeom prst="rect">
            <a:avLst/>
          </a:prstGeom>
          <a:solidFill>
            <a:srgbClr val="EAF1F8"/>
          </a:solidFill>
          <a:ln w="9525">
            <a:solidFill>
              <a:srgbClr val="E1E8F0"/>
            </a:solidFill>
            <a:prstDash val="solid"/>
          </a:ln>
        </p:spPr>
      </p:sp>
      <p:sp>
        <p:nvSpPr>
          <p:cNvPr id="91" name="Text 89"/>
          <p:cNvSpPr/>
          <p:nvPr/>
        </p:nvSpPr>
        <p:spPr>
          <a:xfrm>
            <a:off x="493776" y="3602736"/>
            <a:ext cx="2441448" cy="384048"/>
          </a:xfrm>
          <a:prstGeom prst="rect">
            <a:avLst/>
          </a:prstGeom>
          <a:noFill/>
          <a:ln/>
        </p:spPr>
        <p:txBody>
          <a:bodyPr wrap="square" rtlCol="0" anchor="ctr"/>
          <a:lstStyle/>
          <a:p>
            <a:pPr algn="l" indent="0" marL="0">
              <a:buNone/>
            </a:pPr>
            <a:endParaRPr lang="en-US" sz="1050" dirty="0"/>
          </a:p>
        </p:txBody>
      </p:sp>
      <p:sp>
        <p:nvSpPr>
          <p:cNvPr id="92" name="Shape 90"/>
          <p:cNvSpPr/>
          <p:nvPr/>
        </p:nvSpPr>
        <p:spPr>
          <a:xfrm>
            <a:off x="2971800" y="3602736"/>
            <a:ext cx="1371600" cy="384048"/>
          </a:xfrm>
          <a:prstGeom prst="rect">
            <a:avLst/>
          </a:prstGeom>
          <a:solidFill>
            <a:srgbClr val="EAF1F8"/>
          </a:solidFill>
          <a:ln w="9525">
            <a:solidFill>
              <a:srgbClr val="E1E8F0"/>
            </a:solidFill>
            <a:prstDash val="solid"/>
          </a:ln>
        </p:spPr>
      </p:sp>
      <p:sp>
        <p:nvSpPr>
          <p:cNvPr id="93" name="Text 91"/>
          <p:cNvSpPr/>
          <p:nvPr/>
        </p:nvSpPr>
        <p:spPr>
          <a:xfrm>
            <a:off x="3008376" y="3602736"/>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a:t>
            </a:r>
            <a:endParaRPr lang="en-US" sz="1050" dirty="0"/>
          </a:p>
        </p:txBody>
      </p:sp>
      <p:sp>
        <p:nvSpPr>
          <p:cNvPr id="94" name="Shape 92"/>
          <p:cNvSpPr/>
          <p:nvPr/>
        </p:nvSpPr>
        <p:spPr>
          <a:xfrm>
            <a:off x="4343400" y="3602736"/>
            <a:ext cx="1325880" cy="384048"/>
          </a:xfrm>
          <a:prstGeom prst="rect">
            <a:avLst/>
          </a:prstGeom>
          <a:solidFill>
            <a:srgbClr val="EAF1F8"/>
          </a:solidFill>
          <a:ln w="9525">
            <a:solidFill>
              <a:srgbClr val="E1E8F0"/>
            </a:solidFill>
            <a:prstDash val="solid"/>
          </a:ln>
        </p:spPr>
      </p:sp>
      <p:sp>
        <p:nvSpPr>
          <p:cNvPr id="95" name="Text 93"/>
          <p:cNvSpPr/>
          <p:nvPr/>
        </p:nvSpPr>
        <p:spPr>
          <a:xfrm>
            <a:off x="4379976" y="360273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63.3</a:t>
            </a:r>
            <a:endParaRPr lang="en-US" sz="1050" dirty="0"/>
          </a:p>
        </p:txBody>
      </p:sp>
      <p:sp>
        <p:nvSpPr>
          <p:cNvPr id="96" name="Shape 94"/>
          <p:cNvSpPr/>
          <p:nvPr/>
        </p:nvSpPr>
        <p:spPr>
          <a:xfrm>
            <a:off x="5669280" y="3602736"/>
            <a:ext cx="1463040" cy="384048"/>
          </a:xfrm>
          <a:prstGeom prst="rect">
            <a:avLst/>
          </a:prstGeom>
          <a:solidFill>
            <a:srgbClr val="EAF1F8"/>
          </a:solidFill>
          <a:ln w="9525">
            <a:solidFill>
              <a:srgbClr val="E1E8F0"/>
            </a:solidFill>
            <a:prstDash val="solid"/>
          </a:ln>
        </p:spPr>
      </p:sp>
      <p:sp>
        <p:nvSpPr>
          <p:cNvPr id="97" name="Text 95"/>
          <p:cNvSpPr/>
          <p:nvPr/>
        </p:nvSpPr>
        <p:spPr>
          <a:xfrm>
            <a:off x="5705856" y="360273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1521.7</a:t>
            </a:r>
            <a:endParaRPr lang="en-US" sz="1050" dirty="0"/>
          </a:p>
        </p:txBody>
      </p:sp>
      <p:sp>
        <p:nvSpPr>
          <p:cNvPr id="98" name="Shape 96"/>
          <p:cNvSpPr/>
          <p:nvPr/>
        </p:nvSpPr>
        <p:spPr>
          <a:xfrm>
            <a:off x="7132320" y="3602736"/>
            <a:ext cx="1463040" cy="384048"/>
          </a:xfrm>
          <a:prstGeom prst="rect">
            <a:avLst/>
          </a:prstGeom>
          <a:solidFill>
            <a:srgbClr val="EAF1F8"/>
          </a:solidFill>
          <a:ln w="9525">
            <a:solidFill>
              <a:srgbClr val="E1E8F0"/>
            </a:solidFill>
            <a:prstDash val="solid"/>
          </a:ln>
        </p:spPr>
      </p:sp>
      <p:sp>
        <p:nvSpPr>
          <p:cNvPr id="99" name="Text 97"/>
          <p:cNvSpPr/>
          <p:nvPr/>
        </p:nvSpPr>
        <p:spPr>
          <a:xfrm>
            <a:off x="7168896" y="360273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68.81</a:t>
            </a:r>
            <a:endParaRPr lang="en-US" sz="1050" dirty="0"/>
          </a:p>
        </p:txBody>
      </p:sp>
      <p:sp>
        <p:nvSpPr>
          <p:cNvPr id="100" name="Shape 98"/>
          <p:cNvSpPr/>
          <p:nvPr/>
        </p:nvSpPr>
        <p:spPr>
          <a:xfrm>
            <a:off x="8595360" y="3602736"/>
            <a:ext cx="1325880" cy="384048"/>
          </a:xfrm>
          <a:prstGeom prst="rect">
            <a:avLst/>
          </a:prstGeom>
          <a:solidFill>
            <a:srgbClr val="EAF1F8"/>
          </a:solidFill>
          <a:ln w="9525">
            <a:solidFill>
              <a:srgbClr val="E1E8F0"/>
            </a:solidFill>
            <a:prstDash val="solid"/>
          </a:ln>
        </p:spPr>
      </p:sp>
      <p:sp>
        <p:nvSpPr>
          <p:cNvPr id="101" name="Text 99"/>
          <p:cNvSpPr/>
          <p:nvPr/>
        </p:nvSpPr>
        <p:spPr>
          <a:xfrm>
            <a:off x="8631936" y="360273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87.1</a:t>
            </a:r>
            <a:endParaRPr lang="en-US" sz="1050" dirty="0"/>
          </a:p>
        </p:txBody>
      </p:sp>
      <p:sp>
        <p:nvSpPr>
          <p:cNvPr id="102" name="Shape 100"/>
          <p:cNvSpPr/>
          <p:nvPr/>
        </p:nvSpPr>
        <p:spPr>
          <a:xfrm>
            <a:off x="9921240" y="3602736"/>
            <a:ext cx="1325880" cy="384048"/>
          </a:xfrm>
          <a:prstGeom prst="rect">
            <a:avLst/>
          </a:prstGeom>
          <a:solidFill>
            <a:srgbClr val="EAF1F8"/>
          </a:solidFill>
          <a:ln w="9525">
            <a:solidFill>
              <a:srgbClr val="E1E8F0"/>
            </a:solidFill>
            <a:prstDash val="solid"/>
          </a:ln>
        </p:spPr>
      </p:sp>
      <p:sp>
        <p:nvSpPr>
          <p:cNvPr id="103" name="Text 101"/>
          <p:cNvSpPr/>
          <p:nvPr/>
        </p:nvSpPr>
        <p:spPr>
          <a:xfrm>
            <a:off x="9957816" y="360273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72.8</a:t>
            </a:r>
            <a:endParaRPr lang="en-US" sz="1050" dirty="0"/>
          </a:p>
        </p:txBody>
      </p:sp>
      <p:sp>
        <p:nvSpPr>
          <p:cNvPr id="104" name="Shape 102"/>
          <p:cNvSpPr/>
          <p:nvPr/>
        </p:nvSpPr>
        <p:spPr>
          <a:xfrm>
            <a:off x="457200" y="3986784"/>
            <a:ext cx="2514600" cy="384048"/>
          </a:xfrm>
          <a:prstGeom prst="rect">
            <a:avLst/>
          </a:prstGeom>
          <a:solidFill>
            <a:srgbClr val="F2F6FA"/>
          </a:solidFill>
          <a:ln w="9525">
            <a:solidFill>
              <a:srgbClr val="E1E8F0"/>
            </a:solidFill>
            <a:prstDash val="solid"/>
          </a:ln>
        </p:spPr>
      </p:sp>
      <p:sp>
        <p:nvSpPr>
          <p:cNvPr id="105" name="Text 103"/>
          <p:cNvSpPr/>
          <p:nvPr/>
        </p:nvSpPr>
        <p:spPr>
          <a:xfrm>
            <a:off x="493776" y="3986784"/>
            <a:ext cx="2441448" cy="384048"/>
          </a:xfrm>
          <a:prstGeom prst="rect">
            <a:avLst/>
          </a:prstGeom>
          <a:noFill/>
          <a:ln/>
        </p:spPr>
        <p:txBody>
          <a:bodyPr wrap="square" rtlCol="0" anchor="ctr"/>
          <a:lstStyle/>
          <a:p>
            <a:pPr algn="l" indent="0" marL="0">
              <a:buNone/>
            </a:pPr>
            <a:endParaRPr lang="en-US" sz="1050" dirty="0"/>
          </a:p>
        </p:txBody>
      </p:sp>
      <p:sp>
        <p:nvSpPr>
          <p:cNvPr id="106" name="Shape 104"/>
          <p:cNvSpPr/>
          <p:nvPr/>
        </p:nvSpPr>
        <p:spPr>
          <a:xfrm>
            <a:off x="2971800" y="3986784"/>
            <a:ext cx="1371600" cy="384048"/>
          </a:xfrm>
          <a:prstGeom prst="rect">
            <a:avLst/>
          </a:prstGeom>
          <a:solidFill>
            <a:srgbClr val="F2F6FA"/>
          </a:solidFill>
          <a:ln w="9525">
            <a:solidFill>
              <a:srgbClr val="E1E8F0"/>
            </a:solidFill>
            <a:prstDash val="solid"/>
          </a:ln>
        </p:spPr>
      </p:sp>
      <p:sp>
        <p:nvSpPr>
          <p:cNvPr id="107" name="Text 105"/>
          <p:cNvSpPr/>
          <p:nvPr/>
        </p:nvSpPr>
        <p:spPr>
          <a:xfrm>
            <a:off x="3008376" y="3986784"/>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 BTP</a:t>
            </a:r>
            <a:endParaRPr lang="en-US" sz="1050" dirty="0"/>
          </a:p>
        </p:txBody>
      </p:sp>
      <p:sp>
        <p:nvSpPr>
          <p:cNvPr id="108" name="Shape 106"/>
          <p:cNvSpPr/>
          <p:nvPr/>
        </p:nvSpPr>
        <p:spPr>
          <a:xfrm>
            <a:off x="4343400" y="3986784"/>
            <a:ext cx="1325880" cy="384048"/>
          </a:xfrm>
          <a:prstGeom prst="rect">
            <a:avLst/>
          </a:prstGeom>
          <a:solidFill>
            <a:srgbClr val="F2F6FA"/>
          </a:solidFill>
          <a:ln w="9525">
            <a:solidFill>
              <a:srgbClr val="E1E8F0"/>
            </a:solidFill>
            <a:prstDash val="solid"/>
          </a:ln>
        </p:spPr>
      </p:sp>
      <p:sp>
        <p:nvSpPr>
          <p:cNvPr id="109" name="Text 107"/>
          <p:cNvSpPr/>
          <p:nvPr/>
        </p:nvSpPr>
        <p:spPr>
          <a:xfrm>
            <a:off x="4379976" y="398678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62.2</a:t>
            </a:r>
            <a:endParaRPr lang="en-US" sz="1050" dirty="0"/>
          </a:p>
        </p:txBody>
      </p:sp>
      <p:sp>
        <p:nvSpPr>
          <p:cNvPr id="110" name="Shape 108"/>
          <p:cNvSpPr/>
          <p:nvPr/>
        </p:nvSpPr>
        <p:spPr>
          <a:xfrm>
            <a:off x="5669280" y="3986784"/>
            <a:ext cx="1463040" cy="384048"/>
          </a:xfrm>
          <a:prstGeom prst="rect">
            <a:avLst/>
          </a:prstGeom>
          <a:solidFill>
            <a:srgbClr val="F2F6FA"/>
          </a:solidFill>
          <a:ln w="9525">
            <a:solidFill>
              <a:srgbClr val="E1E8F0"/>
            </a:solidFill>
            <a:prstDash val="solid"/>
          </a:ln>
        </p:spPr>
      </p:sp>
      <p:sp>
        <p:nvSpPr>
          <p:cNvPr id="111" name="Text 109"/>
          <p:cNvSpPr/>
          <p:nvPr/>
        </p:nvSpPr>
        <p:spPr>
          <a:xfrm>
            <a:off x="5705856" y="398678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1519.7</a:t>
            </a:r>
            <a:endParaRPr lang="en-US" sz="1050" dirty="0"/>
          </a:p>
        </p:txBody>
      </p:sp>
      <p:sp>
        <p:nvSpPr>
          <p:cNvPr id="112" name="Shape 110"/>
          <p:cNvSpPr/>
          <p:nvPr/>
        </p:nvSpPr>
        <p:spPr>
          <a:xfrm>
            <a:off x="7132320" y="3986784"/>
            <a:ext cx="1463040" cy="384048"/>
          </a:xfrm>
          <a:prstGeom prst="rect">
            <a:avLst/>
          </a:prstGeom>
          <a:solidFill>
            <a:srgbClr val="F2F6FA"/>
          </a:solidFill>
          <a:ln w="9525">
            <a:solidFill>
              <a:srgbClr val="E1E8F0"/>
            </a:solidFill>
            <a:prstDash val="solid"/>
          </a:ln>
        </p:spPr>
      </p:sp>
      <p:sp>
        <p:nvSpPr>
          <p:cNvPr id="113" name="Text 111"/>
          <p:cNvSpPr/>
          <p:nvPr/>
        </p:nvSpPr>
        <p:spPr>
          <a:xfrm>
            <a:off x="7168896" y="398678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68</a:t>
            </a:r>
            <a:endParaRPr lang="en-US" sz="1050" dirty="0"/>
          </a:p>
        </p:txBody>
      </p:sp>
      <p:sp>
        <p:nvSpPr>
          <p:cNvPr id="114" name="Shape 112"/>
          <p:cNvSpPr/>
          <p:nvPr/>
        </p:nvSpPr>
        <p:spPr>
          <a:xfrm>
            <a:off x="8595360" y="3986784"/>
            <a:ext cx="1325880" cy="384048"/>
          </a:xfrm>
          <a:prstGeom prst="rect">
            <a:avLst/>
          </a:prstGeom>
          <a:solidFill>
            <a:srgbClr val="F2F6FA"/>
          </a:solidFill>
          <a:ln w="9525">
            <a:solidFill>
              <a:srgbClr val="E1E8F0"/>
            </a:solidFill>
            <a:prstDash val="solid"/>
          </a:ln>
        </p:spPr>
      </p:sp>
      <p:sp>
        <p:nvSpPr>
          <p:cNvPr id="115" name="Text 113"/>
          <p:cNvSpPr/>
          <p:nvPr/>
        </p:nvSpPr>
        <p:spPr>
          <a:xfrm>
            <a:off x="8631936" y="398678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86.9</a:t>
            </a:r>
            <a:endParaRPr lang="en-US" sz="1050" dirty="0"/>
          </a:p>
        </p:txBody>
      </p:sp>
      <p:sp>
        <p:nvSpPr>
          <p:cNvPr id="116" name="Shape 114"/>
          <p:cNvSpPr/>
          <p:nvPr/>
        </p:nvSpPr>
        <p:spPr>
          <a:xfrm>
            <a:off x="9921240" y="3986784"/>
            <a:ext cx="1325880" cy="384048"/>
          </a:xfrm>
          <a:prstGeom prst="rect">
            <a:avLst/>
          </a:prstGeom>
          <a:solidFill>
            <a:srgbClr val="F2F6FA"/>
          </a:solidFill>
          <a:ln w="9525">
            <a:solidFill>
              <a:srgbClr val="E1E8F0"/>
            </a:solidFill>
            <a:prstDash val="solid"/>
          </a:ln>
        </p:spPr>
      </p:sp>
      <p:sp>
        <p:nvSpPr>
          <p:cNvPr id="117" name="Text 115"/>
          <p:cNvSpPr/>
          <p:nvPr/>
        </p:nvSpPr>
        <p:spPr>
          <a:xfrm>
            <a:off x="9957816" y="398678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72.7</a:t>
            </a:r>
            <a:endParaRPr lang="en-US" sz="1050" dirty="0"/>
          </a:p>
        </p:txBody>
      </p:sp>
      <p:sp>
        <p:nvSpPr>
          <p:cNvPr id="118" name="Shape 116"/>
          <p:cNvSpPr/>
          <p:nvPr/>
        </p:nvSpPr>
        <p:spPr>
          <a:xfrm>
            <a:off x="457200" y="4370832"/>
            <a:ext cx="2514600" cy="384048"/>
          </a:xfrm>
          <a:prstGeom prst="rect">
            <a:avLst/>
          </a:prstGeom>
          <a:solidFill>
            <a:srgbClr val="EAF1F8"/>
          </a:solidFill>
          <a:ln w="9525">
            <a:solidFill>
              <a:srgbClr val="E1E8F0"/>
            </a:solidFill>
            <a:prstDash val="solid"/>
          </a:ln>
        </p:spPr>
      </p:sp>
      <p:sp>
        <p:nvSpPr>
          <p:cNvPr id="119" name="Text 117"/>
          <p:cNvSpPr/>
          <p:nvPr/>
        </p:nvSpPr>
        <p:spPr>
          <a:xfrm>
            <a:off x="493776" y="4370832"/>
            <a:ext cx="2441448" cy="384048"/>
          </a:xfrm>
          <a:prstGeom prst="rect">
            <a:avLst/>
          </a:prstGeom>
          <a:noFill/>
          <a:ln/>
        </p:spPr>
        <p:txBody>
          <a:bodyPr wrap="square" rtlCol="0" anchor="ctr"/>
          <a:lstStyle/>
          <a:p>
            <a:pPr algn="l" indent="0" marL="0">
              <a:buNone/>
            </a:pPr>
            <a:endParaRPr lang="en-US" sz="1050" dirty="0"/>
          </a:p>
        </p:txBody>
      </p:sp>
      <p:sp>
        <p:nvSpPr>
          <p:cNvPr id="120" name="Shape 118"/>
          <p:cNvSpPr/>
          <p:nvPr/>
        </p:nvSpPr>
        <p:spPr>
          <a:xfrm>
            <a:off x="2971800" y="4370832"/>
            <a:ext cx="1371600" cy="384048"/>
          </a:xfrm>
          <a:prstGeom prst="rect">
            <a:avLst/>
          </a:prstGeom>
          <a:solidFill>
            <a:srgbClr val="EAF1F8"/>
          </a:solidFill>
          <a:ln w="9525">
            <a:solidFill>
              <a:srgbClr val="E1E8F0"/>
            </a:solidFill>
            <a:prstDash val="solid"/>
          </a:ln>
        </p:spPr>
      </p:sp>
      <p:sp>
        <p:nvSpPr>
          <p:cNvPr id="121" name="Text 119"/>
          <p:cNvSpPr/>
          <p:nvPr/>
        </p:nvSpPr>
        <p:spPr>
          <a:xfrm>
            <a:off x="3008376" y="4370832"/>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 BTP</a:t>
            </a:r>
            <a:endParaRPr lang="en-US" sz="1050" dirty="0"/>
          </a:p>
        </p:txBody>
      </p:sp>
      <p:sp>
        <p:nvSpPr>
          <p:cNvPr id="122" name="Shape 120"/>
          <p:cNvSpPr/>
          <p:nvPr/>
        </p:nvSpPr>
        <p:spPr>
          <a:xfrm>
            <a:off x="4343400" y="4370832"/>
            <a:ext cx="1325880" cy="384048"/>
          </a:xfrm>
          <a:prstGeom prst="rect">
            <a:avLst/>
          </a:prstGeom>
          <a:solidFill>
            <a:srgbClr val="EAF1F8"/>
          </a:solidFill>
          <a:ln w="9525">
            <a:solidFill>
              <a:srgbClr val="E1E8F0"/>
            </a:solidFill>
            <a:prstDash val="solid"/>
          </a:ln>
        </p:spPr>
      </p:sp>
      <p:sp>
        <p:nvSpPr>
          <p:cNvPr id="123" name="Text 121"/>
          <p:cNvSpPr/>
          <p:nvPr/>
        </p:nvSpPr>
        <p:spPr>
          <a:xfrm>
            <a:off x="4379976" y="437083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60.7</a:t>
            </a:r>
            <a:endParaRPr lang="en-US" sz="1050" dirty="0"/>
          </a:p>
        </p:txBody>
      </p:sp>
      <p:sp>
        <p:nvSpPr>
          <p:cNvPr id="124" name="Shape 122"/>
          <p:cNvSpPr/>
          <p:nvPr/>
        </p:nvSpPr>
        <p:spPr>
          <a:xfrm>
            <a:off x="5669280" y="4370832"/>
            <a:ext cx="1463040" cy="384048"/>
          </a:xfrm>
          <a:prstGeom prst="rect">
            <a:avLst/>
          </a:prstGeom>
          <a:solidFill>
            <a:srgbClr val="EAF1F8"/>
          </a:solidFill>
          <a:ln w="9525">
            <a:solidFill>
              <a:srgbClr val="E1E8F0"/>
            </a:solidFill>
            <a:prstDash val="solid"/>
          </a:ln>
        </p:spPr>
      </p:sp>
      <p:sp>
        <p:nvSpPr>
          <p:cNvPr id="125" name="Text 123"/>
          <p:cNvSpPr/>
          <p:nvPr/>
        </p:nvSpPr>
        <p:spPr>
          <a:xfrm>
            <a:off x="5705856" y="437083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1536.3</a:t>
            </a:r>
            <a:endParaRPr lang="en-US" sz="1050" dirty="0"/>
          </a:p>
        </p:txBody>
      </p:sp>
      <p:sp>
        <p:nvSpPr>
          <p:cNvPr id="126" name="Shape 124"/>
          <p:cNvSpPr/>
          <p:nvPr/>
        </p:nvSpPr>
        <p:spPr>
          <a:xfrm>
            <a:off x="7132320" y="4370832"/>
            <a:ext cx="1463040" cy="384048"/>
          </a:xfrm>
          <a:prstGeom prst="rect">
            <a:avLst/>
          </a:prstGeom>
          <a:solidFill>
            <a:srgbClr val="EAF1F8"/>
          </a:solidFill>
          <a:ln w="9525">
            <a:solidFill>
              <a:srgbClr val="E1E8F0"/>
            </a:solidFill>
            <a:prstDash val="solid"/>
          </a:ln>
        </p:spPr>
      </p:sp>
      <p:sp>
        <p:nvSpPr>
          <p:cNvPr id="127" name="Text 125"/>
          <p:cNvSpPr/>
          <p:nvPr/>
        </p:nvSpPr>
        <p:spPr>
          <a:xfrm>
            <a:off x="7168896" y="437083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67.27</a:t>
            </a:r>
            <a:endParaRPr lang="en-US" sz="1050" dirty="0"/>
          </a:p>
        </p:txBody>
      </p:sp>
      <p:sp>
        <p:nvSpPr>
          <p:cNvPr id="128" name="Shape 126"/>
          <p:cNvSpPr/>
          <p:nvPr/>
        </p:nvSpPr>
        <p:spPr>
          <a:xfrm>
            <a:off x="8595360" y="4370832"/>
            <a:ext cx="1325880" cy="384048"/>
          </a:xfrm>
          <a:prstGeom prst="rect">
            <a:avLst/>
          </a:prstGeom>
          <a:solidFill>
            <a:srgbClr val="EAF1F8"/>
          </a:solidFill>
          <a:ln w="9525">
            <a:solidFill>
              <a:srgbClr val="E1E8F0"/>
            </a:solidFill>
            <a:prstDash val="solid"/>
          </a:ln>
        </p:spPr>
      </p:sp>
      <p:sp>
        <p:nvSpPr>
          <p:cNvPr id="129" name="Text 127"/>
          <p:cNvSpPr/>
          <p:nvPr/>
        </p:nvSpPr>
        <p:spPr>
          <a:xfrm>
            <a:off x="8631936" y="437083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86.3</a:t>
            </a:r>
            <a:endParaRPr lang="en-US" sz="1050" dirty="0"/>
          </a:p>
        </p:txBody>
      </p:sp>
      <p:sp>
        <p:nvSpPr>
          <p:cNvPr id="130" name="Shape 128"/>
          <p:cNvSpPr/>
          <p:nvPr/>
        </p:nvSpPr>
        <p:spPr>
          <a:xfrm>
            <a:off x="9921240" y="4370832"/>
            <a:ext cx="1325880" cy="384048"/>
          </a:xfrm>
          <a:prstGeom prst="rect">
            <a:avLst/>
          </a:prstGeom>
          <a:solidFill>
            <a:srgbClr val="EAF1F8"/>
          </a:solidFill>
          <a:ln w="9525">
            <a:solidFill>
              <a:srgbClr val="E1E8F0"/>
            </a:solidFill>
            <a:prstDash val="solid"/>
          </a:ln>
        </p:spPr>
      </p:sp>
      <p:sp>
        <p:nvSpPr>
          <p:cNvPr id="131" name="Text 129"/>
          <p:cNvSpPr/>
          <p:nvPr/>
        </p:nvSpPr>
        <p:spPr>
          <a:xfrm>
            <a:off x="9957816" y="437083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72.9</a:t>
            </a:r>
            <a:endParaRPr lang="en-US" sz="1050" dirty="0"/>
          </a:p>
        </p:txBody>
      </p:sp>
      <p:sp>
        <p:nvSpPr>
          <p:cNvPr id="132" name="Shape 130"/>
          <p:cNvSpPr/>
          <p:nvPr/>
        </p:nvSpPr>
        <p:spPr>
          <a:xfrm>
            <a:off x="457200" y="4754880"/>
            <a:ext cx="2514600" cy="384048"/>
          </a:xfrm>
          <a:prstGeom prst="rect">
            <a:avLst/>
          </a:prstGeom>
          <a:solidFill>
            <a:srgbClr val="FFFFFF"/>
          </a:solidFill>
          <a:ln w="9525">
            <a:solidFill>
              <a:srgbClr val="E1E8F0"/>
            </a:solidFill>
            <a:prstDash val="solid"/>
          </a:ln>
        </p:spPr>
      </p:sp>
      <p:sp>
        <p:nvSpPr>
          <p:cNvPr id="133" name="Text 131"/>
          <p:cNvSpPr/>
          <p:nvPr/>
        </p:nvSpPr>
        <p:spPr>
          <a:xfrm>
            <a:off x="493776" y="4754880"/>
            <a:ext cx="2441448" cy="384048"/>
          </a:xfrm>
          <a:prstGeom prst="rect">
            <a:avLst/>
          </a:prstGeom>
          <a:noFill/>
          <a:ln/>
        </p:spPr>
        <p:txBody>
          <a:bodyPr wrap="square" rtlCol="0" anchor="ctr"/>
          <a:lstStyle/>
          <a:p>
            <a:pPr algn="l" indent="0" marL="0">
              <a:buNone/>
            </a:pPr>
            <a:r>
              <a:rPr lang="en-US" sz="1050" b="1" dirty="0">
                <a:solidFill>
                  <a:srgbClr val="1C7293"/>
                </a:solidFill>
                <a:latin typeface="Calibri" pitchFamily="34" charset="0"/>
                <a:ea typeface="Calibri" pitchFamily="34" charset="-122"/>
                <a:cs typeface="Calibri" pitchFamily="34" charset="-120"/>
              </a:rPr>
              <a:t>Qwen2.5-VL-7B</a:t>
            </a:r>
            <a:endParaRPr lang="en-US" sz="1050" dirty="0"/>
          </a:p>
        </p:txBody>
      </p:sp>
      <p:sp>
        <p:nvSpPr>
          <p:cNvPr id="134" name="Shape 132"/>
          <p:cNvSpPr/>
          <p:nvPr/>
        </p:nvSpPr>
        <p:spPr>
          <a:xfrm>
            <a:off x="2971800" y="4754880"/>
            <a:ext cx="1371600" cy="384048"/>
          </a:xfrm>
          <a:prstGeom prst="rect">
            <a:avLst/>
          </a:prstGeom>
          <a:solidFill>
            <a:srgbClr val="FFFFFF"/>
          </a:solidFill>
          <a:ln w="9525">
            <a:solidFill>
              <a:srgbClr val="E1E8F0"/>
            </a:solidFill>
            <a:prstDash val="solid"/>
          </a:ln>
        </p:spPr>
      </p:sp>
      <p:sp>
        <p:nvSpPr>
          <p:cNvPr id="135" name="Text 133"/>
          <p:cNvSpPr/>
          <p:nvPr/>
        </p:nvSpPr>
        <p:spPr>
          <a:xfrm>
            <a:off x="3008376" y="4754880"/>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a:t>
            </a:r>
            <a:endParaRPr lang="en-US" sz="1050" dirty="0"/>
          </a:p>
        </p:txBody>
      </p:sp>
      <p:sp>
        <p:nvSpPr>
          <p:cNvPr id="136" name="Shape 134"/>
          <p:cNvSpPr/>
          <p:nvPr/>
        </p:nvSpPr>
        <p:spPr>
          <a:xfrm>
            <a:off x="4343400" y="4754880"/>
            <a:ext cx="1325880" cy="384048"/>
          </a:xfrm>
          <a:prstGeom prst="rect">
            <a:avLst/>
          </a:prstGeom>
          <a:solidFill>
            <a:srgbClr val="FFFFFF"/>
          </a:solidFill>
          <a:ln w="9525">
            <a:solidFill>
              <a:srgbClr val="E1E8F0"/>
            </a:solidFill>
            <a:prstDash val="solid"/>
          </a:ln>
        </p:spPr>
      </p:sp>
      <p:sp>
        <p:nvSpPr>
          <p:cNvPr id="137" name="Text 135"/>
          <p:cNvSpPr/>
          <p:nvPr/>
        </p:nvSpPr>
        <p:spPr>
          <a:xfrm>
            <a:off x="4379976" y="475488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60.4</a:t>
            </a:r>
            <a:endParaRPr lang="en-US" sz="1050" dirty="0"/>
          </a:p>
        </p:txBody>
      </p:sp>
      <p:sp>
        <p:nvSpPr>
          <p:cNvPr id="138" name="Shape 136"/>
          <p:cNvSpPr/>
          <p:nvPr/>
        </p:nvSpPr>
        <p:spPr>
          <a:xfrm>
            <a:off x="5669280" y="4754880"/>
            <a:ext cx="1463040" cy="384048"/>
          </a:xfrm>
          <a:prstGeom prst="rect">
            <a:avLst/>
          </a:prstGeom>
          <a:solidFill>
            <a:srgbClr val="FFFFFF"/>
          </a:solidFill>
          <a:ln w="9525">
            <a:solidFill>
              <a:srgbClr val="E1E8F0"/>
            </a:solidFill>
            <a:prstDash val="solid"/>
          </a:ln>
        </p:spPr>
      </p:sp>
      <p:sp>
        <p:nvSpPr>
          <p:cNvPr id="139" name="Text 137"/>
          <p:cNvSpPr/>
          <p:nvPr/>
        </p:nvSpPr>
        <p:spPr>
          <a:xfrm>
            <a:off x="5705856" y="475488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1690.8</a:t>
            </a:r>
            <a:endParaRPr lang="en-US" sz="1050" dirty="0"/>
          </a:p>
        </p:txBody>
      </p:sp>
      <p:sp>
        <p:nvSpPr>
          <p:cNvPr id="140" name="Shape 138"/>
          <p:cNvSpPr/>
          <p:nvPr/>
        </p:nvSpPr>
        <p:spPr>
          <a:xfrm>
            <a:off x="7132320" y="4754880"/>
            <a:ext cx="1463040" cy="384048"/>
          </a:xfrm>
          <a:prstGeom prst="rect">
            <a:avLst/>
          </a:prstGeom>
          <a:solidFill>
            <a:srgbClr val="FFFFFF"/>
          </a:solidFill>
          <a:ln w="9525">
            <a:solidFill>
              <a:srgbClr val="E1E8F0"/>
            </a:solidFill>
            <a:prstDash val="solid"/>
          </a:ln>
        </p:spPr>
      </p:sp>
      <p:sp>
        <p:nvSpPr>
          <p:cNvPr id="141" name="Text 139"/>
          <p:cNvSpPr/>
          <p:nvPr/>
        </p:nvSpPr>
        <p:spPr>
          <a:xfrm>
            <a:off x="7168896" y="475488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82.5</a:t>
            </a:r>
            <a:endParaRPr lang="en-US" sz="1050" dirty="0"/>
          </a:p>
        </p:txBody>
      </p:sp>
      <p:sp>
        <p:nvSpPr>
          <p:cNvPr id="142" name="Shape 140"/>
          <p:cNvSpPr/>
          <p:nvPr/>
        </p:nvSpPr>
        <p:spPr>
          <a:xfrm>
            <a:off x="8595360" y="4754880"/>
            <a:ext cx="1325880" cy="384048"/>
          </a:xfrm>
          <a:prstGeom prst="rect">
            <a:avLst/>
          </a:prstGeom>
          <a:solidFill>
            <a:srgbClr val="FFFFFF"/>
          </a:solidFill>
          <a:ln w="9525">
            <a:solidFill>
              <a:srgbClr val="E1E8F0"/>
            </a:solidFill>
            <a:prstDash val="solid"/>
          </a:ln>
        </p:spPr>
      </p:sp>
      <p:sp>
        <p:nvSpPr>
          <p:cNvPr id="143" name="Text 141"/>
          <p:cNvSpPr/>
          <p:nvPr/>
        </p:nvSpPr>
        <p:spPr>
          <a:xfrm>
            <a:off x="8631936" y="475488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87.4</a:t>
            </a:r>
            <a:endParaRPr lang="en-US" sz="1050" dirty="0"/>
          </a:p>
        </p:txBody>
      </p:sp>
      <p:sp>
        <p:nvSpPr>
          <p:cNvPr id="144" name="Shape 142"/>
          <p:cNvSpPr/>
          <p:nvPr/>
        </p:nvSpPr>
        <p:spPr>
          <a:xfrm>
            <a:off x="9921240" y="4754880"/>
            <a:ext cx="1325880" cy="384048"/>
          </a:xfrm>
          <a:prstGeom prst="rect">
            <a:avLst/>
          </a:prstGeom>
          <a:solidFill>
            <a:srgbClr val="FFFFFF"/>
          </a:solidFill>
          <a:ln w="9525">
            <a:solidFill>
              <a:srgbClr val="E1E8F0"/>
            </a:solidFill>
            <a:prstDash val="solid"/>
          </a:ln>
        </p:spPr>
      </p:sp>
      <p:sp>
        <p:nvSpPr>
          <p:cNvPr id="145" name="Text 143"/>
          <p:cNvSpPr/>
          <p:nvPr/>
        </p:nvSpPr>
        <p:spPr>
          <a:xfrm>
            <a:off x="9957816" y="475488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76.7</a:t>
            </a:r>
            <a:endParaRPr lang="en-US" sz="1050" dirty="0"/>
          </a:p>
        </p:txBody>
      </p:sp>
      <p:sp>
        <p:nvSpPr>
          <p:cNvPr id="146" name="Shape 144"/>
          <p:cNvSpPr/>
          <p:nvPr/>
        </p:nvSpPr>
        <p:spPr>
          <a:xfrm>
            <a:off x="457200" y="5138928"/>
            <a:ext cx="2514600" cy="384048"/>
          </a:xfrm>
          <a:prstGeom prst="rect">
            <a:avLst/>
          </a:prstGeom>
          <a:solidFill>
            <a:srgbClr val="EAF1F8"/>
          </a:solidFill>
          <a:ln w="9525">
            <a:solidFill>
              <a:srgbClr val="E1E8F0"/>
            </a:solidFill>
            <a:prstDash val="solid"/>
          </a:ln>
        </p:spPr>
      </p:sp>
      <p:sp>
        <p:nvSpPr>
          <p:cNvPr id="147" name="Text 145"/>
          <p:cNvSpPr/>
          <p:nvPr/>
        </p:nvSpPr>
        <p:spPr>
          <a:xfrm>
            <a:off x="493776" y="5138928"/>
            <a:ext cx="2441448" cy="384048"/>
          </a:xfrm>
          <a:prstGeom prst="rect">
            <a:avLst/>
          </a:prstGeom>
          <a:noFill/>
          <a:ln/>
        </p:spPr>
        <p:txBody>
          <a:bodyPr wrap="square" rtlCol="0" anchor="ctr"/>
          <a:lstStyle/>
          <a:p>
            <a:pPr algn="l" indent="0" marL="0">
              <a:buNone/>
            </a:pPr>
            <a:endParaRPr lang="en-US" sz="1050" dirty="0"/>
          </a:p>
        </p:txBody>
      </p:sp>
      <p:sp>
        <p:nvSpPr>
          <p:cNvPr id="148" name="Shape 146"/>
          <p:cNvSpPr/>
          <p:nvPr/>
        </p:nvSpPr>
        <p:spPr>
          <a:xfrm>
            <a:off x="2971800" y="5138928"/>
            <a:ext cx="1371600" cy="384048"/>
          </a:xfrm>
          <a:prstGeom prst="rect">
            <a:avLst/>
          </a:prstGeom>
          <a:solidFill>
            <a:srgbClr val="EAF1F8"/>
          </a:solidFill>
          <a:ln w="9525">
            <a:solidFill>
              <a:srgbClr val="E1E8F0"/>
            </a:solidFill>
            <a:prstDash val="solid"/>
          </a:ln>
        </p:spPr>
      </p:sp>
      <p:sp>
        <p:nvSpPr>
          <p:cNvPr id="149" name="Text 147"/>
          <p:cNvSpPr/>
          <p:nvPr/>
        </p:nvSpPr>
        <p:spPr>
          <a:xfrm>
            <a:off x="3008376" y="5138928"/>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a:t>
            </a:r>
            <a:endParaRPr lang="en-US" sz="1050" dirty="0"/>
          </a:p>
        </p:txBody>
      </p:sp>
      <p:sp>
        <p:nvSpPr>
          <p:cNvPr id="150" name="Shape 148"/>
          <p:cNvSpPr/>
          <p:nvPr/>
        </p:nvSpPr>
        <p:spPr>
          <a:xfrm>
            <a:off x="4343400" y="5138928"/>
            <a:ext cx="1325880" cy="384048"/>
          </a:xfrm>
          <a:prstGeom prst="rect">
            <a:avLst/>
          </a:prstGeom>
          <a:solidFill>
            <a:srgbClr val="EAF1F8"/>
          </a:solidFill>
          <a:ln w="9525">
            <a:solidFill>
              <a:srgbClr val="E1E8F0"/>
            </a:solidFill>
            <a:prstDash val="solid"/>
          </a:ln>
        </p:spPr>
      </p:sp>
      <p:sp>
        <p:nvSpPr>
          <p:cNvPr id="151" name="Text 149"/>
          <p:cNvSpPr/>
          <p:nvPr/>
        </p:nvSpPr>
        <p:spPr>
          <a:xfrm>
            <a:off x="4379976" y="513892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60.9</a:t>
            </a:r>
            <a:endParaRPr lang="en-US" sz="1050" dirty="0"/>
          </a:p>
        </p:txBody>
      </p:sp>
      <p:sp>
        <p:nvSpPr>
          <p:cNvPr id="152" name="Shape 150"/>
          <p:cNvSpPr/>
          <p:nvPr/>
        </p:nvSpPr>
        <p:spPr>
          <a:xfrm>
            <a:off x="5669280" y="5138928"/>
            <a:ext cx="1463040" cy="384048"/>
          </a:xfrm>
          <a:prstGeom prst="rect">
            <a:avLst/>
          </a:prstGeom>
          <a:solidFill>
            <a:srgbClr val="EAF1F8"/>
          </a:solidFill>
          <a:ln w="9525">
            <a:solidFill>
              <a:srgbClr val="E1E8F0"/>
            </a:solidFill>
            <a:prstDash val="solid"/>
          </a:ln>
        </p:spPr>
      </p:sp>
      <p:sp>
        <p:nvSpPr>
          <p:cNvPr id="153" name="Text 151"/>
          <p:cNvSpPr/>
          <p:nvPr/>
        </p:nvSpPr>
        <p:spPr>
          <a:xfrm>
            <a:off x="5705856" y="513892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1674.5</a:t>
            </a:r>
            <a:endParaRPr lang="en-US" sz="1050" dirty="0"/>
          </a:p>
        </p:txBody>
      </p:sp>
      <p:sp>
        <p:nvSpPr>
          <p:cNvPr id="154" name="Shape 152"/>
          <p:cNvSpPr/>
          <p:nvPr/>
        </p:nvSpPr>
        <p:spPr>
          <a:xfrm>
            <a:off x="7132320" y="5138928"/>
            <a:ext cx="1463040" cy="384048"/>
          </a:xfrm>
          <a:prstGeom prst="rect">
            <a:avLst/>
          </a:prstGeom>
          <a:solidFill>
            <a:srgbClr val="EAF1F8"/>
          </a:solidFill>
          <a:ln w="9525">
            <a:solidFill>
              <a:srgbClr val="E1E8F0"/>
            </a:solidFill>
            <a:prstDash val="solid"/>
          </a:ln>
        </p:spPr>
      </p:sp>
      <p:sp>
        <p:nvSpPr>
          <p:cNvPr id="155" name="Text 153"/>
          <p:cNvSpPr/>
          <p:nvPr/>
        </p:nvSpPr>
        <p:spPr>
          <a:xfrm>
            <a:off x="7168896" y="513892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83.68</a:t>
            </a:r>
            <a:endParaRPr lang="en-US" sz="1050" dirty="0"/>
          </a:p>
        </p:txBody>
      </p:sp>
      <p:sp>
        <p:nvSpPr>
          <p:cNvPr id="156" name="Shape 154"/>
          <p:cNvSpPr/>
          <p:nvPr/>
        </p:nvSpPr>
        <p:spPr>
          <a:xfrm>
            <a:off x="8595360" y="5138928"/>
            <a:ext cx="1325880" cy="384048"/>
          </a:xfrm>
          <a:prstGeom prst="rect">
            <a:avLst/>
          </a:prstGeom>
          <a:solidFill>
            <a:srgbClr val="EAF1F8"/>
          </a:solidFill>
          <a:ln w="9525">
            <a:solidFill>
              <a:srgbClr val="E1E8F0"/>
            </a:solidFill>
            <a:prstDash val="solid"/>
          </a:ln>
        </p:spPr>
      </p:sp>
      <p:sp>
        <p:nvSpPr>
          <p:cNvPr id="157" name="Text 155"/>
          <p:cNvSpPr/>
          <p:nvPr/>
        </p:nvSpPr>
        <p:spPr>
          <a:xfrm>
            <a:off x="8631936" y="513892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87.6</a:t>
            </a:r>
            <a:endParaRPr lang="en-US" sz="1050" dirty="0"/>
          </a:p>
        </p:txBody>
      </p:sp>
      <p:sp>
        <p:nvSpPr>
          <p:cNvPr id="158" name="Shape 156"/>
          <p:cNvSpPr/>
          <p:nvPr/>
        </p:nvSpPr>
        <p:spPr>
          <a:xfrm>
            <a:off x="9921240" y="5138928"/>
            <a:ext cx="1325880" cy="384048"/>
          </a:xfrm>
          <a:prstGeom prst="rect">
            <a:avLst/>
          </a:prstGeom>
          <a:solidFill>
            <a:srgbClr val="EAF1F8"/>
          </a:solidFill>
          <a:ln w="9525">
            <a:solidFill>
              <a:srgbClr val="E1E8F0"/>
            </a:solidFill>
            <a:prstDash val="solid"/>
          </a:ln>
        </p:spPr>
      </p:sp>
      <p:sp>
        <p:nvSpPr>
          <p:cNvPr id="159" name="Text 157"/>
          <p:cNvSpPr/>
          <p:nvPr/>
        </p:nvSpPr>
        <p:spPr>
          <a:xfrm>
            <a:off x="9957816" y="513892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88.1</a:t>
            </a:r>
            <a:endParaRPr lang="en-US" sz="1050" dirty="0"/>
          </a:p>
        </p:txBody>
      </p:sp>
      <p:sp>
        <p:nvSpPr>
          <p:cNvPr id="160" name="Shape 158"/>
          <p:cNvSpPr/>
          <p:nvPr/>
        </p:nvSpPr>
        <p:spPr>
          <a:xfrm>
            <a:off x="457200" y="5522976"/>
            <a:ext cx="2514600" cy="384048"/>
          </a:xfrm>
          <a:prstGeom prst="rect">
            <a:avLst/>
          </a:prstGeom>
          <a:solidFill>
            <a:srgbClr val="FFFFFF"/>
          </a:solidFill>
          <a:ln w="9525">
            <a:solidFill>
              <a:srgbClr val="E1E8F0"/>
            </a:solidFill>
            <a:prstDash val="solid"/>
          </a:ln>
        </p:spPr>
      </p:sp>
      <p:sp>
        <p:nvSpPr>
          <p:cNvPr id="161" name="Text 159"/>
          <p:cNvSpPr/>
          <p:nvPr/>
        </p:nvSpPr>
        <p:spPr>
          <a:xfrm>
            <a:off x="493776" y="5522976"/>
            <a:ext cx="2441448" cy="384048"/>
          </a:xfrm>
          <a:prstGeom prst="rect">
            <a:avLst/>
          </a:prstGeom>
          <a:noFill/>
          <a:ln/>
        </p:spPr>
        <p:txBody>
          <a:bodyPr wrap="square" rtlCol="0" anchor="ctr"/>
          <a:lstStyle/>
          <a:p>
            <a:pPr algn="l" indent="0" marL="0">
              <a:buNone/>
            </a:pPr>
            <a:endParaRPr lang="en-US" sz="1050" dirty="0"/>
          </a:p>
        </p:txBody>
      </p:sp>
      <p:sp>
        <p:nvSpPr>
          <p:cNvPr id="162" name="Shape 160"/>
          <p:cNvSpPr/>
          <p:nvPr/>
        </p:nvSpPr>
        <p:spPr>
          <a:xfrm>
            <a:off x="2971800" y="5522976"/>
            <a:ext cx="1371600" cy="384048"/>
          </a:xfrm>
          <a:prstGeom prst="rect">
            <a:avLst/>
          </a:prstGeom>
          <a:solidFill>
            <a:srgbClr val="FFFFFF"/>
          </a:solidFill>
          <a:ln w="9525">
            <a:solidFill>
              <a:srgbClr val="E1E8F0"/>
            </a:solidFill>
            <a:prstDash val="solid"/>
          </a:ln>
        </p:spPr>
      </p:sp>
      <p:sp>
        <p:nvSpPr>
          <p:cNvPr id="163" name="Text 161"/>
          <p:cNvSpPr/>
          <p:nvPr/>
        </p:nvSpPr>
        <p:spPr>
          <a:xfrm>
            <a:off x="3008376" y="5522976"/>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 BTP</a:t>
            </a:r>
            <a:endParaRPr lang="en-US" sz="1050" dirty="0"/>
          </a:p>
        </p:txBody>
      </p:sp>
      <p:sp>
        <p:nvSpPr>
          <p:cNvPr id="164" name="Shape 162"/>
          <p:cNvSpPr/>
          <p:nvPr/>
        </p:nvSpPr>
        <p:spPr>
          <a:xfrm>
            <a:off x="4343400" y="5522976"/>
            <a:ext cx="1325880" cy="384048"/>
          </a:xfrm>
          <a:prstGeom prst="rect">
            <a:avLst/>
          </a:prstGeom>
          <a:solidFill>
            <a:srgbClr val="FFFFFF"/>
          </a:solidFill>
          <a:ln w="9525">
            <a:solidFill>
              <a:srgbClr val="E1E8F0"/>
            </a:solidFill>
            <a:prstDash val="solid"/>
          </a:ln>
        </p:spPr>
      </p:sp>
      <p:sp>
        <p:nvSpPr>
          <p:cNvPr id="165" name="Text 163"/>
          <p:cNvSpPr/>
          <p:nvPr/>
        </p:nvSpPr>
        <p:spPr>
          <a:xfrm>
            <a:off x="4379976" y="552297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57.2</a:t>
            </a:r>
            <a:endParaRPr lang="en-US" sz="1050" dirty="0"/>
          </a:p>
        </p:txBody>
      </p:sp>
      <p:sp>
        <p:nvSpPr>
          <p:cNvPr id="166" name="Shape 164"/>
          <p:cNvSpPr/>
          <p:nvPr/>
        </p:nvSpPr>
        <p:spPr>
          <a:xfrm>
            <a:off x="5669280" y="5522976"/>
            <a:ext cx="1463040" cy="384048"/>
          </a:xfrm>
          <a:prstGeom prst="rect">
            <a:avLst/>
          </a:prstGeom>
          <a:solidFill>
            <a:srgbClr val="FFFFFF"/>
          </a:solidFill>
          <a:ln w="9525">
            <a:solidFill>
              <a:srgbClr val="E1E8F0"/>
            </a:solidFill>
            <a:prstDash val="solid"/>
          </a:ln>
        </p:spPr>
      </p:sp>
      <p:sp>
        <p:nvSpPr>
          <p:cNvPr id="167" name="Text 165"/>
          <p:cNvSpPr/>
          <p:nvPr/>
        </p:nvSpPr>
        <p:spPr>
          <a:xfrm>
            <a:off x="5705856" y="552297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1651.5</a:t>
            </a:r>
            <a:endParaRPr lang="en-US" sz="1050" dirty="0"/>
          </a:p>
        </p:txBody>
      </p:sp>
      <p:sp>
        <p:nvSpPr>
          <p:cNvPr id="168" name="Shape 166"/>
          <p:cNvSpPr/>
          <p:nvPr/>
        </p:nvSpPr>
        <p:spPr>
          <a:xfrm>
            <a:off x="7132320" y="5522976"/>
            <a:ext cx="1463040" cy="384048"/>
          </a:xfrm>
          <a:prstGeom prst="rect">
            <a:avLst/>
          </a:prstGeom>
          <a:solidFill>
            <a:srgbClr val="FFFFFF"/>
          </a:solidFill>
          <a:ln w="9525">
            <a:solidFill>
              <a:srgbClr val="E1E8F0"/>
            </a:solidFill>
            <a:prstDash val="solid"/>
          </a:ln>
        </p:spPr>
      </p:sp>
      <p:sp>
        <p:nvSpPr>
          <p:cNvPr id="169" name="Text 167"/>
          <p:cNvSpPr/>
          <p:nvPr/>
        </p:nvSpPr>
        <p:spPr>
          <a:xfrm>
            <a:off x="7168896" y="552297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75.2</a:t>
            </a:r>
            <a:endParaRPr lang="en-US" sz="1050" dirty="0"/>
          </a:p>
        </p:txBody>
      </p:sp>
      <p:sp>
        <p:nvSpPr>
          <p:cNvPr id="170" name="Shape 168"/>
          <p:cNvSpPr/>
          <p:nvPr/>
        </p:nvSpPr>
        <p:spPr>
          <a:xfrm>
            <a:off x="8595360" y="5522976"/>
            <a:ext cx="1325880" cy="384048"/>
          </a:xfrm>
          <a:prstGeom prst="rect">
            <a:avLst/>
          </a:prstGeom>
          <a:solidFill>
            <a:srgbClr val="FFFFFF"/>
          </a:solidFill>
          <a:ln w="9525">
            <a:solidFill>
              <a:srgbClr val="E1E8F0"/>
            </a:solidFill>
            <a:prstDash val="solid"/>
          </a:ln>
        </p:spPr>
      </p:sp>
      <p:sp>
        <p:nvSpPr>
          <p:cNvPr id="171" name="Text 169"/>
          <p:cNvSpPr/>
          <p:nvPr/>
        </p:nvSpPr>
        <p:spPr>
          <a:xfrm>
            <a:off x="8631936" y="552297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86.2</a:t>
            </a:r>
            <a:endParaRPr lang="en-US" sz="1050" dirty="0"/>
          </a:p>
        </p:txBody>
      </p:sp>
      <p:sp>
        <p:nvSpPr>
          <p:cNvPr id="172" name="Shape 170"/>
          <p:cNvSpPr/>
          <p:nvPr/>
        </p:nvSpPr>
        <p:spPr>
          <a:xfrm>
            <a:off x="9921240" y="5522976"/>
            <a:ext cx="1325880" cy="384048"/>
          </a:xfrm>
          <a:prstGeom prst="rect">
            <a:avLst/>
          </a:prstGeom>
          <a:solidFill>
            <a:srgbClr val="FFFFFF"/>
          </a:solidFill>
          <a:ln w="9525">
            <a:solidFill>
              <a:srgbClr val="E1E8F0"/>
            </a:solidFill>
            <a:prstDash val="solid"/>
          </a:ln>
        </p:spPr>
      </p:sp>
      <p:sp>
        <p:nvSpPr>
          <p:cNvPr id="173" name="Text 171"/>
          <p:cNvSpPr/>
          <p:nvPr/>
        </p:nvSpPr>
        <p:spPr>
          <a:xfrm>
            <a:off x="9957816" y="552297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74.1</a:t>
            </a:r>
            <a:endParaRPr lang="en-US" sz="1050" dirty="0"/>
          </a:p>
        </p:txBody>
      </p:sp>
      <p:sp>
        <p:nvSpPr>
          <p:cNvPr id="174" name="Shape 172"/>
          <p:cNvSpPr/>
          <p:nvPr/>
        </p:nvSpPr>
        <p:spPr>
          <a:xfrm>
            <a:off x="457200" y="5907024"/>
            <a:ext cx="2514600" cy="384048"/>
          </a:xfrm>
          <a:prstGeom prst="rect">
            <a:avLst/>
          </a:prstGeom>
          <a:solidFill>
            <a:srgbClr val="EAF1F8"/>
          </a:solidFill>
          <a:ln w="9525">
            <a:solidFill>
              <a:srgbClr val="E1E8F0"/>
            </a:solidFill>
            <a:prstDash val="solid"/>
          </a:ln>
        </p:spPr>
      </p:sp>
      <p:sp>
        <p:nvSpPr>
          <p:cNvPr id="175" name="Text 173"/>
          <p:cNvSpPr/>
          <p:nvPr/>
        </p:nvSpPr>
        <p:spPr>
          <a:xfrm>
            <a:off x="493776" y="5907024"/>
            <a:ext cx="2441448" cy="384048"/>
          </a:xfrm>
          <a:prstGeom prst="rect">
            <a:avLst/>
          </a:prstGeom>
          <a:noFill/>
          <a:ln/>
        </p:spPr>
        <p:txBody>
          <a:bodyPr wrap="square" rtlCol="0" anchor="ctr"/>
          <a:lstStyle/>
          <a:p>
            <a:pPr algn="l" indent="0" marL="0">
              <a:buNone/>
            </a:pPr>
            <a:endParaRPr lang="en-US" sz="1050" dirty="0"/>
          </a:p>
        </p:txBody>
      </p:sp>
      <p:sp>
        <p:nvSpPr>
          <p:cNvPr id="176" name="Shape 174"/>
          <p:cNvSpPr/>
          <p:nvPr/>
        </p:nvSpPr>
        <p:spPr>
          <a:xfrm>
            <a:off x="2971800" y="5907024"/>
            <a:ext cx="1371600" cy="384048"/>
          </a:xfrm>
          <a:prstGeom prst="rect">
            <a:avLst/>
          </a:prstGeom>
          <a:solidFill>
            <a:srgbClr val="EAF1F8"/>
          </a:solidFill>
          <a:ln w="9525">
            <a:solidFill>
              <a:srgbClr val="E1E8F0"/>
            </a:solidFill>
            <a:prstDash val="solid"/>
          </a:ln>
        </p:spPr>
      </p:sp>
      <p:sp>
        <p:nvSpPr>
          <p:cNvPr id="177" name="Text 175"/>
          <p:cNvSpPr/>
          <p:nvPr/>
        </p:nvSpPr>
        <p:spPr>
          <a:xfrm>
            <a:off x="3008376" y="5907024"/>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 BTP</a:t>
            </a:r>
            <a:endParaRPr lang="en-US" sz="1050" dirty="0"/>
          </a:p>
        </p:txBody>
      </p:sp>
      <p:sp>
        <p:nvSpPr>
          <p:cNvPr id="178" name="Shape 176"/>
          <p:cNvSpPr/>
          <p:nvPr/>
        </p:nvSpPr>
        <p:spPr>
          <a:xfrm>
            <a:off x="4343400" y="5907024"/>
            <a:ext cx="1325880" cy="384048"/>
          </a:xfrm>
          <a:prstGeom prst="rect">
            <a:avLst/>
          </a:prstGeom>
          <a:solidFill>
            <a:srgbClr val="EAF1F8"/>
          </a:solidFill>
          <a:ln w="9525">
            <a:solidFill>
              <a:srgbClr val="E1E8F0"/>
            </a:solidFill>
            <a:prstDash val="solid"/>
          </a:ln>
        </p:spPr>
      </p:sp>
      <p:sp>
        <p:nvSpPr>
          <p:cNvPr id="179" name="Text 177"/>
          <p:cNvSpPr/>
          <p:nvPr/>
        </p:nvSpPr>
        <p:spPr>
          <a:xfrm>
            <a:off x="4379976" y="590702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55.9</a:t>
            </a:r>
            <a:endParaRPr lang="en-US" sz="1050" dirty="0"/>
          </a:p>
        </p:txBody>
      </p:sp>
      <p:sp>
        <p:nvSpPr>
          <p:cNvPr id="180" name="Shape 178"/>
          <p:cNvSpPr/>
          <p:nvPr/>
        </p:nvSpPr>
        <p:spPr>
          <a:xfrm>
            <a:off x="5669280" y="5907024"/>
            <a:ext cx="1463040" cy="384048"/>
          </a:xfrm>
          <a:prstGeom prst="rect">
            <a:avLst/>
          </a:prstGeom>
          <a:solidFill>
            <a:srgbClr val="EAF1F8"/>
          </a:solidFill>
          <a:ln w="9525">
            <a:solidFill>
              <a:srgbClr val="E1E8F0"/>
            </a:solidFill>
            <a:prstDash val="solid"/>
          </a:ln>
        </p:spPr>
      </p:sp>
      <p:sp>
        <p:nvSpPr>
          <p:cNvPr id="181" name="Text 179"/>
          <p:cNvSpPr/>
          <p:nvPr/>
        </p:nvSpPr>
        <p:spPr>
          <a:xfrm>
            <a:off x="5705856" y="590702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1658.7</a:t>
            </a:r>
            <a:endParaRPr lang="en-US" sz="1050" dirty="0"/>
          </a:p>
        </p:txBody>
      </p:sp>
      <p:sp>
        <p:nvSpPr>
          <p:cNvPr id="182" name="Shape 180"/>
          <p:cNvSpPr/>
          <p:nvPr/>
        </p:nvSpPr>
        <p:spPr>
          <a:xfrm>
            <a:off x="7132320" y="5907024"/>
            <a:ext cx="1463040" cy="384048"/>
          </a:xfrm>
          <a:prstGeom prst="rect">
            <a:avLst/>
          </a:prstGeom>
          <a:solidFill>
            <a:srgbClr val="EAF1F8"/>
          </a:solidFill>
          <a:ln w="9525">
            <a:solidFill>
              <a:srgbClr val="E1E8F0"/>
            </a:solidFill>
            <a:prstDash val="solid"/>
          </a:ln>
        </p:spPr>
      </p:sp>
      <p:sp>
        <p:nvSpPr>
          <p:cNvPr id="183" name="Text 181"/>
          <p:cNvSpPr/>
          <p:nvPr/>
        </p:nvSpPr>
        <p:spPr>
          <a:xfrm>
            <a:off x="7168896" y="590702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79.3</a:t>
            </a:r>
            <a:endParaRPr lang="en-US" sz="1050" dirty="0"/>
          </a:p>
        </p:txBody>
      </p:sp>
      <p:sp>
        <p:nvSpPr>
          <p:cNvPr id="184" name="Shape 182"/>
          <p:cNvSpPr/>
          <p:nvPr/>
        </p:nvSpPr>
        <p:spPr>
          <a:xfrm>
            <a:off x="8595360" y="5907024"/>
            <a:ext cx="1325880" cy="384048"/>
          </a:xfrm>
          <a:prstGeom prst="rect">
            <a:avLst/>
          </a:prstGeom>
          <a:solidFill>
            <a:srgbClr val="EAF1F8"/>
          </a:solidFill>
          <a:ln w="9525">
            <a:solidFill>
              <a:srgbClr val="E1E8F0"/>
            </a:solidFill>
            <a:prstDash val="solid"/>
          </a:ln>
        </p:spPr>
      </p:sp>
      <p:sp>
        <p:nvSpPr>
          <p:cNvPr id="185" name="Text 183"/>
          <p:cNvSpPr/>
          <p:nvPr/>
        </p:nvSpPr>
        <p:spPr>
          <a:xfrm>
            <a:off x="8631936" y="590702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86.2</a:t>
            </a:r>
            <a:endParaRPr lang="en-US" sz="1050" dirty="0"/>
          </a:p>
        </p:txBody>
      </p:sp>
      <p:sp>
        <p:nvSpPr>
          <p:cNvPr id="186" name="Shape 184"/>
          <p:cNvSpPr/>
          <p:nvPr/>
        </p:nvSpPr>
        <p:spPr>
          <a:xfrm>
            <a:off x="9921240" y="5907024"/>
            <a:ext cx="1325880" cy="384048"/>
          </a:xfrm>
          <a:prstGeom prst="rect">
            <a:avLst/>
          </a:prstGeom>
          <a:solidFill>
            <a:srgbClr val="EAF1F8"/>
          </a:solidFill>
          <a:ln w="9525">
            <a:solidFill>
              <a:srgbClr val="E1E8F0"/>
            </a:solidFill>
            <a:prstDash val="solid"/>
          </a:ln>
        </p:spPr>
      </p:sp>
      <p:sp>
        <p:nvSpPr>
          <p:cNvPr id="187" name="Text 185"/>
          <p:cNvSpPr/>
          <p:nvPr/>
        </p:nvSpPr>
        <p:spPr>
          <a:xfrm>
            <a:off x="9957816" y="590702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85.1</a:t>
            </a:r>
            <a:endParaRPr lang="en-US" sz="1050" dirty="0"/>
          </a:p>
        </p:txBody>
      </p:sp>
      <p:sp>
        <p:nvSpPr>
          <p:cNvPr id="188" name="Text 186"/>
          <p:cNvSpPr/>
          <p:nvPr/>
        </p:nvSpPr>
        <p:spPr>
          <a:xfrm>
            <a:off x="457200" y="6400800"/>
            <a:ext cx="11247120" cy="411480"/>
          </a:xfrm>
          <a:prstGeom prst="rect">
            <a:avLst/>
          </a:prstGeom>
          <a:noFill/>
          <a:ln/>
        </p:spPr>
        <p:txBody>
          <a:bodyPr wrap="square" rtlCol="0" anchor="ctr"/>
          <a:lstStyle/>
          <a:p>
            <a:pPr indent="0" marL="0">
              <a:buNone/>
            </a:pPr>
            <a:r>
              <a:rPr lang="en-US" sz="1150" i="1" dirty="0">
                <a:solidFill>
                  <a:srgbClr val="5A6B7B"/>
                </a:solidFill>
                <a:latin typeface="Calibri" pitchFamily="34" charset="0"/>
                <a:ea typeface="Calibri" pitchFamily="34" charset="-122"/>
                <a:cs typeface="Calibri" pitchFamily="34" charset="-120"/>
              </a:rPr>
              <a:t>Blue rows = our reproduction.  Across all three models, reproduced BTP tracks the paper within ~1 point on GQA / MME / POPE.</a:t>
            </a:r>
            <a:endParaRPr lang="en-US" sz="1150" dirty="0"/>
          </a:p>
        </p:txBody>
      </p:sp>
      <p:sp>
        <p:nvSpPr>
          <p:cNvPr id="189" name="Text 18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Computational Efficiency — TFLOPs</a:t>
            </a:r>
            <a:endParaRPr lang="en-US" sz="2600" dirty="0"/>
          </a:p>
        </p:txBody>
      </p:sp>
      <p:sp>
        <p:nvSpPr>
          <p:cNvPr id="6" name="Text 4"/>
          <p:cNvSpPr/>
          <p:nvPr/>
        </p:nvSpPr>
        <p:spPr>
          <a:xfrm>
            <a:off x="640080" y="1463040"/>
            <a:ext cx="5669280" cy="4937760"/>
          </a:xfrm>
          <a:prstGeom prst="rect">
            <a:avLst/>
          </a:prstGeom>
          <a:noFill/>
          <a:ln/>
        </p:spPr>
        <p:txBody>
          <a:bodyPr wrap="square" rtlCol="0" anchor="t"/>
          <a:lstStyle/>
          <a:p>
            <a:pPr marL="228600" indent="-228600">
              <a:spcAft>
                <a:spcPts val="1100"/>
              </a:spcAft>
              <a:buSzPct val="100000"/>
              <a:buChar char="•"/>
            </a:pPr>
            <a:r>
              <a:rPr lang="en-US" sz="1550" b="1" dirty="0">
                <a:solidFill>
                  <a:srgbClr val="16222E"/>
                </a:solidFill>
                <a:latin typeface="Calibri" pitchFamily="34" charset="0"/>
                <a:ea typeface="Calibri" pitchFamily="34" charset="-122"/>
                <a:cs typeface="Calibri" pitchFamily="34" charset="-120"/>
              </a:rPr>
              <a:t>BTP's headline claim: ~78% less compute</a:t>
            </a:r>
            <a:endParaRPr lang="en-US" sz="1550" dirty="0"/>
          </a:p>
          <a:p>
            <a:pPr marL="228600" indent="-228600">
              <a:spcAft>
                <a:spcPts val="1100"/>
              </a:spcAft>
              <a:buSzPct val="100000"/>
              <a:buChar char="•"/>
            </a:pPr>
            <a:r>
              <a:rPr lang="en-US" sz="1550" dirty="0">
                <a:solidFill>
                  <a:srgbClr val="16222E"/>
                </a:solidFill>
                <a:latin typeface="Calibri" pitchFamily="34" charset="0"/>
                <a:ea typeface="Calibri" pitchFamily="34" charset="-122"/>
                <a:cs typeface="Calibri" pitchFamily="34" charset="-120"/>
              </a:rPr>
              <a:t>FLOPs counted analytically (the paper's own method)</a:t>
            </a:r>
            <a:endParaRPr lang="en-US" sz="1550" dirty="0"/>
          </a:p>
          <a:p>
            <a:pPr marL="228600" indent="-228600">
              <a:spcAft>
                <a:spcPts val="1100"/>
              </a:spcAft>
              <a:buSzPct val="100000"/>
              <a:buChar char="•"/>
            </a:pPr>
            <a:r>
              <a:rPr lang="en-US" sz="1300" dirty="0">
                <a:solidFill>
                  <a:srgbClr val="5A6B7B"/>
                </a:solidFill>
                <a:latin typeface="Calibri" pitchFamily="34" charset="0"/>
                <a:ea typeface="Calibri" pitchFamily="34" charset="-122"/>
                <a:cs typeface="Calibri" pitchFamily="34" charset="-120"/>
              </a:rPr>
              <a:t>We anchored scale to the 7B baseline only —</a:t>
            </a:r>
            <a:endParaRPr lang="en-US" sz="1550" dirty="0"/>
          </a:p>
          <a:p>
            <a:pPr marL="228600" indent="-228600">
              <a:spcAft>
                <a:spcPts val="1100"/>
              </a:spcAft>
              <a:buSzPct val="100000"/>
              <a:buChar char="•"/>
            </a:pPr>
            <a:r>
              <a:rPr lang="en-US" sz="1300" dirty="0">
                <a:solidFill>
                  <a:srgbClr val="1E8E5A"/>
                </a:solidFill>
                <a:latin typeface="Calibri" pitchFamily="34" charset="0"/>
                <a:ea typeface="Calibri" pitchFamily="34" charset="-122"/>
                <a:cs typeface="Calibri" pitchFamily="34" charset="-120"/>
              </a:rPr>
              <a:t>   13B then matched the paper independently (7.48 vs 7.44)</a:t>
            </a:r>
            <a:endParaRPr lang="en-US" sz="1550" dirty="0"/>
          </a:p>
          <a:p>
            <a:pPr marL="228600" indent="-228600">
              <a:spcAft>
                <a:spcPts val="1100"/>
              </a:spcAft>
              <a:buSzPct val="100000"/>
              <a:buChar char="•"/>
            </a:pPr>
            <a:r>
              <a:rPr lang="en-US" sz="1550" b="1" dirty="0">
                <a:solidFill>
                  <a:srgbClr val="1C7293"/>
                </a:solidFill>
                <a:latin typeface="Calibri" pitchFamily="34" charset="0"/>
                <a:ea typeface="Calibri" pitchFamily="34" charset="-122"/>
                <a:cs typeface="Calibri" pitchFamily="34" charset="-120"/>
              </a:rPr>
              <a:t>Reduction reproduces: 73–76% (paper ~78%)</a:t>
            </a:r>
            <a:endParaRPr lang="en-US" sz="1550" dirty="0"/>
          </a:p>
        </p:txBody>
      </p:sp>
      <p:sp>
        <p:nvSpPr>
          <p:cNvPr id="7" name="Shape 5"/>
          <p:cNvSpPr/>
          <p:nvPr/>
        </p:nvSpPr>
        <p:spPr>
          <a:xfrm>
            <a:off x="5806440" y="1508760"/>
            <a:ext cx="1783080" cy="651967"/>
          </a:xfrm>
          <a:prstGeom prst="rect">
            <a:avLst/>
          </a:prstGeom>
          <a:solidFill>
            <a:srgbClr val="0B1F3A"/>
          </a:solidFill>
          <a:ln w="12700">
            <a:solidFill>
              <a:srgbClr val="D7E1EC"/>
            </a:solidFill>
            <a:prstDash val="solid"/>
          </a:ln>
        </p:spPr>
      </p:sp>
      <p:sp>
        <p:nvSpPr>
          <p:cNvPr id="8" name="Text 6"/>
          <p:cNvSpPr/>
          <p:nvPr/>
        </p:nvSpPr>
        <p:spPr>
          <a:xfrm>
            <a:off x="5824728" y="1508760"/>
            <a:ext cx="1746504"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9" name="Shape 7"/>
          <p:cNvSpPr/>
          <p:nvPr/>
        </p:nvSpPr>
        <p:spPr>
          <a:xfrm>
            <a:off x="7589520" y="1508760"/>
            <a:ext cx="841248" cy="651967"/>
          </a:xfrm>
          <a:prstGeom prst="rect">
            <a:avLst/>
          </a:prstGeom>
          <a:solidFill>
            <a:srgbClr val="0B1F3A"/>
          </a:solidFill>
          <a:ln w="12700">
            <a:solidFill>
              <a:srgbClr val="D7E1EC"/>
            </a:solidFill>
            <a:prstDash val="solid"/>
          </a:ln>
        </p:spPr>
      </p:sp>
      <p:sp>
        <p:nvSpPr>
          <p:cNvPr id="10" name="Text 8"/>
          <p:cNvSpPr/>
          <p:nvPr/>
        </p:nvSpPr>
        <p:spPr>
          <a:xfrm>
            <a:off x="7607808"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paper</a:t>
            </a:r>
            <a:endParaRPr lang="en-US" sz="1000" dirty="0"/>
          </a:p>
        </p:txBody>
      </p:sp>
      <p:sp>
        <p:nvSpPr>
          <p:cNvPr id="11" name="Shape 9"/>
          <p:cNvSpPr/>
          <p:nvPr/>
        </p:nvSpPr>
        <p:spPr>
          <a:xfrm>
            <a:off x="8430768" y="1508760"/>
            <a:ext cx="841248" cy="651967"/>
          </a:xfrm>
          <a:prstGeom prst="rect">
            <a:avLst/>
          </a:prstGeom>
          <a:solidFill>
            <a:srgbClr val="0B1F3A"/>
          </a:solidFill>
          <a:ln w="12700">
            <a:solidFill>
              <a:srgbClr val="D7E1EC"/>
            </a:solidFill>
            <a:prstDash val="solid"/>
          </a:ln>
        </p:spPr>
      </p:sp>
      <p:sp>
        <p:nvSpPr>
          <p:cNvPr id="12" name="Text 10"/>
          <p:cNvSpPr/>
          <p:nvPr/>
        </p:nvSpPr>
        <p:spPr>
          <a:xfrm>
            <a:off x="8449056"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ours</a:t>
            </a:r>
            <a:endParaRPr lang="en-US" sz="1000" dirty="0"/>
          </a:p>
        </p:txBody>
      </p:sp>
      <p:sp>
        <p:nvSpPr>
          <p:cNvPr id="13" name="Shape 11"/>
          <p:cNvSpPr/>
          <p:nvPr/>
        </p:nvSpPr>
        <p:spPr>
          <a:xfrm>
            <a:off x="9272016" y="1508760"/>
            <a:ext cx="841248" cy="651967"/>
          </a:xfrm>
          <a:prstGeom prst="rect">
            <a:avLst/>
          </a:prstGeom>
          <a:solidFill>
            <a:srgbClr val="0B1F3A"/>
          </a:solidFill>
          <a:ln w="12700">
            <a:solidFill>
              <a:srgbClr val="D7E1EC"/>
            </a:solidFill>
            <a:prstDash val="solid"/>
          </a:ln>
        </p:spPr>
      </p:sp>
      <p:sp>
        <p:nvSpPr>
          <p:cNvPr id="14" name="Text 12"/>
          <p:cNvSpPr/>
          <p:nvPr/>
        </p:nvSpPr>
        <p:spPr>
          <a:xfrm>
            <a:off x="9290304"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BTP</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paper</a:t>
            </a:r>
            <a:endParaRPr lang="en-US" sz="1000" dirty="0"/>
          </a:p>
        </p:txBody>
      </p:sp>
      <p:sp>
        <p:nvSpPr>
          <p:cNvPr id="15" name="Shape 13"/>
          <p:cNvSpPr/>
          <p:nvPr/>
        </p:nvSpPr>
        <p:spPr>
          <a:xfrm>
            <a:off x="10113264" y="1508760"/>
            <a:ext cx="841248" cy="651967"/>
          </a:xfrm>
          <a:prstGeom prst="rect">
            <a:avLst/>
          </a:prstGeom>
          <a:solidFill>
            <a:srgbClr val="0B1F3A"/>
          </a:solidFill>
          <a:ln w="12700">
            <a:solidFill>
              <a:srgbClr val="D7E1EC"/>
            </a:solidFill>
            <a:prstDash val="solid"/>
          </a:ln>
        </p:spPr>
      </p:sp>
      <p:sp>
        <p:nvSpPr>
          <p:cNvPr id="16" name="Text 14"/>
          <p:cNvSpPr/>
          <p:nvPr/>
        </p:nvSpPr>
        <p:spPr>
          <a:xfrm>
            <a:off x="10131552"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BTP</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ours</a:t>
            </a:r>
            <a:endParaRPr lang="en-US" sz="1000" dirty="0"/>
          </a:p>
        </p:txBody>
      </p:sp>
      <p:sp>
        <p:nvSpPr>
          <p:cNvPr id="17" name="Shape 15"/>
          <p:cNvSpPr/>
          <p:nvPr/>
        </p:nvSpPr>
        <p:spPr>
          <a:xfrm>
            <a:off x="10954512" y="1508760"/>
            <a:ext cx="914400" cy="651967"/>
          </a:xfrm>
          <a:prstGeom prst="rect">
            <a:avLst/>
          </a:prstGeom>
          <a:solidFill>
            <a:srgbClr val="0B1F3A"/>
          </a:solidFill>
          <a:ln w="12700">
            <a:solidFill>
              <a:srgbClr val="D7E1EC"/>
            </a:solidFill>
            <a:prstDash val="solid"/>
          </a:ln>
        </p:spPr>
      </p:sp>
      <p:sp>
        <p:nvSpPr>
          <p:cNvPr id="18" name="Text 16"/>
          <p:cNvSpPr/>
          <p:nvPr/>
        </p:nvSpPr>
        <p:spPr>
          <a:xfrm>
            <a:off x="10972800" y="1508760"/>
            <a:ext cx="877824"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Reduce</a:t>
            </a:r>
            <a:endParaRPr lang="en-US" sz="1000" dirty="0"/>
          </a:p>
        </p:txBody>
      </p:sp>
      <p:sp>
        <p:nvSpPr>
          <p:cNvPr id="19" name="Shape 17"/>
          <p:cNvSpPr/>
          <p:nvPr/>
        </p:nvSpPr>
        <p:spPr>
          <a:xfrm>
            <a:off x="5806440" y="2160727"/>
            <a:ext cx="1783080" cy="566928"/>
          </a:xfrm>
          <a:prstGeom prst="rect">
            <a:avLst/>
          </a:prstGeom>
          <a:solidFill>
            <a:srgbClr val="EFF4F9"/>
          </a:solidFill>
          <a:ln w="12700">
            <a:solidFill>
              <a:srgbClr val="D7E1EC"/>
            </a:solidFill>
            <a:prstDash val="solid"/>
          </a:ln>
        </p:spPr>
      </p:sp>
      <p:sp>
        <p:nvSpPr>
          <p:cNvPr id="20" name="Text 18"/>
          <p:cNvSpPr/>
          <p:nvPr/>
        </p:nvSpPr>
        <p:spPr>
          <a:xfrm>
            <a:off x="5824728" y="2160727"/>
            <a:ext cx="1746504" cy="566928"/>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LLaVA-1.5-7B</a:t>
            </a:r>
            <a:endParaRPr lang="en-US" sz="1100" dirty="0"/>
          </a:p>
        </p:txBody>
      </p:sp>
      <p:sp>
        <p:nvSpPr>
          <p:cNvPr id="21" name="Shape 19"/>
          <p:cNvSpPr/>
          <p:nvPr/>
        </p:nvSpPr>
        <p:spPr>
          <a:xfrm>
            <a:off x="7589520" y="2160727"/>
            <a:ext cx="841248" cy="566928"/>
          </a:xfrm>
          <a:prstGeom prst="rect">
            <a:avLst/>
          </a:prstGeom>
          <a:solidFill>
            <a:srgbClr val="EFF4F9"/>
          </a:solidFill>
          <a:ln w="12700">
            <a:solidFill>
              <a:srgbClr val="D7E1EC"/>
            </a:solidFill>
            <a:prstDash val="solid"/>
          </a:ln>
        </p:spPr>
      </p:sp>
      <p:sp>
        <p:nvSpPr>
          <p:cNvPr id="22" name="Text 20"/>
          <p:cNvSpPr/>
          <p:nvPr/>
        </p:nvSpPr>
        <p:spPr>
          <a:xfrm>
            <a:off x="7607808"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3.82</a:t>
            </a:r>
            <a:endParaRPr lang="en-US" sz="1100" dirty="0"/>
          </a:p>
        </p:txBody>
      </p:sp>
      <p:sp>
        <p:nvSpPr>
          <p:cNvPr id="23" name="Shape 21"/>
          <p:cNvSpPr/>
          <p:nvPr/>
        </p:nvSpPr>
        <p:spPr>
          <a:xfrm>
            <a:off x="8430768" y="2160727"/>
            <a:ext cx="841248" cy="566928"/>
          </a:xfrm>
          <a:prstGeom prst="rect">
            <a:avLst/>
          </a:prstGeom>
          <a:solidFill>
            <a:srgbClr val="EFF4F9"/>
          </a:solidFill>
          <a:ln w="12700">
            <a:solidFill>
              <a:srgbClr val="D7E1EC"/>
            </a:solidFill>
            <a:prstDash val="solid"/>
          </a:ln>
        </p:spPr>
      </p:sp>
      <p:sp>
        <p:nvSpPr>
          <p:cNvPr id="24" name="Text 22"/>
          <p:cNvSpPr/>
          <p:nvPr/>
        </p:nvSpPr>
        <p:spPr>
          <a:xfrm>
            <a:off x="8449056"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3.82</a:t>
            </a:r>
            <a:endParaRPr lang="en-US" sz="1100" dirty="0"/>
          </a:p>
        </p:txBody>
      </p:sp>
      <p:sp>
        <p:nvSpPr>
          <p:cNvPr id="25" name="Shape 23"/>
          <p:cNvSpPr/>
          <p:nvPr/>
        </p:nvSpPr>
        <p:spPr>
          <a:xfrm>
            <a:off x="9272016" y="2160727"/>
            <a:ext cx="841248" cy="566928"/>
          </a:xfrm>
          <a:prstGeom prst="rect">
            <a:avLst/>
          </a:prstGeom>
          <a:solidFill>
            <a:srgbClr val="EFF4F9"/>
          </a:solidFill>
          <a:ln w="12700">
            <a:solidFill>
              <a:srgbClr val="D7E1EC"/>
            </a:solidFill>
            <a:prstDash val="solid"/>
          </a:ln>
        </p:spPr>
      </p:sp>
      <p:sp>
        <p:nvSpPr>
          <p:cNvPr id="26" name="Text 24"/>
          <p:cNvSpPr/>
          <p:nvPr/>
        </p:nvSpPr>
        <p:spPr>
          <a:xfrm>
            <a:off x="9290304"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0.85</a:t>
            </a:r>
            <a:endParaRPr lang="en-US" sz="1100" dirty="0"/>
          </a:p>
        </p:txBody>
      </p:sp>
      <p:sp>
        <p:nvSpPr>
          <p:cNvPr id="27" name="Shape 25"/>
          <p:cNvSpPr/>
          <p:nvPr/>
        </p:nvSpPr>
        <p:spPr>
          <a:xfrm>
            <a:off x="10113264" y="2160727"/>
            <a:ext cx="841248" cy="566928"/>
          </a:xfrm>
          <a:prstGeom prst="rect">
            <a:avLst/>
          </a:prstGeom>
          <a:solidFill>
            <a:srgbClr val="EFF4F9"/>
          </a:solidFill>
          <a:ln w="12700">
            <a:solidFill>
              <a:srgbClr val="D7E1EC"/>
            </a:solidFill>
            <a:prstDash val="solid"/>
          </a:ln>
        </p:spPr>
      </p:sp>
      <p:sp>
        <p:nvSpPr>
          <p:cNvPr id="28" name="Text 26"/>
          <p:cNvSpPr/>
          <p:nvPr/>
        </p:nvSpPr>
        <p:spPr>
          <a:xfrm>
            <a:off x="10131552"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1.03</a:t>
            </a:r>
            <a:endParaRPr lang="en-US" sz="1100" dirty="0"/>
          </a:p>
        </p:txBody>
      </p:sp>
      <p:sp>
        <p:nvSpPr>
          <p:cNvPr id="29" name="Shape 27"/>
          <p:cNvSpPr/>
          <p:nvPr/>
        </p:nvSpPr>
        <p:spPr>
          <a:xfrm>
            <a:off x="10954512" y="2160727"/>
            <a:ext cx="914400" cy="566928"/>
          </a:xfrm>
          <a:prstGeom prst="rect">
            <a:avLst/>
          </a:prstGeom>
          <a:solidFill>
            <a:srgbClr val="E7F4EC"/>
          </a:solidFill>
          <a:ln w="12700">
            <a:solidFill>
              <a:srgbClr val="D7E1EC"/>
            </a:solidFill>
            <a:prstDash val="solid"/>
          </a:ln>
        </p:spPr>
      </p:sp>
      <p:sp>
        <p:nvSpPr>
          <p:cNvPr id="30" name="Text 28"/>
          <p:cNvSpPr/>
          <p:nvPr/>
        </p:nvSpPr>
        <p:spPr>
          <a:xfrm>
            <a:off x="10972800" y="2160727"/>
            <a:ext cx="877824" cy="566928"/>
          </a:xfrm>
          <a:prstGeom prst="rect">
            <a:avLst/>
          </a:prstGeom>
          <a:noFill/>
          <a:ln/>
        </p:spPr>
        <p:txBody>
          <a:bodyPr wrap="square" rtlCol="0" anchor="ctr"/>
          <a:lstStyle/>
          <a:p>
            <a:pPr algn="ctr" indent="0" marL="0">
              <a:buNone/>
            </a:pPr>
            <a:r>
              <a:rPr lang="en-US" sz="1100" b="1" dirty="0">
                <a:solidFill>
                  <a:srgbClr val="1E8E5A"/>
                </a:solidFill>
                <a:latin typeface="Calibri" pitchFamily="34" charset="0"/>
                <a:ea typeface="Calibri" pitchFamily="34" charset="-122"/>
                <a:cs typeface="Calibri" pitchFamily="34" charset="-120"/>
              </a:rPr>
              <a:t>72.9%</a:t>
            </a:r>
            <a:endParaRPr lang="en-US" sz="1100" dirty="0"/>
          </a:p>
        </p:txBody>
      </p:sp>
      <p:sp>
        <p:nvSpPr>
          <p:cNvPr id="31" name="Shape 29"/>
          <p:cNvSpPr/>
          <p:nvPr/>
        </p:nvSpPr>
        <p:spPr>
          <a:xfrm>
            <a:off x="5806440" y="2727655"/>
            <a:ext cx="1783080" cy="566928"/>
          </a:xfrm>
          <a:prstGeom prst="rect">
            <a:avLst/>
          </a:prstGeom>
          <a:solidFill>
            <a:srgbClr val="FFFFFF"/>
          </a:solidFill>
          <a:ln w="12700">
            <a:solidFill>
              <a:srgbClr val="D7E1EC"/>
            </a:solidFill>
            <a:prstDash val="solid"/>
          </a:ln>
        </p:spPr>
      </p:sp>
      <p:sp>
        <p:nvSpPr>
          <p:cNvPr id="32" name="Text 30"/>
          <p:cNvSpPr/>
          <p:nvPr/>
        </p:nvSpPr>
        <p:spPr>
          <a:xfrm>
            <a:off x="5824728" y="2727655"/>
            <a:ext cx="1746504" cy="566928"/>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LLaVA-1.5-13B</a:t>
            </a:r>
            <a:endParaRPr lang="en-US" sz="1100" dirty="0"/>
          </a:p>
        </p:txBody>
      </p:sp>
      <p:sp>
        <p:nvSpPr>
          <p:cNvPr id="33" name="Shape 31"/>
          <p:cNvSpPr/>
          <p:nvPr/>
        </p:nvSpPr>
        <p:spPr>
          <a:xfrm>
            <a:off x="7589520" y="2727655"/>
            <a:ext cx="841248" cy="566928"/>
          </a:xfrm>
          <a:prstGeom prst="rect">
            <a:avLst/>
          </a:prstGeom>
          <a:solidFill>
            <a:srgbClr val="FFFFFF"/>
          </a:solidFill>
          <a:ln w="12700">
            <a:solidFill>
              <a:srgbClr val="D7E1EC"/>
            </a:solidFill>
            <a:prstDash val="solid"/>
          </a:ln>
        </p:spPr>
      </p:sp>
      <p:sp>
        <p:nvSpPr>
          <p:cNvPr id="34" name="Text 32"/>
          <p:cNvSpPr/>
          <p:nvPr/>
        </p:nvSpPr>
        <p:spPr>
          <a:xfrm>
            <a:off x="7607808"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7.44</a:t>
            </a:r>
            <a:endParaRPr lang="en-US" sz="1100" dirty="0"/>
          </a:p>
        </p:txBody>
      </p:sp>
      <p:sp>
        <p:nvSpPr>
          <p:cNvPr id="35" name="Shape 33"/>
          <p:cNvSpPr/>
          <p:nvPr/>
        </p:nvSpPr>
        <p:spPr>
          <a:xfrm>
            <a:off x="8430768" y="2727655"/>
            <a:ext cx="841248" cy="566928"/>
          </a:xfrm>
          <a:prstGeom prst="rect">
            <a:avLst/>
          </a:prstGeom>
          <a:solidFill>
            <a:srgbClr val="FFFFFF"/>
          </a:solidFill>
          <a:ln w="12700">
            <a:solidFill>
              <a:srgbClr val="D7E1EC"/>
            </a:solidFill>
            <a:prstDash val="solid"/>
          </a:ln>
        </p:spPr>
      </p:sp>
      <p:sp>
        <p:nvSpPr>
          <p:cNvPr id="36" name="Text 34"/>
          <p:cNvSpPr/>
          <p:nvPr/>
        </p:nvSpPr>
        <p:spPr>
          <a:xfrm>
            <a:off x="8449056"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7.48</a:t>
            </a:r>
            <a:endParaRPr lang="en-US" sz="1100" dirty="0"/>
          </a:p>
        </p:txBody>
      </p:sp>
      <p:sp>
        <p:nvSpPr>
          <p:cNvPr id="37" name="Shape 35"/>
          <p:cNvSpPr/>
          <p:nvPr/>
        </p:nvSpPr>
        <p:spPr>
          <a:xfrm>
            <a:off x="9272016" y="2727655"/>
            <a:ext cx="841248" cy="566928"/>
          </a:xfrm>
          <a:prstGeom prst="rect">
            <a:avLst/>
          </a:prstGeom>
          <a:solidFill>
            <a:srgbClr val="FFFFFF"/>
          </a:solidFill>
          <a:ln w="12700">
            <a:solidFill>
              <a:srgbClr val="D7E1EC"/>
            </a:solidFill>
            <a:prstDash val="solid"/>
          </a:ln>
        </p:spPr>
      </p:sp>
      <p:sp>
        <p:nvSpPr>
          <p:cNvPr id="38" name="Text 36"/>
          <p:cNvSpPr/>
          <p:nvPr/>
        </p:nvSpPr>
        <p:spPr>
          <a:xfrm>
            <a:off x="9290304"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1.68</a:t>
            </a:r>
            <a:endParaRPr lang="en-US" sz="1100" dirty="0"/>
          </a:p>
        </p:txBody>
      </p:sp>
      <p:sp>
        <p:nvSpPr>
          <p:cNvPr id="39" name="Shape 37"/>
          <p:cNvSpPr/>
          <p:nvPr/>
        </p:nvSpPr>
        <p:spPr>
          <a:xfrm>
            <a:off x="10113264" y="2727655"/>
            <a:ext cx="841248" cy="566928"/>
          </a:xfrm>
          <a:prstGeom prst="rect">
            <a:avLst/>
          </a:prstGeom>
          <a:solidFill>
            <a:srgbClr val="FFFFFF"/>
          </a:solidFill>
          <a:ln w="12700">
            <a:solidFill>
              <a:srgbClr val="D7E1EC"/>
            </a:solidFill>
            <a:prstDash val="solid"/>
          </a:ln>
        </p:spPr>
      </p:sp>
      <p:sp>
        <p:nvSpPr>
          <p:cNvPr id="40" name="Text 38"/>
          <p:cNvSpPr/>
          <p:nvPr/>
        </p:nvSpPr>
        <p:spPr>
          <a:xfrm>
            <a:off x="10131552"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1.79</a:t>
            </a:r>
            <a:endParaRPr lang="en-US" sz="1100" dirty="0"/>
          </a:p>
        </p:txBody>
      </p:sp>
      <p:sp>
        <p:nvSpPr>
          <p:cNvPr id="41" name="Shape 39"/>
          <p:cNvSpPr/>
          <p:nvPr/>
        </p:nvSpPr>
        <p:spPr>
          <a:xfrm>
            <a:off x="10954512" y="2727655"/>
            <a:ext cx="914400" cy="566928"/>
          </a:xfrm>
          <a:prstGeom prst="rect">
            <a:avLst/>
          </a:prstGeom>
          <a:solidFill>
            <a:srgbClr val="E7F4EC"/>
          </a:solidFill>
          <a:ln w="12700">
            <a:solidFill>
              <a:srgbClr val="D7E1EC"/>
            </a:solidFill>
            <a:prstDash val="solid"/>
          </a:ln>
        </p:spPr>
      </p:sp>
      <p:sp>
        <p:nvSpPr>
          <p:cNvPr id="42" name="Text 40"/>
          <p:cNvSpPr/>
          <p:nvPr/>
        </p:nvSpPr>
        <p:spPr>
          <a:xfrm>
            <a:off x="10972800" y="2727655"/>
            <a:ext cx="877824" cy="566928"/>
          </a:xfrm>
          <a:prstGeom prst="rect">
            <a:avLst/>
          </a:prstGeom>
          <a:noFill/>
          <a:ln/>
        </p:spPr>
        <p:txBody>
          <a:bodyPr wrap="square" rtlCol="0" anchor="ctr"/>
          <a:lstStyle/>
          <a:p>
            <a:pPr algn="ctr" indent="0" marL="0">
              <a:buNone/>
            </a:pPr>
            <a:r>
              <a:rPr lang="en-US" sz="1100" b="1" dirty="0">
                <a:solidFill>
                  <a:srgbClr val="1E8E5A"/>
                </a:solidFill>
                <a:latin typeface="Calibri" pitchFamily="34" charset="0"/>
                <a:ea typeface="Calibri" pitchFamily="34" charset="-122"/>
                <a:cs typeface="Calibri" pitchFamily="34" charset="-120"/>
              </a:rPr>
              <a:t>76.0%</a:t>
            </a:r>
            <a:endParaRPr lang="en-US" sz="1100" dirty="0"/>
          </a:p>
        </p:txBody>
      </p:sp>
      <p:sp>
        <p:nvSpPr>
          <p:cNvPr id="43" name="Shape 41"/>
          <p:cNvSpPr/>
          <p:nvPr/>
        </p:nvSpPr>
        <p:spPr>
          <a:xfrm>
            <a:off x="6126480" y="4114800"/>
            <a:ext cx="5486400" cy="1737360"/>
          </a:xfrm>
          <a:prstGeom prst="roundRect">
            <a:avLst>
              <a:gd name="adj" fmla="val 4211"/>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44" name="Text 42"/>
          <p:cNvSpPr/>
          <p:nvPr/>
        </p:nvSpPr>
        <p:spPr>
          <a:xfrm>
            <a:off x="6309360" y="4297680"/>
            <a:ext cx="2377440" cy="914400"/>
          </a:xfrm>
          <a:prstGeom prst="rect">
            <a:avLst/>
          </a:prstGeom>
          <a:noFill/>
          <a:ln/>
        </p:spPr>
        <p:txBody>
          <a:bodyPr wrap="square" rtlCol="0" anchor="ctr"/>
          <a:lstStyle/>
          <a:p>
            <a:pPr algn="ctr" indent="0" marL="0">
              <a:buNone/>
            </a:pPr>
            <a:r>
              <a:rPr lang="en-US" sz="4000" b="1" dirty="0">
                <a:solidFill>
                  <a:srgbClr val="29C7AC"/>
                </a:solidFill>
                <a:latin typeface="Georgia" pitchFamily="34" charset="0"/>
                <a:ea typeface="Georgia" pitchFamily="34" charset="-122"/>
                <a:cs typeface="Georgia" pitchFamily="34" charset="-120"/>
              </a:rPr>
              <a:t>~128</a:t>
            </a:r>
            <a:endParaRPr lang="en-US" sz="4000" dirty="0"/>
          </a:p>
        </p:txBody>
      </p:sp>
      <p:sp>
        <p:nvSpPr>
          <p:cNvPr id="45" name="Text 43"/>
          <p:cNvSpPr/>
          <p:nvPr/>
        </p:nvSpPr>
        <p:spPr>
          <a:xfrm>
            <a:off x="6309360" y="5166360"/>
            <a:ext cx="2377440" cy="548640"/>
          </a:xfrm>
          <a:prstGeom prst="rect">
            <a:avLst/>
          </a:prstGeom>
          <a:noFill/>
          <a:ln/>
        </p:spPr>
        <p:txBody>
          <a:bodyPr wrap="square" rtlCol="0" anchor="ctr"/>
          <a:lstStyle/>
          <a:p>
            <a:pPr algn="ctr" indent="0" marL="0">
              <a:buNone/>
            </a:pPr>
            <a:r>
              <a:rPr lang="en-US" sz="1100" dirty="0">
                <a:solidFill>
                  <a:srgbClr val="CFE3F2"/>
                </a:solidFill>
                <a:latin typeface="Calibri" pitchFamily="34" charset="0"/>
                <a:ea typeface="Calibri" pitchFamily="34" charset="-122"/>
                <a:cs typeface="Calibri" pitchFamily="34" charset="-120"/>
              </a:rPr>
              <a:t>tokens kept</a:t>
            </a:r>
            <a:endParaRPr lang="en-US" sz="1100" dirty="0"/>
          </a:p>
          <a:p>
            <a:pPr algn="ctr" indent="0" marL="0">
              <a:buNone/>
            </a:pPr>
            <a:r>
              <a:rPr lang="en-US" sz="1100" dirty="0">
                <a:solidFill>
                  <a:srgbClr val="CFE3F2"/>
                </a:solidFill>
                <a:latin typeface="Calibri" pitchFamily="34" charset="0"/>
                <a:ea typeface="Calibri" pitchFamily="34" charset="-122"/>
                <a:cs typeface="Calibri" pitchFamily="34" charset="-120"/>
              </a:rPr>
              <a:t>(from 576)</a:t>
            </a:r>
            <a:endParaRPr lang="en-US" sz="1100" dirty="0"/>
          </a:p>
        </p:txBody>
      </p:sp>
      <p:sp>
        <p:nvSpPr>
          <p:cNvPr id="46" name="Text 44"/>
          <p:cNvSpPr/>
          <p:nvPr/>
        </p:nvSpPr>
        <p:spPr>
          <a:xfrm>
            <a:off x="8869680" y="4297680"/>
            <a:ext cx="2468880" cy="91440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 ¼</a:t>
            </a:r>
            <a:endParaRPr lang="en-US" sz="4000" dirty="0"/>
          </a:p>
        </p:txBody>
      </p:sp>
      <p:sp>
        <p:nvSpPr>
          <p:cNvPr id="47" name="Text 45"/>
          <p:cNvSpPr/>
          <p:nvPr/>
        </p:nvSpPr>
        <p:spPr>
          <a:xfrm>
            <a:off x="8869680" y="5166360"/>
            <a:ext cx="2468880" cy="548640"/>
          </a:xfrm>
          <a:prstGeom prst="rect">
            <a:avLst/>
          </a:prstGeom>
          <a:noFill/>
          <a:ln/>
        </p:spPr>
        <p:txBody>
          <a:bodyPr wrap="square" rtlCol="0" anchor="ctr"/>
          <a:lstStyle/>
          <a:p>
            <a:pPr algn="ctr" indent="0" marL="0">
              <a:buNone/>
            </a:pPr>
            <a:r>
              <a:rPr lang="en-US" sz="1100" dirty="0">
                <a:solidFill>
                  <a:srgbClr val="CFE3F2"/>
                </a:solidFill>
                <a:latin typeface="Calibri" pitchFamily="34" charset="0"/>
                <a:ea typeface="Calibri" pitchFamily="34" charset="-122"/>
                <a:cs typeface="Calibri" pitchFamily="34" charset="-120"/>
              </a:rPr>
              <a:t>of the compute</a:t>
            </a:r>
            <a:endParaRPr lang="en-US" sz="1100" dirty="0"/>
          </a:p>
        </p:txBody>
      </p:sp>
      <p:sp>
        <p:nvSpPr>
          <p:cNvPr id="48" name="Text 46"/>
          <p:cNvSpPr/>
          <p:nvPr/>
        </p:nvSpPr>
        <p:spPr>
          <a:xfrm>
            <a:off x="640080" y="6035040"/>
            <a:ext cx="10972800" cy="365760"/>
          </a:xfrm>
          <a:prstGeom prst="rect">
            <a:avLst/>
          </a:prstGeom>
          <a:noFill/>
          <a:ln/>
        </p:spPr>
        <p:txBody>
          <a:bodyPr wrap="square" rtlCol="0" anchor="ctr"/>
          <a:lstStyle/>
          <a:p>
            <a:pPr indent="0" marL="0">
              <a:buNone/>
            </a:pPr>
            <a:r>
              <a:rPr lang="en-US" sz="1100" i="1" dirty="0">
                <a:solidFill>
                  <a:srgbClr val="5A6B7B"/>
                </a:solidFill>
                <a:latin typeface="Calibri" pitchFamily="34" charset="0"/>
                <a:ea typeface="Calibri" pitchFamily="34" charset="-122"/>
                <a:cs typeface="Calibri" pitchFamily="34" charset="-120"/>
              </a:rPr>
              <a:t>Note: FLOPs = theoretical compute (what the paper reports). Wall-clock latency is separate future work.</a:t>
            </a:r>
            <a:endParaRPr lang="en-US" sz="1100" dirty="0"/>
          </a:p>
        </p:txBody>
      </p:sp>
      <p:sp>
        <p:nvSpPr>
          <p:cNvPr id="49" name="Text 4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48640"/>
            <a:ext cx="7315200" cy="320040"/>
          </a:xfrm>
          <a:prstGeom prst="rect">
            <a:avLst/>
          </a:prstGeom>
          <a:noFill/>
          <a:ln/>
        </p:spPr>
        <p:txBody>
          <a:bodyPr wrap="square" rtlCol="0" anchor="ctr"/>
          <a:lstStyle/>
          <a:p>
            <a:pPr indent="0" marL="0">
              <a:buNone/>
            </a:pPr>
            <a:r>
              <a:rPr lang="en-US" sz="1200" b="1" spc="300" kern="0" dirty="0">
                <a:solidFill>
                  <a:srgbClr val="29C7AC"/>
                </a:solidFill>
                <a:latin typeface="Calibri" pitchFamily="34" charset="0"/>
                <a:ea typeface="Calibri" pitchFamily="34" charset="-122"/>
                <a:cs typeface="Calibri" pitchFamily="34" charset="-120"/>
              </a:rPr>
              <a:t>ADDITIONAL OBSERVATION</a:t>
            </a:r>
            <a:endParaRPr lang="en-US" sz="1200" dirty="0"/>
          </a:p>
        </p:txBody>
      </p:sp>
      <p:sp>
        <p:nvSpPr>
          <p:cNvPr id="3" name="Text 1"/>
          <p:cNvSpPr/>
          <p:nvPr/>
        </p:nvSpPr>
        <p:spPr>
          <a:xfrm>
            <a:off x="548640" y="868680"/>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Qwen2.5-VL + BTP on TextVQA</a:t>
            </a:r>
            <a:endParaRPr lang="en-US" sz="2600" dirty="0"/>
          </a:p>
        </p:txBody>
      </p:sp>
      <p:sp>
        <p:nvSpPr>
          <p:cNvPr id="4" name="Shape 2"/>
          <p:cNvSpPr/>
          <p:nvPr/>
        </p:nvSpPr>
        <p:spPr>
          <a:xfrm>
            <a:off x="1188720" y="2194560"/>
            <a:ext cx="3108960" cy="2194560"/>
          </a:xfrm>
          <a:prstGeom prst="roundRect">
            <a:avLst>
              <a:gd name="adj" fmla="val 4167"/>
            </a:avLst>
          </a:prstGeom>
          <a:solidFill>
            <a:srgbClr val="12355B"/>
          </a:solidFill>
          <a:ln/>
        </p:spPr>
      </p:sp>
      <p:sp>
        <p:nvSpPr>
          <p:cNvPr id="5" name="Text 3"/>
          <p:cNvSpPr/>
          <p:nvPr/>
        </p:nvSpPr>
        <p:spPr>
          <a:xfrm>
            <a:off x="1188720" y="2423160"/>
            <a:ext cx="3108960" cy="457200"/>
          </a:xfrm>
          <a:prstGeom prst="rect">
            <a:avLst/>
          </a:prstGeom>
          <a:noFill/>
          <a:ln/>
        </p:spPr>
        <p:txBody>
          <a:bodyPr wrap="square" rtlCol="0" anchor="ctr"/>
          <a:lstStyle/>
          <a:p>
            <a:pPr algn="ctr" indent="0" marL="0">
              <a:buNone/>
            </a:pPr>
            <a:r>
              <a:rPr lang="en-US" sz="1600" dirty="0">
                <a:solidFill>
                  <a:srgbClr val="CFE3F2"/>
                </a:solidFill>
                <a:latin typeface="Calibri" pitchFamily="34" charset="0"/>
                <a:ea typeface="Calibri" pitchFamily="34" charset="-122"/>
                <a:cs typeface="Calibri" pitchFamily="34" charset="-120"/>
              </a:rPr>
              <a:t>Baseline</a:t>
            </a:r>
            <a:endParaRPr lang="en-US" sz="1600" dirty="0"/>
          </a:p>
        </p:txBody>
      </p:sp>
      <p:sp>
        <p:nvSpPr>
          <p:cNvPr id="6" name="Text 4"/>
          <p:cNvSpPr/>
          <p:nvPr/>
        </p:nvSpPr>
        <p:spPr>
          <a:xfrm>
            <a:off x="1188720" y="2834640"/>
            <a:ext cx="3108960" cy="1188720"/>
          </a:xfrm>
          <a:prstGeom prst="rect">
            <a:avLst/>
          </a:prstGeom>
          <a:noFill/>
          <a:ln/>
        </p:spPr>
        <p:txBody>
          <a:bodyPr wrap="square" rtlCol="0" anchor="ctr"/>
          <a:lstStyle/>
          <a:p>
            <a:pPr algn="ctr" indent="0" marL="0">
              <a:buNone/>
            </a:pPr>
            <a:r>
              <a:rPr lang="en-US" sz="6400" b="1" dirty="0">
                <a:solidFill>
                  <a:srgbClr val="29C7AC"/>
                </a:solidFill>
                <a:latin typeface="Georgia" pitchFamily="34" charset="0"/>
                <a:ea typeface="Georgia" pitchFamily="34" charset="-122"/>
                <a:cs typeface="Georgia" pitchFamily="34" charset="-120"/>
              </a:rPr>
              <a:t>82.7</a:t>
            </a:r>
            <a:endParaRPr lang="en-US" sz="6400" dirty="0"/>
          </a:p>
        </p:txBody>
      </p:sp>
      <p:sp>
        <p:nvSpPr>
          <p:cNvPr id="7" name="Shape 5"/>
          <p:cNvSpPr/>
          <p:nvPr/>
        </p:nvSpPr>
        <p:spPr>
          <a:xfrm>
            <a:off x="4937760" y="2286000"/>
            <a:ext cx="2286000" cy="2011680"/>
          </a:xfrm>
          <a:prstGeom prst="downArrow">
            <a:avLst/>
          </a:prstGeom>
          <a:solidFill>
            <a:srgbClr val="C0392B"/>
          </a:solidFill>
          <a:ln/>
        </p:spPr>
      </p:sp>
      <p:sp>
        <p:nvSpPr>
          <p:cNvPr id="8" name="Text 6"/>
          <p:cNvSpPr/>
          <p:nvPr/>
        </p:nvSpPr>
        <p:spPr>
          <a:xfrm>
            <a:off x="4937760" y="3063240"/>
            <a:ext cx="22860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BTP</a:t>
            </a:r>
            <a:endParaRPr lang="en-US" sz="1600" dirty="0"/>
          </a:p>
        </p:txBody>
      </p:sp>
      <p:sp>
        <p:nvSpPr>
          <p:cNvPr id="9" name="Shape 7"/>
          <p:cNvSpPr/>
          <p:nvPr/>
        </p:nvSpPr>
        <p:spPr>
          <a:xfrm>
            <a:off x="7589520" y="2194560"/>
            <a:ext cx="3108960" cy="2194560"/>
          </a:xfrm>
          <a:prstGeom prst="roundRect">
            <a:avLst>
              <a:gd name="adj" fmla="val 4167"/>
            </a:avLst>
          </a:prstGeom>
          <a:solidFill>
            <a:srgbClr val="C0392B"/>
          </a:solidFill>
          <a:ln/>
          <a:effectLst>
            <a:outerShdw sx="100000" sy="100000" kx="0" ky="0" algn="bl" rotWithShape="0" blurRad="88900" dist="38100" dir="8100000">
              <a:srgbClr val="000000">
                <a:alpha val="18000"/>
              </a:srgbClr>
            </a:outerShdw>
          </a:effectLst>
        </p:spPr>
      </p:sp>
      <p:sp>
        <p:nvSpPr>
          <p:cNvPr id="10" name="Text 8"/>
          <p:cNvSpPr/>
          <p:nvPr/>
        </p:nvSpPr>
        <p:spPr>
          <a:xfrm>
            <a:off x="7589520" y="2423160"/>
            <a:ext cx="3108960" cy="457200"/>
          </a:xfrm>
          <a:prstGeom prst="rect">
            <a:avLst/>
          </a:prstGeom>
          <a:noFill/>
          <a:ln/>
        </p:spPr>
        <p:txBody>
          <a:bodyPr wrap="square" rtlCol="0" anchor="ctr"/>
          <a:lstStyle/>
          <a:p>
            <a:pPr algn="ctr" indent="0" marL="0">
              <a:buNone/>
            </a:pPr>
            <a:r>
              <a:rPr lang="en-US" sz="1600" dirty="0">
                <a:solidFill>
                  <a:srgbClr val="FFE2DD"/>
                </a:solidFill>
                <a:latin typeface="Calibri" pitchFamily="34" charset="0"/>
                <a:ea typeface="Calibri" pitchFamily="34" charset="-122"/>
                <a:cs typeface="Calibri" pitchFamily="34" charset="-120"/>
              </a:rPr>
              <a:t>With BTP</a:t>
            </a:r>
            <a:endParaRPr lang="en-US" sz="1600" dirty="0"/>
          </a:p>
        </p:txBody>
      </p:sp>
      <p:sp>
        <p:nvSpPr>
          <p:cNvPr id="11" name="Text 9"/>
          <p:cNvSpPr/>
          <p:nvPr/>
        </p:nvSpPr>
        <p:spPr>
          <a:xfrm>
            <a:off x="7589520" y="2834640"/>
            <a:ext cx="3108960" cy="1188720"/>
          </a:xfrm>
          <a:prstGeom prst="rect">
            <a:avLst/>
          </a:prstGeom>
          <a:noFill/>
          <a:ln/>
        </p:spPr>
        <p:txBody>
          <a:bodyPr wrap="square" rtlCol="0" anchor="ctr"/>
          <a:lstStyle/>
          <a:p>
            <a:pPr algn="ctr" indent="0" marL="0">
              <a:buNone/>
            </a:pPr>
            <a:r>
              <a:rPr lang="en-US" sz="6400" b="1" dirty="0">
                <a:solidFill>
                  <a:srgbClr val="FFFFFF"/>
                </a:solidFill>
                <a:latin typeface="Georgia" pitchFamily="34" charset="0"/>
                <a:ea typeface="Georgia" pitchFamily="34" charset="-122"/>
                <a:cs typeface="Georgia" pitchFamily="34" charset="-120"/>
              </a:rPr>
              <a:t>23.6</a:t>
            </a:r>
            <a:endParaRPr lang="en-US" sz="6400" dirty="0"/>
          </a:p>
        </p:txBody>
      </p:sp>
      <p:sp>
        <p:nvSpPr>
          <p:cNvPr id="12" name="Text 10"/>
          <p:cNvSpPr/>
          <p:nvPr/>
        </p:nvSpPr>
        <p:spPr>
          <a:xfrm>
            <a:off x="1188720" y="4754880"/>
            <a:ext cx="9875520" cy="4937760"/>
          </a:xfrm>
          <a:prstGeom prst="rect">
            <a:avLst/>
          </a:prstGeom>
          <a:noFill/>
          <a:ln/>
        </p:spPr>
        <p:txBody>
          <a:bodyPr wrap="square" rtlCol="0" anchor="t"/>
          <a:lstStyle/>
          <a:p>
            <a:pPr marL="228600" indent="-2286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Text recognition needs fine-grained visual detail</a:t>
            </a:r>
            <a:endParaRPr lang="en-US" sz="1400" dirty="0"/>
          </a:p>
          <a:p>
            <a:pPr marL="228600" indent="-2286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Aggressive pruning removes OCR-relevant tokens</a:t>
            </a:r>
            <a:endParaRPr lang="en-US" sz="1400" dirty="0"/>
          </a:p>
          <a:p>
            <a:pPr marL="228600" indent="-228600">
              <a:spcAft>
                <a:spcPts val="600"/>
              </a:spcAft>
              <a:buSzPct val="100000"/>
              <a:buChar char="•"/>
            </a:pPr>
            <a:r>
              <a:rPr lang="en-US" sz="1400" b="1" dirty="0">
                <a:solidFill>
                  <a:srgbClr val="29C7AC"/>
                </a:solidFill>
                <a:latin typeface="Calibri" pitchFamily="34" charset="0"/>
                <a:ea typeface="Calibri" pitchFamily="34" charset="-122"/>
                <a:cs typeface="Calibri" pitchFamily="34" charset="-120"/>
              </a:rPr>
              <a:t>~59-point drop — confirmed across two runs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Key Findings</a:t>
            </a:r>
            <a:endParaRPr lang="en-US" sz="2600" dirty="0"/>
          </a:p>
        </p:txBody>
      </p:sp>
      <p:sp>
        <p:nvSpPr>
          <p:cNvPr id="6" name="Shape 4"/>
          <p:cNvSpPr/>
          <p:nvPr/>
        </p:nvSpPr>
        <p:spPr>
          <a:xfrm>
            <a:off x="640080" y="141732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868680" y="1664208"/>
            <a:ext cx="502920" cy="502920"/>
          </a:xfrm>
          <a:prstGeom prst="ellipse">
            <a:avLst/>
          </a:prstGeom>
          <a:solidFill>
            <a:srgbClr val="1E8E5A"/>
          </a:solidFill>
          <a:ln/>
        </p:spPr>
      </p:sp>
      <p:sp>
        <p:nvSpPr>
          <p:cNvPr id="8" name="Text 6"/>
          <p:cNvSpPr/>
          <p:nvPr/>
        </p:nvSpPr>
        <p:spPr>
          <a:xfrm>
            <a:off x="868680" y="166420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9" name="Text 7"/>
          <p:cNvSpPr/>
          <p:nvPr/>
        </p:nvSpPr>
        <p:spPr>
          <a:xfrm>
            <a:off x="1554480" y="156362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Reproduced BTP across 3 models</a:t>
            </a:r>
            <a:endParaRPr lang="en-US" sz="1600" dirty="0"/>
          </a:p>
        </p:txBody>
      </p:sp>
      <p:sp>
        <p:nvSpPr>
          <p:cNvPr id="10" name="Text 8"/>
          <p:cNvSpPr/>
          <p:nvPr/>
        </p:nvSpPr>
        <p:spPr>
          <a:xfrm>
            <a:off x="1554480" y="196596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LLaVA-1.5-7B · 13B · Qwen2.5-VL-7B</a:t>
            </a:r>
            <a:endParaRPr lang="en-US" sz="1250" dirty="0"/>
          </a:p>
        </p:txBody>
      </p:sp>
      <p:sp>
        <p:nvSpPr>
          <p:cNvPr id="11" name="Shape 9"/>
          <p:cNvSpPr/>
          <p:nvPr/>
        </p:nvSpPr>
        <p:spPr>
          <a:xfrm>
            <a:off x="640080" y="251460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2" name="Shape 10"/>
          <p:cNvSpPr/>
          <p:nvPr/>
        </p:nvSpPr>
        <p:spPr>
          <a:xfrm>
            <a:off x="868680" y="2761488"/>
            <a:ext cx="502920" cy="502920"/>
          </a:xfrm>
          <a:prstGeom prst="ellipse">
            <a:avLst/>
          </a:prstGeom>
          <a:solidFill>
            <a:srgbClr val="1E8E5A"/>
          </a:solidFill>
          <a:ln/>
        </p:spPr>
      </p:sp>
      <p:sp>
        <p:nvSpPr>
          <p:cNvPr id="13" name="Text 11"/>
          <p:cNvSpPr/>
          <p:nvPr/>
        </p:nvSpPr>
        <p:spPr>
          <a:xfrm>
            <a:off x="868680" y="276148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14" name="Text 12"/>
          <p:cNvSpPr/>
          <p:nvPr/>
        </p:nvSpPr>
        <p:spPr>
          <a:xfrm>
            <a:off x="1554480" y="266090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Results closely match the paper</a:t>
            </a:r>
            <a:endParaRPr lang="en-US" sz="1600" dirty="0"/>
          </a:p>
        </p:txBody>
      </p:sp>
      <p:sp>
        <p:nvSpPr>
          <p:cNvPr id="15" name="Text 13"/>
          <p:cNvSpPr/>
          <p:nvPr/>
        </p:nvSpPr>
        <p:spPr>
          <a:xfrm>
            <a:off x="1554480" y="306324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within ~1 point on core benchmarks</a:t>
            </a:r>
            <a:endParaRPr lang="en-US" sz="1250" dirty="0"/>
          </a:p>
        </p:txBody>
      </p:sp>
      <p:sp>
        <p:nvSpPr>
          <p:cNvPr id="16" name="Shape 14"/>
          <p:cNvSpPr/>
          <p:nvPr/>
        </p:nvSpPr>
        <p:spPr>
          <a:xfrm>
            <a:off x="640080" y="361188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868680" y="3858768"/>
            <a:ext cx="502920" cy="502920"/>
          </a:xfrm>
          <a:prstGeom prst="ellipse">
            <a:avLst/>
          </a:prstGeom>
          <a:solidFill>
            <a:srgbClr val="1C7293"/>
          </a:solidFill>
          <a:ln/>
        </p:spPr>
      </p:sp>
      <p:sp>
        <p:nvSpPr>
          <p:cNvPr id="18" name="Text 16"/>
          <p:cNvSpPr/>
          <p:nvPr/>
        </p:nvSpPr>
        <p:spPr>
          <a:xfrm>
            <a:off x="868680" y="385876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19" name="Text 17"/>
          <p:cNvSpPr/>
          <p:nvPr/>
        </p:nvSpPr>
        <p:spPr>
          <a:xfrm>
            <a:off x="1554480" y="375818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Explained the early 36% failure</a:t>
            </a:r>
            <a:endParaRPr lang="en-US" sz="1600" dirty="0"/>
          </a:p>
        </p:txBody>
      </p:sp>
      <p:sp>
        <p:nvSpPr>
          <p:cNvPr id="20" name="Text 18"/>
          <p:cNvSpPr/>
          <p:nvPr/>
        </p:nvSpPr>
        <p:spPr>
          <a:xfrm>
            <a:off x="1554480" y="416052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environment issue (FlashAttention), not the method</a:t>
            </a:r>
            <a:endParaRPr lang="en-US" sz="1250" dirty="0"/>
          </a:p>
        </p:txBody>
      </p:sp>
      <p:sp>
        <p:nvSpPr>
          <p:cNvPr id="21" name="Shape 19"/>
          <p:cNvSpPr/>
          <p:nvPr/>
        </p:nvSpPr>
        <p:spPr>
          <a:xfrm>
            <a:off x="640080" y="470916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22" name="Shape 20"/>
          <p:cNvSpPr/>
          <p:nvPr/>
        </p:nvSpPr>
        <p:spPr>
          <a:xfrm>
            <a:off x="868680" y="4956048"/>
            <a:ext cx="502920" cy="502920"/>
          </a:xfrm>
          <a:prstGeom prst="ellipse">
            <a:avLst/>
          </a:prstGeom>
          <a:solidFill>
            <a:srgbClr val="C0392B"/>
          </a:solidFill>
          <a:ln/>
        </p:spPr>
      </p:sp>
      <p:sp>
        <p:nvSpPr>
          <p:cNvPr id="23" name="Text 21"/>
          <p:cNvSpPr/>
          <p:nvPr/>
        </p:nvSpPr>
        <p:spPr>
          <a:xfrm>
            <a:off x="868680" y="495604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24" name="Text 22"/>
          <p:cNvSpPr/>
          <p:nvPr/>
        </p:nvSpPr>
        <p:spPr>
          <a:xfrm>
            <a:off x="1554480" y="485546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Found a new weakness</a:t>
            </a:r>
            <a:endParaRPr lang="en-US" sz="1600" dirty="0"/>
          </a:p>
        </p:txBody>
      </p:sp>
      <p:sp>
        <p:nvSpPr>
          <p:cNvPr id="25" name="Text 23"/>
          <p:cNvSpPr/>
          <p:nvPr/>
        </p:nvSpPr>
        <p:spPr>
          <a:xfrm>
            <a:off x="1554480" y="525780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Qwen TextVQA collapses 82.7 to 23.6 under BTP</a:t>
            </a:r>
            <a:endParaRPr lang="en-US" sz="1250" dirty="0"/>
          </a:p>
        </p:txBody>
      </p:sp>
      <p:sp>
        <p:nvSpPr>
          <p:cNvPr id="26" name="Text 24"/>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LOOKING AHEAD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Future Work</a:t>
            </a:r>
            <a:endParaRPr lang="en-US" sz="2600" dirty="0"/>
          </a:p>
        </p:txBody>
      </p:sp>
      <p:sp>
        <p:nvSpPr>
          <p:cNvPr id="6" name="Shape 4"/>
          <p:cNvSpPr/>
          <p:nvPr/>
        </p:nvSpPr>
        <p:spPr>
          <a:xfrm>
            <a:off x="594360" y="1417320"/>
            <a:ext cx="5394960" cy="1143000"/>
          </a:xfrm>
          <a:prstGeom prst="roundRect">
            <a:avLst>
              <a:gd name="adj" fmla="val 64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822960" y="1783080"/>
            <a:ext cx="411480" cy="411480"/>
          </a:xfrm>
          <a:prstGeom prst="ellipse">
            <a:avLst/>
          </a:prstGeom>
          <a:solidFill>
            <a:srgbClr val="1C7293"/>
          </a:solidFill>
          <a:ln/>
        </p:spPr>
      </p:sp>
      <p:sp>
        <p:nvSpPr>
          <p:cNvPr id="8" name="Text 6"/>
          <p:cNvSpPr/>
          <p:nvPr/>
        </p:nvSpPr>
        <p:spPr>
          <a:xfrm>
            <a:off x="822960" y="1783080"/>
            <a:ext cx="411480" cy="411480"/>
          </a:xfrm>
          <a:prstGeom prst="rect">
            <a:avLst/>
          </a:prstGeom>
          <a:noFill/>
          <a:ln/>
        </p:spPr>
        <p:txBody>
          <a:bodyPr wrap="square" rtlCol="0" anchor="ctr"/>
          <a:lstStyle/>
          <a:p>
            <a:pPr algn="ctr" indent="0" marL="0">
              <a:buNone/>
            </a:pPr>
            <a:r>
              <a:rPr lang="en-US" sz="1400" b="1" dirty="0">
                <a:solidFill>
                  <a:srgbClr val="FFFFFF"/>
                </a:solidFill>
              </a:rPr>
              <a:t>→</a:t>
            </a:r>
            <a:endParaRPr lang="en-US" sz="1400" dirty="0"/>
          </a:p>
        </p:txBody>
      </p:sp>
      <p:sp>
        <p:nvSpPr>
          <p:cNvPr id="9" name="Text 7"/>
          <p:cNvSpPr/>
          <p:nvPr/>
        </p:nvSpPr>
        <p:spPr>
          <a:xfrm>
            <a:off x="1417320" y="1600200"/>
            <a:ext cx="4389120" cy="457200"/>
          </a:xfrm>
          <a:prstGeom prst="rect">
            <a:avLst/>
          </a:prstGeom>
          <a:noFill/>
          <a:ln/>
        </p:spPr>
        <p:txBody>
          <a:bodyPr wrap="square" rtlCol="0" anchor="ctr"/>
          <a:lstStyle/>
          <a:p>
            <a:pPr indent="0" marL="0">
              <a:buNone/>
            </a:pPr>
            <a:r>
              <a:rPr lang="en-US" sz="1450" b="1" dirty="0">
                <a:solidFill>
                  <a:srgbClr val="16222E"/>
                </a:solidFill>
                <a:latin typeface="Calibri" pitchFamily="34" charset="0"/>
                <a:ea typeface="Calibri" pitchFamily="34" charset="-122"/>
                <a:cs typeface="Calibri" pitchFamily="34" charset="-120"/>
              </a:rPr>
              <a:t>MM-Vet evaluation</a:t>
            </a:r>
            <a:endParaRPr lang="en-US" sz="1450" dirty="0"/>
          </a:p>
        </p:txBody>
      </p:sp>
      <p:sp>
        <p:nvSpPr>
          <p:cNvPr id="10" name="Text 8"/>
          <p:cNvSpPr/>
          <p:nvPr/>
        </p:nvSpPr>
        <p:spPr>
          <a:xfrm>
            <a:off x="1417320" y="2039112"/>
            <a:ext cx="4389120" cy="411480"/>
          </a:xfrm>
          <a:prstGeom prst="rect">
            <a:avLst/>
          </a:prstGeom>
          <a:noFill/>
          <a:ln/>
        </p:spPr>
        <p:txBody>
          <a:bodyPr wrap="square" rtlCol="0" anchor="ctr"/>
          <a:lstStyle/>
          <a:p>
            <a:pPr indent="0" marL="0">
              <a:buNone/>
            </a:pPr>
            <a:r>
              <a:rPr lang="en-US" sz="1100" dirty="0">
                <a:solidFill>
                  <a:srgbClr val="5A6B7B"/>
                </a:solidFill>
                <a:latin typeface="Calibri" pitchFamily="34" charset="0"/>
                <a:ea typeface="Calibri" pitchFamily="34" charset="-122"/>
                <a:cs typeface="Calibri" pitchFamily="34" charset="-120"/>
              </a:rPr>
              <a:t>add the GPT-judged open-ended benchmark</a:t>
            </a:r>
            <a:endParaRPr lang="en-US" sz="1100" dirty="0"/>
          </a:p>
        </p:txBody>
      </p:sp>
      <p:sp>
        <p:nvSpPr>
          <p:cNvPr id="11" name="Shape 9"/>
          <p:cNvSpPr/>
          <p:nvPr/>
        </p:nvSpPr>
        <p:spPr>
          <a:xfrm>
            <a:off x="6263640" y="1417320"/>
            <a:ext cx="5394960" cy="1143000"/>
          </a:xfrm>
          <a:prstGeom prst="roundRect">
            <a:avLst>
              <a:gd name="adj" fmla="val 64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2" name="Shape 10"/>
          <p:cNvSpPr/>
          <p:nvPr/>
        </p:nvSpPr>
        <p:spPr>
          <a:xfrm>
            <a:off x="6492240" y="1783080"/>
            <a:ext cx="411480" cy="411480"/>
          </a:xfrm>
          <a:prstGeom prst="ellipse">
            <a:avLst/>
          </a:prstGeom>
          <a:solidFill>
            <a:srgbClr val="1C7293"/>
          </a:solidFill>
          <a:ln/>
        </p:spPr>
      </p:sp>
      <p:sp>
        <p:nvSpPr>
          <p:cNvPr id="13" name="Text 11"/>
          <p:cNvSpPr/>
          <p:nvPr/>
        </p:nvSpPr>
        <p:spPr>
          <a:xfrm>
            <a:off x="6492240" y="1783080"/>
            <a:ext cx="411480" cy="411480"/>
          </a:xfrm>
          <a:prstGeom prst="rect">
            <a:avLst/>
          </a:prstGeom>
          <a:noFill/>
          <a:ln/>
        </p:spPr>
        <p:txBody>
          <a:bodyPr wrap="square" rtlCol="0" anchor="ctr"/>
          <a:lstStyle/>
          <a:p>
            <a:pPr algn="ctr" indent="0" marL="0">
              <a:buNone/>
            </a:pPr>
            <a:r>
              <a:rPr lang="en-US" sz="1400" b="1" dirty="0">
                <a:solidFill>
                  <a:srgbClr val="FFFFFF"/>
                </a:solidFill>
              </a:rPr>
              <a:t>→</a:t>
            </a:r>
            <a:endParaRPr lang="en-US" sz="1400" dirty="0"/>
          </a:p>
        </p:txBody>
      </p:sp>
      <p:sp>
        <p:nvSpPr>
          <p:cNvPr id="14" name="Text 12"/>
          <p:cNvSpPr/>
          <p:nvPr/>
        </p:nvSpPr>
        <p:spPr>
          <a:xfrm>
            <a:off x="7086600" y="1600200"/>
            <a:ext cx="4389120" cy="457200"/>
          </a:xfrm>
          <a:prstGeom prst="rect">
            <a:avLst/>
          </a:prstGeom>
          <a:noFill/>
          <a:ln/>
        </p:spPr>
        <p:txBody>
          <a:bodyPr wrap="square" rtlCol="0" anchor="ctr"/>
          <a:lstStyle/>
          <a:p>
            <a:pPr indent="0" marL="0">
              <a:buNone/>
            </a:pPr>
            <a:r>
              <a:rPr lang="en-US" sz="1450" b="1" dirty="0">
                <a:solidFill>
                  <a:srgbClr val="16222E"/>
                </a:solidFill>
                <a:latin typeface="Calibri" pitchFamily="34" charset="0"/>
                <a:ea typeface="Calibri" pitchFamily="34" charset="-122"/>
                <a:cs typeface="Calibri" pitchFamily="34" charset="-120"/>
              </a:rPr>
              <a:t>LLaVA-1.6 reproduction</a:t>
            </a:r>
            <a:endParaRPr lang="en-US" sz="1450" dirty="0"/>
          </a:p>
        </p:txBody>
      </p:sp>
      <p:sp>
        <p:nvSpPr>
          <p:cNvPr id="15" name="Text 13"/>
          <p:cNvSpPr/>
          <p:nvPr/>
        </p:nvSpPr>
        <p:spPr>
          <a:xfrm>
            <a:off x="7086600" y="2039112"/>
            <a:ext cx="4389120" cy="411480"/>
          </a:xfrm>
          <a:prstGeom prst="rect">
            <a:avLst/>
          </a:prstGeom>
          <a:noFill/>
          <a:ln/>
        </p:spPr>
        <p:txBody>
          <a:bodyPr wrap="square" rtlCol="0" anchor="ctr"/>
          <a:lstStyle/>
          <a:p>
            <a:pPr indent="0" marL="0">
              <a:buNone/>
            </a:pPr>
            <a:r>
              <a:rPr lang="en-US" sz="1100" dirty="0">
                <a:solidFill>
                  <a:srgbClr val="5A6B7B"/>
                </a:solidFill>
                <a:latin typeface="Calibri" pitchFamily="34" charset="0"/>
                <a:ea typeface="Calibri" pitchFamily="34" charset="-122"/>
                <a:cs typeface="Calibri" pitchFamily="34" charset="-120"/>
              </a:rPr>
              <a:t>once the authors release the code</a:t>
            </a:r>
            <a:endParaRPr lang="en-US" sz="1100" dirty="0"/>
          </a:p>
        </p:txBody>
      </p:sp>
      <p:sp>
        <p:nvSpPr>
          <p:cNvPr id="16" name="Shape 14"/>
          <p:cNvSpPr/>
          <p:nvPr/>
        </p:nvSpPr>
        <p:spPr>
          <a:xfrm>
            <a:off x="594360" y="2761488"/>
            <a:ext cx="5394960" cy="1143000"/>
          </a:xfrm>
          <a:prstGeom prst="roundRect">
            <a:avLst>
              <a:gd name="adj" fmla="val 64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822960" y="3127248"/>
            <a:ext cx="411480" cy="411480"/>
          </a:xfrm>
          <a:prstGeom prst="ellipse">
            <a:avLst/>
          </a:prstGeom>
          <a:solidFill>
            <a:srgbClr val="1C7293"/>
          </a:solidFill>
          <a:ln/>
        </p:spPr>
      </p:sp>
      <p:sp>
        <p:nvSpPr>
          <p:cNvPr id="18" name="Text 16"/>
          <p:cNvSpPr/>
          <p:nvPr/>
        </p:nvSpPr>
        <p:spPr>
          <a:xfrm>
            <a:off x="822960" y="3127248"/>
            <a:ext cx="411480" cy="411480"/>
          </a:xfrm>
          <a:prstGeom prst="rect">
            <a:avLst/>
          </a:prstGeom>
          <a:noFill/>
          <a:ln/>
        </p:spPr>
        <p:txBody>
          <a:bodyPr wrap="square" rtlCol="0" anchor="ctr"/>
          <a:lstStyle/>
          <a:p>
            <a:pPr algn="ctr" indent="0" marL="0">
              <a:buNone/>
            </a:pPr>
            <a:r>
              <a:rPr lang="en-US" sz="1400" b="1" dirty="0">
                <a:solidFill>
                  <a:srgbClr val="FFFFFF"/>
                </a:solidFill>
              </a:rPr>
              <a:t>→</a:t>
            </a:r>
            <a:endParaRPr lang="en-US" sz="1400" dirty="0"/>
          </a:p>
        </p:txBody>
      </p:sp>
      <p:sp>
        <p:nvSpPr>
          <p:cNvPr id="19" name="Text 17"/>
          <p:cNvSpPr/>
          <p:nvPr/>
        </p:nvSpPr>
        <p:spPr>
          <a:xfrm>
            <a:off x="1417320" y="2944368"/>
            <a:ext cx="4389120" cy="457200"/>
          </a:xfrm>
          <a:prstGeom prst="rect">
            <a:avLst/>
          </a:prstGeom>
          <a:noFill/>
          <a:ln/>
        </p:spPr>
        <p:txBody>
          <a:bodyPr wrap="square" rtlCol="0" anchor="ctr"/>
          <a:lstStyle/>
          <a:p>
            <a:pPr indent="0" marL="0">
              <a:buNone/>
            </a:pPr>
            <a:r>
              <a:rPr lang="en-US" sz="1450" b="1" dirty="0">
                <a:solidFill>
                  <a:srgbClr val="16222E"/>
                </a:solidFill>
                <a:latin typeface="Calibri" pitchFamily="34" charset="0"/>
                <a:ea typeface="Calibri" pitchFamily="34" charset="-122"/>
                <a:cs typeface="Calibri" pitchFamily="34" charset="-120"/>
              </a:rPr>
              <a:t>Cross-model TextVQA study</a:t>
            </a:r>
            <a:endParaRPr lang="en-US" sz="1450" dirty="0"/>
          </a:p>
        </p:txBody>
      </p:sp>
      <p:sp>
        <p:nvSpPr>
          <p:cNvPr id="20" name="Text 18"/>
          <p:cNvSpPr/>
          <p:nvPr/>
        </p:nvSpPr>
        <p:spPr>
          <a:xfrm>
            <a:off x="1417320" y="3383280"/>
            <a:ext cx="4389120" cy="411480"/>
          </a:xfrm>
          <a:prstGeom prst="rect">
            <a:avLst/>
          </a:prstGeom>
          <a:noFill/>
          <a:ln/>
        </p:spPr>
        <p:txBody>
          <a:bodyPr wrap="square" rtlCol="0" anchor="ctr"/>
          <a:lstStyle/>
          <a:p>
            <a:pPr indent="0" marL="0">
              <a:buNone/>
            </a:pPr>
            <a:r>
              <a:rPr lang="en-US" sz="1100" dirty="0">
                <a:solidFill>
                  <a:srgbClr val="5A6B7B"/>
                </a:solidFill>
                <a:latin typeface="Calibri" pitchFamily="34" charset="0"/>
                <a:ea typeface="Calibri" pitchFamily="34" charset="-122"/>
                <a:cs typeface="Calibri" pitchFamily="34" charset="-120"/>
              </a:rPr>
              <a:t>test the collapse on more VLMs</a:t>
            </a:r>
            <a:endParaRPr lang="en-US" sz="1100" dirty="0"/>
          </a:p>
        </p:txBody>
      </p:sp>
      <p:sp>
        <p:nvSpPr>
          <p:cNvPr id="21" name="Text 19"/>
          <p:cNvSpPr/>
          <p:nvPr/>
        </p:nvSpPr>
        <p:spPr>
          <a:xfrm>
            <a:off x="594360" y="5989320"/>
            <a:ext cx="10972800" cy="365760"/>
          </a:xfrm>
          <a:prstGeom prst="rect">
            <a:avLst/>
          </a:prstGeom>
          <a:noFill/>
          <a:ln/>
        </p:spPr>
        <p:txBody>
          <a:bodyPr wrap="square" rtlCol="0" anchor="ctr"/>
          <a:lstStyle/>
          <a:p>
            <a:pPr algn="ctr" indent="0" marL="0">
              <a:buNone/>
            </a:pPr>
            <a:r>
              <a:rPr lang="en-US" sz="1200" b="1" i="1" dirty="0">
                <a:solidFill>
                  <a:srgbClr val="1C7293"/>
                </a:solidFill>
                <a:latin typeface="Calibri" pitchFamily="34" charset="0"/>
                <a:ea typeface="Calibri" pitchFamily="34" charset="-122"/>
                <a:cs typeface="Calibri" pitchFamily="34" charset="-120"/>
              </a:rPr>
              <a:t>Repository:  github.com/milab-iitj-dev/kedar_btpreproduction</a:t>
            </a:r>
            <a:endParaRPr lang="en-US" sz="1200" dirty="0"/>
          </a:p>
        </p:txBody>
      </p:sp>
      <p:sp>
        <p:nvSpPr>
          <p:cNvPr id="22" name="Text 20"/>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Balanced Token Pruning — Reproduction Study</dc:title>
  <dc:subject>PptxGenJS Presentation</dc:subject>
  <dc:creator>P. S. Kedar</dc:creator>
  <cp:lastModifiedBy>P. S. Kedar</cp:lastModifiedBy>
  <cp:revision>1</cp:revision>
  <dcterms:created xsi:type="dcterms:W3CDTF">2026-06-17T12:37:56Z</dcterms:created>
  <dcterms:modified xsi:type="dcterms:W3CDTF">2026-06-17T12:37:56Z</dcterms:modified>
</cp:coreProperties>
</file>